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handoutMasterIdLst>
    <p:handoutMasterId r:id="rId38"/>
  </p:handoutMasterIdLst>
  <p:sldIdLst>
    <p:sldId id="257" r:id="rId3"/>
    <p:sldId id="259" r:id="rId4"/>
    <p:sldId id="260" r:id="rId5"/>
    <p:sldId id="261" r:id="rId7"/>
    <p:sldId id="280" r:id="rId8"/>
    <p:sldId id="263" r:id="rId9"/>
    <p:sldId id="264" r:id="rId10"/>
    <p:sldId id="265" r:id="rId11"/>
    <p:sldId id="284" r:id="rId12"/>
    <p:sldId id="283" r:id="rId13"/>
    <p:sldId id="293" r:id="rId14"/>
    <p:sldId id="285" r:id="rId15"/>
    <p:sldId id="292" r:id="rId16"/>
    <p:sldId id="287" r:id="rId17"/>
    <p:sldId id="286" r:id="rId18"/>
    <p:sldId id="312" r:id="rId19"/>
    <p:sldId id="288" r:id="rId20"/>
    <p:sldId id="290" r:id="rId21"/>
    <p:sldId id="294" r:id="rId22"/>
    <p:sldId id="300" r:id="rId23"/>
    <p:sldId id="302" r:id="rId24"/>
    <p:sldId id="301" r:id="rId25"/>
    <p:sldId id="306" r:id="rId26"/>
    <p:sldId id="295" r:id="rId27"/>
    <p:sldId id="297" r:id="rId28"/>
    <p:sldId id="296" r:id="rId29"/>
    <p:sldId id="303" r:id="rId30"/>
    <p:sldId id="307" r:id="rId31"/>
    <p:sldId id="268" r:id="rId32"/>
    <p:sldId id="299" r:id="rId33"/>
    <p:sldId id="304" r:id="rId34"/>
    <p:sldId id="305" r:id="rId35"/>
    <p:sldId id="308" r:id="rId36"/>
    <p:sldId id="311" r:id="rId37"/>
  </p:sldIdLst>
  <p:sldSz cx="9144000" cy="6858000" type="screen4x3"/>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8"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FF81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22248" autoAdjust="0"/>
    <p:restoredTop sz="95238" autoAdjust="0"/>
  </p:normalViewPr>
  <p:slideViewPr>
    <p:cSldViewPr showGuides="1">
      <p:cViewPr>
        <p:scale>
          <a:sx n="70" d="100"/>
          <a:sy n="70" d="100"/>
        </p:scale>
        <p:origin x="-2802" y="-924"/>
      </p:cViewPr>
      <p:guideLst>
        <p:guide orient="horz" pos="2128"/>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6" d="100"/>
          <a:sy n="86" d="100"/>
        </p:scale>
        <p:origin x="-3846" y="-78"/>
      </p:cViewPr>
      <p:guideLst>
        <p:guide orient="horz" pos="2838"/>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2" Type="http://schemas.openxmlformats.org/officeDocument/2006/relationships/tags" Target="tags/tag1.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slide" Target="slides/slide2.xml"/><Relationship Id="rId39" Type="http://schemas.openxmlformats.org/officeDocument/2006/relationships/presProps" Target="presProps.xml"/><Relationship Id="rId38" Type="http://schemas.openxmlformats.org/officeDocument/2006/relationships/handoutMaster" Target="handoutMasters/handoutMaster1.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0382E0F-3695-4F2E-81EC-6A2F166D15E1}"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1DB5105-F916-4EC1-80F4-3B46725DF36B}"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1AEB6A3-DE95-450A-AC5E-5AB1B30104B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7036401-BCE0-44A4-A74D-C838C216AFD5}"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descr="logoYFC.png"/>
          <p:cNvPicPr>
            <a:picLocks noChangeAspect="1"/>
          </p:cNvPicPr>
          <p:nvPr userDrawn="1"/>
        </p:nvPicPr>
        <p:blipFill>
          <a:blip r:embed="rId2" cstate="print"/>
          <a:stretch>
            <a:fillRect/>
          </a:stretch>
        </p:blipFill>
        <p:spPr>
          <a:xfrm>
            <a:off x="4071934" y="4429156"/>
            <a:ext cx="4427438" cy="940831"/>
          </a:xfrm>
          <a:prstGeom prst="rect">
            <a:avLst/>
          </a:prstGeom>
        </p:spPr>
      </p:pic>
      <p:sp>
        <p:nvSpPr>
          <p:cNvPr id="8" name="矩形 7"/>
          <p:cNvSpPr/>
          <p:nvPr userDrawn="1"/>
        </p:nvSpPr>
        <p:spPr>
          <a:xfrm>
            <a:off x="8572528" y="4714884"/>
            <a:ext cx="571472" cy="500066"/>
          </a:xfrm>
          <a:prstGeom prst="rect">
            <a:avLst/>
          </a:prstGeom>
          <a:solidFill>
            <a:srgbClr val="FFC000"/>
          </a:solidFill>
          <a:ln w="38100">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9" name="图片 8" descr="字幕.png"/>
          <p:cNvPicPr>
            <a:picLocks noChangeAspect="1"/>
          </p:cNvPicPr>
          <p:nvPr userDrawn="1"/>
        </p:nvPicPr>
        <p:blipFill>
          <a:blip r:embed="rId3" cstate="print"/>
          <a:stretch>
            <a:fillRect/>
          </a:stretch>
        </p:blipFill>
        <p:spPr>
          <a:xfrm>
            <a:off x="4071934" y="5000660"/>
            <a:ext cx="2382668" cy="714380"/>
          </a:xfrm>
          <a:prstGeom prst="rect">
            <a:avLst/>
          </a:prstGeom>
        </p:spPr>
      </p:pic>
      <p:sp>
        <p:nvSpPr>
          <p:cNvPr id="10" name="矩形 9"/>
          <p:cNvSpPr/>
          <p:nvPr userDrawn="1"/>
        </p:nvSpPr>
        <p:spPr>
          <a:xfrm>
            <a:off x="6643702" y="5286412"/>
            <a:ext cx="2500298" cy="142876"/>
          </a:xfrm>
          <a:prstGeom prst="rect">
            <a:avLst/>
          </a:prstGeom>
          <a:solidFill>
            <a:srgbClr val="FFC000"/>
          </a:solidFill>
          <a:ln w="38100">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4" name="图片 13" descr="logoYFC.png"/>
          <p:cNvPicPr>
            <a:picLocks noChangeAspect="1"/>
          </p:cNvPicPr>
          <p:nvPr userDrawn="1"/>
        </p:nvPicPr>
        <p:blipFill>
          <a:blip r:embed="rId2" cstate="print"/>
          <a:stretch>
            <a:fillRect/>
          </a:stretch>
        </p:blipFill>
        <p:spPr>
          <a:xfrm>
            <a:off x="4071934" y="4429156"/>
            <a:ext cx="4427438" cy="940831"/>
          </a:xfrm>
          <a:prstGeom prst="rect">
            <a:avLst/>
          </a:prstGeom>
        </p:spPr>
      </p:pic>
      <p:sp>
        <p:nvSpPr>
          <p:cNvPr id="15" name="矩形 14"/>
          <p:cNvSpPr/>
          <p:nvPr userDrawn="1"/>
        </p:nvSpPr>
        <p:spPr>
          <a:xfrm>
            <a:off x="8572528" y="4714884"/>
            <a:ext cx="571472" cy="500066"/>
          </a:xfrm>
          <a:prstGeom prst="rect">
            <a:avLst/>
          </a:prstGeom>
          <a:solidFill>
            <a:srgbClr val="FFC000"/>
          </a:solidFill>
          <a:ln w="38100">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16" name="图片 15" descr="字幕.png"/>
          <p:cNvPicPr>
            <a:picLocks noChangeAspect="1"/>
          </p:cNvPicPr>
          <p:nvPr userDrawn="1"/>
        </p:nvPicPr>
        <p:blipFill>
          <a:blip r:embed="rId3" cstate="print"/>
          <a:stretch>
            <a:fillRect/>
          </a:stretch>
        </p:blipFill>
        <p:spPr>
          <a:xfrm>
            <a:off x="4071934" y="5000660"/>
            <a:ext cx="2382668" cy="714380"/>
          </a:xfrm>
          <a:prstGeom prst="rect">
            <a:avLst/>
          </a:prstGeom>
        </p:spPr>
      </p:pic>
      <p:sp>
        <p:nvSpPr>
          <p:cNvPr id="17" name="矩形 16"/>
          <p:cNvSpPr/>
          <p:nvPr userDrawn="1"/>
        </p:nvSpPr>
        <p:spPr>
          <a:xfrm>
            <a:off x="6643702" y="5286412"/>
            <a:ext cx="2500298" cy="142876"/>
          </a:xfrm>
          <a:prstGeom prst="rect">
            <a:avLst/>
          </a:prstGeom>
          <a:solidFill>
            <a:srgbClr val="FFC000"/>
          </a:solidFill>
          <a:ln w="38100">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9" name="矩形 18"/>
          <p:cNvSpPr/>
          <p:nvPr userDrawn="1"/>
        </p:nvSpPr>
        <p:spPr>
          <a:xfrm>
            <a:off x="0" y="1285860"/>
            <a:ext cx="642910" cy="1143008"/>
          </a:xfrm>
          <a:prstGeom prst="rect">
            <a:avLst/>
          </a:prstGeom>
          <a:solidFill>
            <a:srgbClr val="FFC000"/>
          </a:solidFill>
          <a:ln w="38100">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7" name="直接连接符 6"/>
          <p:cNvCxnSpPr/>
          <p:nvPr userDrawn="1"/>
        </p:nvCxnSpPr>
        <p:spPr>
          <a:xfrm>
            <a:off x="403868" y="714356"/>
            <a:ext cx="2736000" cy="1588"/>
          </a:xfrm>
          <a:prstGeom prst="line">
            <a:avLst/>
          </a:prstGeom>
          <a:ln w="38100">
            <a:solidFill>
              <a:srgbClr val="FFC000"/>
            </a:solidFill>
          </a:ln>
        </p:spPr>
        <p:style>
          <a:lnRef idx="1">
            <a:schemeClr val="accent6"/>
          </a:lnRef>
          <a:fillRef idx="0">
            <a:schemeClr val="accent6"/>
          </a:fillRef>
          <a:effectRef idx="0">
            <a:schemeClr val="accent6"/>
          </a:effectRef>
          <a:fontRef idx="minor">
            <a:schemeClr val="tx1"/>
          </a:fontRef>
        </p:style>
      </p:cxnSp>
      <p:sp>
        <p:nvSpPr>
          <p:cNvPr id="8" name="矩形 7"/>
          <p:cNvSpPr/>
          <p:nvPr userDrawn="1"/>
        </p:nvSpPr>
        <p:spPr>
          <a:xfrm>
            <a:off x="71406" y="214290"/>
            <a:ext cx="571504" cy="508079"/>
          </a:xfrm>
          <a:prstGeom prst="rect">
            <a:avLst/>
          </a:prstGeom>
          <a:solidFill>
            <a:srgbClr val="FFC000"/>
          </a:solidFill>
          <a:ln w="38100">
            <a:solidFill>
              <a:srgbClr val="FFC000"/>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pic>
        <p:nvPicPr>
          <p:cNvPr id="9" name="图片 8" descr="logoYFC.png"/>
          <p:cNvPicPr>
            <a:picLocks noChangeAspect="1"/>
          </p:cNvPicPr>
          <p:nvPr userDrawn="1"/>
        </p:nvPicPr>
        <p:blipFill>
          <a:blip r:embed="rId2" cstate="print"/>
          <a:stretch>
            <a:fillRect/>
          </a:stretch>
        </p:blipFill>
        <p:spPr>
          <a:xfrm>
            <a:off x="430314" y="265554"/>
            <a:ext cx="2784364" cy="59167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ED7C9244-5491-49B7-B0D4-DEA08A619FC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5F74E91-157D-4C8C-9AC2-48740A5693F7}"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ED7C9244-5491-49B7-B0D4-DEA08A619FC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5F74E91-157D-4C8C-9AC2-48740A5693F7}"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ED7C9244-5491-49B7-B0D4-DEA08A619FC4}"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5F74E91-157D-4C8C-9AC2-48740A5693F7}"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ED7C9244-5491-49B7-B0D4-DEA08A619FC4}"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5F74E91-157D-4C8C-9AC2-48740A5693F7}"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D7C9244-5491-49B7-B0D4-DEA08A619FC4}"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5F74E91-157D-4C8C-9AC2-48740A5693F7}"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D7C9244-5491-49B7-B0D4-DEA08A619FC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5F74E91-157D-4C8C-9AC2-48740A5693F7}"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ED7C9244-5491-49B7-B0D4-DEA08A619FC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5F74E91-157D-4C8C-9AC2-48740A5693F7}"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ED7C9244-5491-49B7-B0D4-DEA08A619FC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5F74E91-157D-4C8C-9AC2-48740A5693F7}"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ED7C9244-5491-49B7-B0D4-DEA08A619FC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5F74E91-157D-4C8C-9AC2-48740A5693F7}"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D7C9244-5491-49B7-B0D4-DEA08A619FC4}" type="datetimeFigureOut">
              <a:rPr lang="zh-CN" altLang="en-US" smtClean="0"/>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F74E91-157D-4C8C-9AC2-48740A5693F7}"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hyperlink" Target="https://bitbucket.org/Unity-Technologies/ui" TargetMode="Externa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image" Target="../media/image17.jpeg"/><Relationship Id="rId1" Type="http://schemas.openxmlformats.org/officeDocument/2006/relationships/image" Target="../media/image16.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2.GIF"/><Relationship Id="rId3" Type="http://schemas.openxmlformats.org/officeDocument/2006/relationships/image" Target="../media/image21.GIF"/><Relationship Id="rId2" Type="http://schemas.openxmlformats.org/officeDocument/2006/relationships/image" Target="../media/image20.GIF"/><Relationship Id="rId1" Type="http://schemas.openxmlformats.org/officeDocument/2006/relationships/image" Target="../media/image19.GIF"/></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1.png"/><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5.png"/><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7.png"/><Relationship Id="rId1" Type="http://schemas.openxmlformats.org/officeDocument/2006/relationships/image" Target="../media/image3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1.png"/><Relationship Id="rId1" Type="http://schemas.openxmlformats.org/officeDocument/2006/relationships/image" Target="../media/image4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4.png"/><Relationship Id="rId1" Type="http://schemas.openxmlformats.org/officeDocument/2006/relationships/image" Target="../media/image43.jpe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6.jpeg"/><Relationship Id="rId1" Type="http://schemas.openxmlformats.org/officeDocument/2006/relationships/image" Target="../media/image45.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p:cNvSpPr txBox="1"/>
          <p:nvPr/>
        </p:nvSpPr>
        <p:spPr>
          <a:xfrm>
            <a:off x="714348" y="1500174"/>
            <a:ext cx="7429552" cy="769441"/>
          </a:xfrm>
          <a:prstGeom prst="rect">
            <a:avLst/>
          </a:prstGeom>
          <a:noFill/>
        </p:spPr>
        <p:txBody>
          <a:bodyPr wrap="square" rtlCol="0">
            <a:spAutoFit/>
          </a:bodyPr>
          <a:lstStyle/>
          <a:p>
            <a:r>
              <a:rPr lang="en-US" altLang="zh-CN" sz="4400">
                <a:latin typeface="微软雅黑" panose="020B0503020204020204" pitchFamily="34" charset="-122"/>
                <a:ea typeface="微软雅黑" panose="020B0503020204020204" pitchFamily="34" charset="-122"/>
              </a:rPr>
              <a:t>UGUI</a:t>
            </a:r>
            <a:r>
              <a:rPr lang="zh-CN" altLang="en-US" sz="4400">
                <a:latin typeface="微软雅黑" panose="020B0503020204020204" pitchFamily="34" charset="-122"/>
                <a:ea typeface="微软雅黑" panose="020B0503020204020204" pitchFamily="34" charset="-122"/>
              </a:rPr>
              <a:t>原理和优化</a:t>
            </a:r>
            <a:endParaRPr lang="en-US" altLang="zh-CN" sz="4400">
              <a:latin typeface="微软雅黑" panose="020B0503020204020204" pitchFamily="34" charset="-122"/>
              <a:ea typeface="微软雅黑" panose="020B0503020204020204" pitchFamily="34" charset="-122"/>
            </a:endParaRPr>
          </a:p>
        </p:txBody>
      </p:sp>
      <p:sp>
        <p:nvSpPr>
          <p:cNvPr id="3" name="TextBox 2"/>
          <p:cNvSpPr txBox="1"/>
          <p:nvPr/>
        </p:nvSpPr>
        <p:spPr>
          <a:xfrm>
            <a:off x="5786446" y="5857892"/>
            <a:ext cx="3071834" cy="400110"/>
          </a:xfrm>
          <a:prstGeom prst="rect">
            <a:avLst/>
          </a:prstGeom>
          <a:noFill/>
        </p:spPr>
        <p:txBody>
          <a:bodyPr wrap="square" rtlCol="0">
            <a:spAutoFit/>
          </a:bodyPr>
          <a:lstStyle/>
          <a:p>
            <a:pPr algn="ctr"/>
            <a:r>
              <a:rPr lang="zh-CN" altLang="en-US" sz="2000" smtClean="0">
                <a:latin typeface="微软雅黑" panose="020B0503020204020204" pitchFamily="34" charset="-122"/>
                <a:ea typeface="微软雅黑" panose="020B0503020204020204" pitchFamily="34" charset="-122"/>
              </a:rPr>
              <a:t>何</a:t>
            </a:r>
            <a:r>
              <a:rPr lang="zh-CN" altLang="en-US" sz="2000">
                <a:latin typeface="微软雅黑" panose="020B0503020204020204" pitchFamily="34" charset="-122"/>
                <a:ea typeface="微软雅黑" panose="020B0503020204020204" pitchFamily="34" charset="-122"/>
              </a:rPr>
              <a:t>冠</a:t>
            </a:r>
            <a:r>
              <a:rPr lang="zh-CN" altLang="en-US" sz="2000" smtClean="0">
                <a:latin typeface="微软雅黑" panose="020B0503020204020204" pitchFamily="34" charset="-122"/>
                <a:ea typeface="微软雅黑" panose="020B0503020204020204" pitchFamily="34" charset="-122"/>
              </a:rPr>
              <a:t>峰</a:t>
            </a:r>
            <a:r>
              <a:rPr lang="zh-CN" altLang="en-US" sz="2000" smtClean="0">
                <a:latin typeface="微软雅黑" panose="020B0503020204020204" pitchFamily="34" charset="-122"/>
                <a:ea typeface="微软雅黑" panose="020B0503020204020204" pitchFamily="34" charset="-122"/>
              </a:rPr>
              <a:t>（文西）</a:t>
            </a:r>
            <a:endParaRPr lang="zh-CN" altLang="en-US" sz="200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500034" y="1500174"/>
            <a:ext cx="8215370" cy="4857784"/>
          </a:xfrm>
          <a:prstGeom prst="rect">
            <a:avLst/>
          </a:prstGeom>
        </p:spPr>
        <p:txBody>
          <a:bodyPr vert="horz" lIns="91440" tIns="45720" rIns="91440" bIns="45720" rtlCol="0" anchor="t">
            <a:noAutofit/>
          </a:bodyPr>
          <a:lstStyle/>
          <a:p>
            <a:pPr marL="742950" indent="-742950">
              <a:spcBef>
                <a:spcPct val="0"/>
              </a:spcBef>
              <a:buFont typeface="Arial" panose="020B0604020202020204" pitchFamily="34" charset="0"/>
              <a:buChar char="•"/>
              <a:defRPr/>
            </a:pPr>
            <a:r>
              <a:rPr lang="en-US" altLang="zh-CN" sz="2800" dirty="0">
                <a:latin typeface="微软雅黑" panose="020B0503020204020204" pitchFamily="34" charset="-122"/>
                <a:ea typeface="微软雅黑" panose="020B0503020204020204" pitchFamily="34" charset="-122"/>
              </a:rPr>
              <a:t>Unity</a:t>
            </a:r>
            <a:r>
              <a:rPr lang="zh-CN" altLang="en-US" sz="2800">
                <a:latin typeface="微软雅黑" panose="020B0503020204020204" pitchFamily="34" charset="-122"/>
                <a:ea typeface="微软雅黑" panose="020B0503020204020204" pitchFamily="34" charset="-122"/>
              </a:rPr>
              <a:t>版</a:t>
            </a:r>
            <a:r>
              <a:rPr lang="zh-CN" altLang="en-US" sz="2800" smtClean="0">
                <a:latin typeface="微软雅黑" panose="020B0503020204020204" pitchFamily="34" charset="-122"/>
                <a:ea typeface="微软雅黑" panose="020B0503020204020204" pitchFamily="34" charset="-122"/>
              </a:rPr>
              <a:t>本</a:t>
            </a:r>
            <a:endParaRPr lang="en-US" altLang="zh-CN" sz="2800" dirty="0">
              <a:latin typeface="微软雅黑" panose="020B0503020204020204" pitchFamily="34" charset="-122"/>
              <a:ea typeface="微软雅黑" panose="020B0503020204020204" pitchFamily="34" charset="-122"/>
            </a:endParaRPr>
          </a:p>
          <a:p>
            <a:pPr marL="742950" marR="0" lvl="0" indent="-742950" defTabSz="914400" rtl="0" eaLnBrk="1" fontAlgn="auto" latinLnBrk="0" hangingPunct="1">
              <a:lnSpc>
                <a:spcPct val="100000"/>
              </a:lnSpc>
              <a:spcBef>
                <a:spcPct val="0"/>
              </a:spcBef>
              <a:spcAft>
                <a:spcPts val="0"/>
              </a:spcAft>
              <a:buClrTx/>
              <a:buSzTx/>
              <a:buFont typeface="Arial" panose="020B0604020202020204" pitchFamily="34" charset="0"/>
              <a:buChar char="•"/>
              <a:defRPr/>
            </a:pPr>
            <a:r>
              <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rPr>
              <a:t>UGUI</a:t>
            </a:r>
            <a:r>
              <a:rPr kumimoji="0" lang="zh-CN" altLang="en-US" sz="28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j-cs"/>
              </a:rPr>
              <a:t>介</a:t>
            </a:r>
            <a:r>
              <a:rPr kumimoji="0" lang="zh-CN" altLang="en-US" sz="2800" b="0" i="0" u="none" strike="noStrike" kern="1200" cap="none" spc="0" normalizeH="0" baseline="0" noProof="0" smtClean="0">
                <a:ln>
                  <a:noFill/>
                </a:ln>
                <a:solidFill>
                  <a:schemeClr val="tx1"/>
                </a:solidFill>
                <a:effectLst/>
                <a:uLnTx/>
                <a:uFillTx/>
                <a:latin typeface="微软雅黑" panose="020B0503020204020204" pitchFamily="34" charset="-122"/>
                <a:ea typeface="微软雅黑" panose="020B0503020204020204" pitchFamily="34" charset="-122"/>
                <a:cs typeface="+mj-cs"/>
              </a:rPr>
              <a:t>绍</a:t>
            </a:r>
            <a:endPar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marL="742950" marR="0" lvl="0" indent="-742950" defTabSz="914400" rtl="0" eaLnBrk="1" fontAlgn="auto" latinLnBrk="0" hangingPunct="1">
              <a:lnSpc>
                <a:spcPct val="100000"/>
              </a:lnSpc>
              <a:spcBef>
                <a:spcPct val="0"/>
              </a:spcBef>
              <a:spcAft>
                <a:spcPts val="0"/>
              </a:spcAft>
              <a:buClrTx/>
              <a:buSzTx/>
              <a:buFont typeface="Arial" panose="020B0604020202020204" pitchFamily="34" charset="0"/>
              <a:buChar char="•"/>
              <a:defRPr/>
            </a:pPr>
            <a:r>
              <a:rPr lang="zh-CN" altLang="en-US" sz="2800" dirty="0">
                <a:latin typeface="微软雅黑" panose="020B0503020204020204" pitchFamily="34" charset="-122"/>
                <a:ea typeface="微软雅黑" panose="020B0503020204020204" pitchFamily="34" charset="-122"/>
                <a:cs typeface="+mj-cs"/>
              </a:rPr>
              <a:t>控件</a:t>
            </a:r>
            <a:r>
              <a:rPr lang="zh-CN" altLang="en-US" sz="2800">
                <a:latin typeface="微软雅黑" panose="020B0503020204020204" pitchFamily="34" charset="-122"/>
                <a:ea typeface="微软雅黑" panose="020B0503020204020204" pitchFamily="34" charset="-122"/>
                <a:cs typeface="+mj-cs"/>
              </a:rPr>
              <a:t>介</a:t>
            </a:r>
            <a:r>
              <a:rPr lang="zh-CN" altLang="en-US" sz="2800" smtClean="0">
                <a:latin typeface="微软雅黑" panose="020B0503020204020204" pitchFamily="34" charset="-122"/>
                <a:ea typeface="微软雅黑" panose="020B0503020204020204" pitchFamily="34" charset="-122"/>
                <a:cs typeface="+mj-cs"/>
              </a:rPr>
              <a:t>绍</a:t>
            </a:r>
            <a:endParaRPr lang="en-US" altLang="zh-CN" sz="2800" dirty="0">
              <a:latin typeface="微软雅黑" panose="020B0503020204020204" pitchFamily="34" charset="-122"/>
              <a:ea typeface="微软雅黑" panose="020B0503020204020204" pitchFamily="34" charset="-122"/>
              <a:cs typeface="+mj-cs"/>
            </a:endParaRPr>
          </a:p>
          <a:p>
            <a:pPr marL="742950" lvl="0" indent="-742950">
              <a:spcBef>
                <a:spcPct val="0"/>
              </a:spcBef>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rPr>
              <a:t>相机和</a:t>
            </a:r>
            <a:r>
              <a:rPr lang="zh-CN" altLang="en-US" sz="2800">
                <a:latin typeface="微软雅黑" panose="020B0503020204020204" pitchFamily="34" charset="-122"/>
                <a:ea typeface="微软雅黑" panose="020B0503020204020204" pitchFamily="34" charset="-122"/>
              </a:rPr>
              <a:t>画</a:t>
            </a:r>
            <a:r>
              <a:rPr lang="zh-CN" altLang="en-US" sz="2800" smtClean="0">
                <a:latin typeface="微软雅黑" panose="020B0503020204020204" pitchFamily="34" charset="-122"/>
                <a:ea typeface="微软雅黑" panose="020B0503020204020204" pitchFamily="34" charset="-122"/>
              </a:rPr>
              <a:t>布</a:t>
            </a:r>
            <a:endPar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marL="742950" marR="0" lvl="0" indent="-742950" defTabSz="914400" rtl="0" eaLnBrk="1" fontAlgn="auto" latinLnBrk="0" hangingPunct="1">
              <a:lnSpc>
                <a:spcPct val="100000"/>
              </a:lnSpc>
              <a:spcBef>
                <a:spcPct val="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rPr>
              <a:t>布局</a:t>
            </a:r>
            <a:r>
              <a:rPr kumimoji="0" lang="zh-CN" altLang="en-US" sz="28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j-cs"/>
              </a:rPr>
              <a:t>系</a:t>
            </a:r>
            <a:r>
              <a:rPr kumimoji="0" lang="zh-CN" altLang="en-US" sz="2800" b="0" i="0" u="none" strike="noStrike" kern="1200" cap="none" spc="0" normalizeH="0" baseline="0" noProof="0" smtClean="0">
                <a:ln>
                  <a:noFill/>
                </a:ln>
                <a:solidFill>
                  <a:schemeClr val="tx1"/>
                </a:solidFill>
                <a:effectLst/>
                <a:uLnTx/>
                <a:uFillTx/>
                <a:latin typeface="微软雅黑" panose="020B0503020204020204" pitchFamily="34" charset="-122"/>
                <a:ea typeface="微软雅黑" panose="020B0503020204020204" pitchFamily="34" charset="-122"/>
                <a:cs typeface="+mj-cs"/>
              </a:rPr>
              <a:t>统</a:t>
            </a:r>
            <a:endPar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marL="742950" marR="0" lvl="0" indent="-742950" defTabSz="914400" rtl="0" eaLnBrk="1" fontAlgn="auto" latinLnBrk="0" hangingPunct="1">
              <a:lnSpc>
                <a:spcPct val="100000"/>
              </a:lnSpc>
              <a:spcBef>
                <a:spcPct val="0"/>
              </a:spcBef>
              <a:spcAft>
                <a:spcPts val="0"/>
              </a:spcAft>
              <a:buClrTx/>
              <a:buSzTx/>
              <a:buFont typeface="Arial" panose="020B0604020202020204" pitchFamily="34" charset="0"/>
              <a:buChar char="•"/>
              <a:defRPr/>
            </a:pPr>
            <a:r>
              <a:rPr lang="en-US" altLang="zh-CN" sz="2800" dirty="0">
                <a:latin typeface="微软雅黑" panose="020B0503020204020204" pitchFamily="34" charset="-122"/>
                <a:ea typeface="微软雅黑" panose="020B0503020204020204" pitchFamily="34" charset="-122"/>
                <a:cs typeface="+mj-cs"/>
              </a:rPr>
              <a:t>UGUI</a:t>
            </a:r>
            <a:r>
              <a:rPr lang="zh-CN" altLang="en-US" sz="2800">
                <a:latin typeface="微软雅黑" panose="020B0503020204020204" pitchFamily="34" charset="-122"/>
                <a:ea typeface="微软雅黑" panose="020B0503020204020204" pitchFamily="34" charset="-122"/>
                <a:cs typeface="+mj-cs"/>
              </a:rPr>
              <a:t>原</a:t>
            </a:r>
            <a:r>
              <a:rPr lang="zh-CN" altLang="en-US" sz="2800" smtClean="0">
                <a:latin typeface="微软雅黑" panose="020B0503020204020204" pitchFamily="34" charset="-122"/>
                <a:ea typeface="微软雅黑" panose="020B0503020204020204" pitchFamily="34" charset="-122"/>
                <a:cs typeface="+mj-cs"/>
              </a:rPr>
              <a:t>理</a:t>
            </a:r>
            <a:endParaRPr lang="en-US" altLang="zh-CN" sz="2800" dirty="0">
              <a:latin typeface="微软雅黑" panose="020B0503020204020204" pitchFamily="34" charset="-122"/>
              <a:ea typeface="微软雅黑" panose="020B0503020204020204" pitchFamily="34" charset="-122"/>
              <a:cs typeface="+mj-cs"/>
            </a:endParaRPr>
          </a:p>
          <a:p>
            <a:pPr marL="742950" marR="0" lvl="0" indent="-742950" defTabSz="914400" rtl="0" eaLnBrk="1" fontAlgn="auto" latinLnBrk="0" hangingPunct="1">
              <a:lnSpc>
                <a:spcPct val="100000"/>
              </a:lnSpc>
              <a:spcBef>
                <a:spcPct val="0"/>
              </a:spcBef>
              <a:spcAft>
                <a:spcPts val="0"/>
              </a:spcAft>
              <a:buClrTx/>
              <a:buSzTx/>
              <a:buFont typeface="Arial" panose="020B0604020202020204" pitchFamily="34" charset="0"/>
              <a:buChar char="•"/>
              <a:defRPr/>
            </a:pPr>
            <a:r>
              <a:rPr lang="en-US" altLang="zh-CN" sz="2800" dirty="0">
                <a:latin typeface="微软雅黑" panose="020B0503020204020204" pitchFamily="34" charset="-122"/>
                <a:ea typeface="微软雅黑" panose="020B0503020204020204" pitchFamily="34" charset="-122"/>
                <a:cs typeface="+mj-cs"/>
              </a:rPr>
              <a:t>UGUI</a:t>
            </a:r>
            <a:r>
              <a:rPr lang="zh-CN" altLang="en-US" sz="2800">
                <a:latin typeface="微软雅黑" panose="020B0503020204020204" pitchFamily="34" charset="-122"/>
                <a:ea typeface="微软雅黑" panose="020B0503020204020204" pitchFamily="34" charset="-122"/>
                <a:cs typeface="+mj-cs"/>
              </a:rPr>
              <a:t>优</a:t>
            </a:r>
            <a:r>
              <a:rPr lang="zh-CN" altLang="en-US" sz="2800" smtClean="0">
                <a:latin typeface="微软雅黑" panose="020B0503020204020204" pitchFamily="34" charset="-122"/>
                <a:ea typeface="微软雅黑" panose="020B0503020204020204" pitchFamily="34" charset="-122"/>
                <a:cs typeface="+mj-cs"/>
              </a:rPr>
              <a:t>化</a:t>
            </a:r>
            <a:endParaRPr lang="en-US" altLang="zh-CN" sz="2800" smtClean="0">
              <a:latin typeface="微软雅黑" panose="020B0503020204020204" pitchFamily="34" charset="-122"/>
              <a:ea typeface="微软雅黑" panose="020B0503020204020204" pitchFamily="34" charset="-122"/>
              <a:cs typeface="+mj-cs"/>
            </a:endParaRPr>
          </a:p>
          <a:p>
            <a:pPr marL="742950" indent="-742950">
              <a:spcBef>
                <a:spcPct val="0"/>
              </a:spcBef>
              <a:buFont typeface="Arial" panose="020B0604020202020204" pitchFamily="34" charset="0"/>
              <a:buChar char="•"/>
              <a:defRPr/>
            </a:pPr>
            <a:r>
              <a:rPr lang="zh-CN" altLang="en-US" sz="2800" smtClean="0">
                <a:latin typeface="微软雅黑" panose="020B0503020204020204" pitchFamily="34" charset="-122"/>
                <a:ea typeface="微软雅黑" panose="020B0503020204020204" pitchFamily="34" charset="-122"/>
              </a:rPr>
              <a:t>优化工具</a:t>
            </a:r>
            <a:endParaRPr lang="en-US" altLang="zh-CN" sz="2800" dirty="0">
              <a:latin typeface="微软雅黑" panose="020B0503020204020204" pitchFamily="34" charset="-122"/>
              <a:ea typeface="微软雅黑" panose="020B0503020204020204" pitchFamily="34" charset="-122"/>
              <a:cs typeface="+mj-cs"/>
            </a:endParaRPr>
          </a:p>
          <a:p>
            <a:pPr marL="742950" marR="0" lvl="0" indent="-742950" defTabSz="914400" rtl="0" eaLnBrk="1" fontAlgn="auto" latinLnBrk="0" hangingPunct="1">
              <a:lnSpc>
                <a:spcPct val="100000"/>
              </a:lnSpc>
              <a:spcBef>
                <a:spcPct val="0"/>
              </a:spcBef>
              <a:spcAft>
                <a:spcPts val="0"/>
              </a:spcAft>
              <a:buClrTx/>
              <a:buSzTx/>
              <a:buFont typeface="Arial" panose="020B0604020202020204" pitchFamily="34" charset="0"/>
              <a:buChar char="•"/>
              <a:defRPr/>
            </a:pPr>
            <a:r>
              <a:rPr kumimoji="0" lang="zh-CN" altLang="en-US"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rPr>
              <a:t>美术相</a:t>
            </a:r>
            <a:r>
              <a:rPr kumimoji="0" lang="zh-CN" altLang="en-US" sz="28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j-cs"/>
              </a:rPr>
              <a:t>关</a:t>
            </a:r>
            <a:r>
              <a:rPr kumimoji="0" lang="zh-CN" altLang="en-US" sz="2800" b="0" i="0" u="none" strike="noStrike" kern="1200" cap="none" spc="0" normalizeH="0" baseline="0" noProof="0" smtClean="0">
                <a:ln>
                  <a:noFill/>
                </a:ln>
                <a:solidFill>
                  <a:schemeClr val="tx1"/>
                </a:solidFill>
                <a:effectLst/>
                <a:uLnTx/>
                <a:uFillTx/>
                <a:latin typeface="微软雅黑" panose="020B0503020204020204" pitchFamily="34" charset="-122"/>
                <a:ea typeface="微软雅黑" panose="020B0503020204020204" pitchFamily="34" charset="-122"/>
                <a:cs typeface="+mj-cs"/>
              </a:rPr>
              <a:t>的制作规范</a:t>
            </a:r>
            <a:endPar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marL="742950" marR="0" lvl="0" indent="-742950" defTabSz="914400" rtl="0" eaLnBrk="1" fontAlgn="auto" latinLnBrk="0" hangingPunct="1">
              <a:lnSpc>
                <a:spcPct val="100000"/>
              </a:lnSpc>
              <a:spcBef>
                <a:spcPct val="0"/>
              </a:spcBef>
              <a:spcAft>
                <a:spcPts val="0"/>
              </a:spcAft>
              <a:buClrTx/>
              <a:buSzTx/>
              <a:buFont typeface="Arial" panose="020B0604020202020204" pitchFamily="34" charset="0"/>
              <a:buChar char="•"/>
              <a:defRPr/>
            </a:pPr>
            <a:r>
              <a:rPr lang="en-US" altLang="zh-CN" sz="2800" dirty="0">
                <a:latin typeface="微软雅黑" panose="020B0503020204020204" pitchFamily="34" charset="-122"/>
                <a:ea typeface="微软雅黑" panose="020B0503020204020204" pitchFamily="34" charset="-122"/>
                <a:cs typeface="+mj-cs"/>
              </a:rPr>
              <a:t>QA</a:t>
            </a:r>
            <a:endPar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zh-CN" altLang="en-US" sz="4000">
                <a:solidFill>
                  <a:schemeClr val="tx1"/>
                </a:solidFill>
                <a:latin typeface="微软雅黑" panose="020B0503020204020204" pitchFamily="34" charset="-122"/>
                <a:ea typeface="微软雅黑" panose="020B0503020204020204" pitchFamily="34" charset="-122"/>
              </a:rPr>
              <a:t>大纲</a:t>
            </a:r>
            <a:endParaRPr lang="en-US" altLang="zh-CN" sz="400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643602"/>
          </a:xfrm>
          <a:prstGeom prst="rect">
            <a:avLst/>
          </a:prstGeom>
        </p:spPr>
        <p:txBody>
          <a:bodyPr vert="horz" lIns="91440" tIns="45720" rIns="91440" bIns="45720" rtlCol="0" anchor="t">
            <a:noAutofit/>
          </a:bodyPr>
          <a:lstStyle/>
          <a:p>
            <a:pPr lvl="0">
              <a:spcBef>
                <a:spcPct val="0"/>
              </a:spcBef>
            </a:pPr>
            <a:r>
              <a:rPr lang="en-US" altLang="zh-CN" sz="1400" b="1" dirty="0">
                <a:latin typeface="微软雅黑" panose="020B0503020204020204" pitchFamily="34" charset="-122"/>
                <a:ea typeface="微软雅黑" panose="020B0503020204020204" pitchFamily="34" charset="-122"/>
                <a:cs typeface="+mj-cs"/>
              </a:rPr>
              <a:t>IMGUI, </a:t>
            </a:r>
            <a:r>
              <a:rPr lang="en-US" altLang="zh-CN" sz="1400" b="1" dirty="0">
                <a:latin typeface="微软雅黑" panose="020B0503020204020204" pitchFamily="34" charset="-122"/>
                <a:ea typeface="微软雅黑" panose="020B0503020204020204" pitchFamily="34" charset="-122"/>
              </a:rPr>
              <a:t>NGUI , </a:t>
            </a:r>
            <a:r>
              <a:rPr lang="en-US" altLang="zh-CN" sz="1400" b="1" dirty="0" err="1">
                <a:latin typeface="微软雅黑" panose="020B0503020204020204" pitchFamily="34" charset="-122"/>
                <a:ea typeface="微软雅黑" panose="020B0503020204020204" pitchFamily="34" charset="-122"/>
                <a:cs typeface="+mj-cs"/>
              </a:rPr>
              <a:t>FairyGUI</a:t>
            </a:r>
            <a:r>
              <a:rPr lang="en-US" altLang="zh-CN" sz="1400" b="1" dirty="0">
                <a:latin typeface="微软雅黑" panose="020B0503020204020204" pitchFamily="34" charset="-122"/>
                <a:ea typeface="微软雅黑" panose="020B0503020204020204" pitchFamily="34" charset="-122"/>
                <a:cs typeface="+mj-cs"/>
              </a:rPr>
              <a:t>,</a:t>
            </a:r>
            <a:r>
              <a:rPr lang="en-US" altLang="zh-CN" sz="1400" b="1" dirty="0">
                <a:latin typeface="微软雅黑" panose="020B0503020204020204" pitchFamily="34" charset="-122"/>
                <a:ea typeface="微软雅黑" panose="020B0503020204020204" pitchFamily="34" charset="-122"/>
              </a:rPr>
              <a:t> UGUI</a:t>
            </a:r>
            <a:r>
              <a:rPr lang="zh-CN" altLang="en-US" sz="1400" b="1" dirty="0">
                <a:latin typeface="微软雅黑" panose="020B0503020204020204" pitchFamily="34" charset="-122"/>
                <a:ea typeface="微软雅黑" panose="020B0503020204020204" pitchFamily="34" charset="-122"/>
              </a:rPr>
              <a:t>，</a:t>
            </a:r>
            <a:r>
              <a:rPr lang="en-US" altLang="zh-CN" sz="1400" b="1" dirty="0">
                <a:latin typeface="微软雅黑" panose="020B0503020204020204" pitchFamily="34" charset="-122"/>
                <a:ea typeface="微软雅黑" panose="020B0503020204020204" pitchFamily="34" charset="-122"/>
              </a:rPr>
              <a:t>UI Element</a:t>
            </a:r>
            <a:endParaRPr lang="en-US" altLang="zh-CN" sz="1400" b="1" dirty="0">
              <a:latin typeface="微软雅黑" panose="020B0503020204020204" pitchFamily="34" charset="-122"/>
              <a:ea typeface="微软雅黑" panose="020B0503020204020204" pitchFamily="34" charset="-122"/>
            </a:endParaRPr>
          </a:p>
          <a:p>
            <a:pPr lvl="0">
              <a:spcBef>
                <a:spcPct val="0"/>
              </a:spcBef>
            </a:pPr>
            <a:endParaRPr lang="en-US" sz="1400" dirty="0">
              <a:latin typeface="微软雅黑" panose="020B0503020204020204" pitchFamily="34" charset="-122"/>
              <a:ea typeface="微软雅黑" panose="020B0503020204020204" pitchFamily="34" charset="-122"/>
            </a:endParaRPr>
          </a:p>
          <a:p>
            <a:pPr marL="342900" lvl="0" indent="-342900">
              <a:spcBef>
                <a:spcPct val="0"/>
              </a:spcBef>
              <a:buFont typeface="Arial" panose="020B0604020202020204" pitchFamily="34" charset="0"/>
              <a:buChar char="•"/>
            </a:pPr>
            <a:r>
              <a:rPr lang="en-US" altLang="zh-CN" sz="1400" b="1" dirty="0">
                <a:latin typeface="微软雅黑" panose="020B0503020204020204" pitchFamily="34" charset="-122"/>
                <a:ea typeface="微软雅黑" panose="020B0503020204020204" pitchFamily="34" charset="-122"/>
              </a:rPr>
              <a:t>IMGUI</a:t>
            </a:r>
            <a:r>
              <a:rPr lang="zh-CN" altLang="en-US" sz="1400" dirty="0">
                <a:latin typeface="微软雅黑" panose="020B0503020204020204" pitchFamily="34" charset="-122"/>
                <a:ea typeface="微软雅黑" panose="020B0503020204020204" pitchFamily="34" charset="-122"/>
              </a:rPr>
              <a:t>是</a:t>
            </a:r>
            <a:r>
              <a:rPr lang="en-US" altLang="zh-CN" sz="1400" dirty="0">
                <a:latin typeface="微软雅黑" panose="020B0503020204020204" pitchFamily="34" charset="-122"/>
                <a:ea typeface="微软雅黑" panose="020B0503020204020204" pitchFamily="34" charset="-122"/>
              </a:rPr>
              <a:t>Unity</a:t>
            </a:r>
            <a:r>
              <a:rPr lang="zh-CN" altLang="en-US" sz="1400" dirty="0">
                <a:latin typeface="微软雅黑" panose="020B0503020204020204" pitchFamily="34" charset="-122"/>
                <a:ea typeface="微软雅黑" panose="020B0503020204020204" pitchFamily="34" charset="-122"/>
              </a:rPr>
              <a:t>自带的古老</a:t>
            </a:r>
            <a:r>
              <a:rPr lang="en-US" altLang="zh-CN" sz="1400" dirty="0">
                <a:latin typeface="微软雅黑" panose="020B0503020204020204" pitchFamily="34" charset="-122"/>
                <a:ea typeface="微软雅黑" panose="020B0503020204020204" pitchFamily="34" charset="-122"/>
              </a:rPr>
              <a:t>UI</a:t>
            </a:r>
            <a:r>
              <a:rPr lang="zh-CN" altLang="en-US" sz="1400" dirty="0">
                <a:latin typeface="微软雅黑" panose="020B0503020204020204" pitchFamily="34" charset="-122"/>
                <a:ea typeface="微软雅黑" panose="020B0503020204020204" pitchFamily="34" charset="-122"/>
              </a:rPr>
              <a:t>系统。</a:t>
            </a:r>
            <a:endParaRPr lang="en-US" altLang="zh-CN" sz="1400" dirty="0">
              <a:latin typeface="微软雅黑" panose="020B0503020204020204" pitchFamily="34" charset="-122"/>
              <a:ea typeface="微软雅黑" panose="020B0503020204020204" pitchFamily="34" charset="-122"/>
            </a:endParaRPr>
          </a:p>
          <a:p>
            <a:pPr marL="342900" lvl="0" indent="-342900">
              <a:spcBef>
                <a:spcPct val="0"/>
              </a:spcBef>
              <a:buFont typeface="Arial" panose="020B0604020202020204" pitchFamily="34" charset="0"/>
              <a:buChar char="•"/>
            </a:pPr>
            <a:r>
              <a:rPr lang="en-US" altLang="zh-CN" sz="1400" b="1" dirty="0">
                <a:latin typeface="微软雅黑" panose="020B0503020204020204" pitchFamily="34" charset="-122"/>
                <a:ea typeface="微软雅黑" panose="020B0503020204020204" pitchFamily="34" charset="-122"/>
              </a:rPr>
              <a:t>NGUI</a:t>
            </a:r>
            <a:r>
              <a:rPr lang="zh-CN" altLang="en-US" sz="1400" dirty="0">
                <a:latin typeface="微软雅黑" panose="020B0503020204020204" pitchFamily="34" charset="-122"/>
                <a:ea typeface="微软雅黑" panose="020B0503020204020204" pitchFamily="34" charset="-122"/>
              </a:rPr>
              <a:t>是最流行的第三方</a:t>
            </a:r>
            <a:r>
              <a:rPr lang="en-US" sz="1400" dirty="0">
                <a:latin typeface="微软雅黑" panose="020B0503020204020204" pitchFamily="34" charset="-122"/>
                <a:ea typeface="微软雅黑" panose="020B0503020204020204" pitchFamily="34" charset="-122"/>
              </a:rPr>
              <a:t>UI</a:t>
            </a:r>
            <a:r>
              <a:rPr lang="zh-CN" altLang="en-US" sz="1400" dirty="0">
                <a:latin typeface="微软雅黑" panose="020B0503020204020204" pitchFamily="34" charset="-122"/>
                <a:ea typeface="微软雅黑" panose="020B0503020204020204" pitchFamily="34" charset="-122"/>
              </a:rPr>
              <a:t>插件。</a:t>
            </a:r>
            <a:endParaRPr lang="en-US" altLang="zh-CN" sz="1400" dirty="0">
              <a:latin typeface="微软雅黑" panose="020B0503020204020204" pitchFamily="34" charset="-122"/>
              <a:ea typeface="微软雅黑" panose="020B0503020204020204" pitchFamily="34" charset="-122"/>
            </a:endParaRPr>
          </a:p>
          <a:p>
            <a:pPr marL="342900" lvl="0" indent="-342900">
              <a:spcBef>
                <a:spcPct val="0"/>
              </a:spcBef>
              <a:buFont typeface="Arial" panose="020B0604020202020204" pitchFamily="34" charset="0"/>
              <a:buChar char="•"/>
            </a:pPr>
            <a:r>
              <a:rPr lang="en-US" sz="1400" b="1" dirty="0" err="1">
                <a:latin typeface="微软雅黑" panose="020B0503020204020204" pitchFamily="34" charset="-122"/>
                <a:ea typeface="微软雅黑" panose="020B0503020204020204" pitchFamily="34" charset="-122"/>
              </a:rPr>
              <a:t>FairyGUI</a:t>
            </a:r>
            <a:r>
              <a:rPr lang="zh-CN" altLang="en-US" sz="1400" dirty="0">
                <a:latin typeface="微软雅黑" panose="020B0503020204020204" pitchFamily="34" charset="-122"/>
                <a:ea typeface="微软雅黑" panose="020B0503020204020204" pitchFamily="34" charset="-122"/>
              </a:rPr>
              <a:t>是跨平台的</a:t>
            </a:r>
            <a:r>
              <a:rPr lang="en-US" sz="1400" dirty="0">
                <a:latin typeface="微软雅黑" panose="020B0503020204020204" pitchFamily="34" charset="-122"/>
                <a:ea typeface="微软雅黑" panose="020B0503020204020204" pitchFamily="34" charset="-122"/>
              </a:rPr>
              <a:t>UI</a:t>
            </a:r>
            <a:r>
              <a:rPr lang="zh-CN" altLang="en-US" sz="1400" dirty="0">
                <a:latin typeface="微软雅黑" panose="020B0503020204020204" pitchFamily="34" charset="-122"/>
                <a:ea typeface="微软雅黑" panose="020B0503020204020204" pitchFamily="34" charset="-122"/>
              </a:rPr>
              <a:t>系统。（商业案例：小游戏居多）</a:t>
            </a:r>
            <a:endParaRPr lang="en-US" altLang="zh-CN" sz="1400" dirty="0">
              <a:latin typeface="微软雅黑" panose="020B0503020204020204" pitchFamily="34" charset="-122"/>
              <a:ea typeface="微软雅黑" panose="020B0503020204020204" pitchFamily="34" charset="-122"/>
            </a:endParaRPr>
          </a:p>
          <a:p>
            <a:pPr marL="342900" lvl="0" indent="-342900">
              <a:spcBef>
                <a:spcPct val="0"/>
              </a:spcBef>
              <a:buFont typeface="Arial" panose="020B0604020202020204" pitchFamily="34" charset="0"/>
              <a:buChar char="•"/>
            </a:pPr>
            <a:r>
              <a:rPr lang="en-US" sz="1400" b="1" dirty="0">
                <a:latin typeface="微软雅黑" panose="020B0503020204020204" pitchFamily="34" charset="-122"/>
                <a:ea typeface="微软雅黑" panose="020B0503020204020204" pitchFamily="34" charset="-122"/>
              </a:rPr>
              <a:t>UGUI</a:t>
            </a:r>
            <a:r>
              <a:rPr lang="zh-CN" altLang="en-US" sz="1400" dirty="0">
                <a:latin typeface="微软雅黑" panose="020B0503020204020204" pitchFamily="34" charset="-122"/>
                <a:ea typeface="微软雅黑" panose="020B0503020204020204" pitchFamily="34" charset="-122"/>
              </a:rPr>
              <a:t>是官方版本。</a:t>
            </a:r>
            <a:endParaRPr lang="en-US" altLang="zh-CN" sz="1400" dirty="0">
              <a:latin typeface="微软雅黑" panose="020B0503020204020204" pitchFamily="34" charset="-122"/>
              <a:ea typeface="微软雅黑" panose="020B0503020204020204" pitchFamily="34" charset="-122"/>
            </a:endParaRPr>
          </a:p>
          <a:p>
            <a:pPr marL="342900" lvl="0" indent="-342900">
              <a:spcBef>
                <a:spcPct val="0"/>
              </a:spcBef>
              <a:buFont typeface="Arial" panose="020B0604020202020204" pitchFamily="34" charset="0"/>
              <a:buChar char="•"/>
            </a:pPr>
            <a:r>
              <a:rPr lang="en-US" altLang="zh-CN" sz="1400" b="1" dirty="0">
                <a:latin typeface="微软雅黑" panose="020B0503020204020204" pitchFamily="34" charset="-122"/>
                <a:ea typeface="微软雅黑" panose="020B0503020204020204" pitchFamily="34" charset="-122"/>
              </a:rPr>
              <a:t>UI Element</a:t>
            </a:r>
            <a:r>
              <a:rPr lang="zh-CN" altLang="en-US" sz="1400" dirty="0">
                <a:latin typeface="微软雅黑" panose="020B0503020204020204" pitchFamily="34" charset="-122"/>
                <a:ea typeface="微软雅黑" panose="020B0503020204020204" pitchFamily="34" charset="-122"/>
              </a:rPr>
              <a:t>是最新版本的</a:t>
            </a:r>
            <a:r>
              <a:rPr lang="en-US" altLang="zh-CN" sz="1400" dirty="0">
                <a:latin typeface="微软雅黑" panose="020B0503020204020204" pitchFamily="34" charset="-122"/>
                <a:ea typeface="微软雅黑" panose="020B0503020204020204" pitchFamily="34" charset="-122"/>
              </a:rPr>
              <a:t>UI</a:t>
            </a:r>
            <a:r>
              <a:rPr lang="zh-CN" altLang="en-US" sz="1400" dirty="0">
                <a:latin typeface="微软雅黑" panose="020B0503020204020204" pitchFamily="34" charset="-122"/>
                <a:ea typeface="微软雅黑" panose="020B0503020204020204" pitchFamily="34" charset="-122"/>
              </a:rPr>
              <a:t>系统。（</a:t>
            </a:r>
            <a:r>
              <a:rPr lang="en-US" altLang="zh-CN" sz="1400" dirty="0">
                <a:latin typeface="微软雅黑" panose="020B0503020204020204" pitchFamily="34" charset="-122"/>
                <a:ea typeface="微软雅黑" panose="020B0503020204020204" pitchFamily="34" charset="-122"/>
              </a:rPr>
              <a:t>Untiy2019</a:t>
            </a:r>
            <a:r>
              <a:rPr lang="zh-CN" altLang="en-US" sz="1400">
                <a:latin typeface="微软雅黑" panose="020B0503020204020204" pitchFamily="34" charset="-122"/>
                <a:ea typeface="微软雅黑" panose="020B0503020204020204" pitchFamily="34" charset="-122"/>
              </a:rPr>
              <a:t>版</a:t>
            </a:r>
            <a:r>
              <a:rPr lang="zh-CN" altLang="en-US" sz="1400" smtClean="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cs typeface="+mj-cs"/>
            </a:endParaRPr>
          </a:p>
          <a:p>
            <a:pPr lvl="0">
              <a:spcBef>
                <a:spcPct val="0"/>
              </a:spcBef>
            </a:pPr>
            <a:endParaRPr lang="en-US" altLang="zh-CN" sz="1400" dirty="0">
              <a:latin typeface="微软雅黑" panose="020B0503020204020204" pitchFamily="34" charset="-122"/>
              <a:ea typeface="微软雅黑" panose="020B0503020204020204" pitchFamily="34" charset="-122"/>
              <a:cs typeface="+mj-cs"/>
            </a:endParaRPr>
          </a:p>
          <a:p>
            <a:pPr lvl="0">
              <a:spcBef>
                <a:spcPct val="0"/>
              </a:spcBef>
            </a:pPr>
            <a:r>
              <a:rPr lang="zh-CN" altLang="en-US" sz="1400" b="1" dirty="0">
                <a:latin typeface="微软雅黑" panose="020B0503020204020204" pitchFamily="34" charset="-122"/>
                <a:ea typeface="微软雅黑" panose="020B0503020204020204" pitchFamily="34" charset="-122"/>
                <a:cs typeface="+mj-cs"/>
              </a:rPr>
              <a:t>为什么选择</a:t>
            </a:r>
            <a:r>
              <a:rPr lang="en-US" altLang="zh-CN" sz="1400" b="1" dirty="0">
                <a:latin typeface="微软雅黑" panose="020B0503020204020204" pitchFamily="34" charset="-122"/>
                <a:ea typeface="微软雅黑" panose="020B0503020204020204" pitchFamily="34" charset="-122"/>
                <a:cs typeface="+mj-cs"/>
              </a:rPr>
              <a:t>UGUI</a:t>
            </a:r>
            <a:r>
              <a:rPr lang="zh-CN" altLang="en-US" sz="1400" dirty="0">
                <a:latin typeface="微软雅黑" panose="020B0503020204020204" pitchFamily="34" charset="-122"/>
                <a:ea typeface="微软雅黑" panose="020B0503020204020204" pitchFamily="34" charset="-122"/>
                <a:cs typeface="+mj-cs"/>
              </a:rPr>
              <a:t>：</a:t>
            </a:r>
            <a:r>
              <a:rPr lang="zh-CN" altLang="en-US" sz="1400" dirty="0">
                <a:latin typeface="微软雅黑" panose="020B0503020204020204" pitchFamily="34" charset="-122"/>
                <a:ea typeface="微软雅黑" panose="020B0503020204020204" pitchFamily="34" charset="-122"/>
              </a:rPr>
              <a:t>团队最擅长（重点），官方支持</a:t>
            </a:r>
            <a:r>
              <a:rPr lang="zh-CN" altLang="en-US" sz="1400" dirty="0">
                <a:latin typeface="微软雅黑" panose="020B0503020204020204" pitchFamily="34" charset="-122"/>
                <a:ea typeface="微软雅黑" panose="020B0503020204020204" pitchFamily="34" charset="-122"/>
                <a:cs typeface="+mj-cs"/>
              </a:rPr>
              <a:t>，流行趋势</a:t>
            </a:r>
            <a:r>
              <a:rPr lang="zh-CN" altLang="en-US" sz="1400" dirty="0">
                <a:latin typeface="微软雅黑" panose="020B0503020204020204" pitchFamily="34" charset="-122"/>
                <a:ea typeface="微软雅黑" panose="020B0503020204020204" pitchFamily="34" charset="-122"/>
              </a:rPr>
              <a:t>，多线程支持（</a:t>
            </a:r>
            <a:r>
              <a:rPr lang="en-US" sz="1400" dirty="0">
                <a:latin typeface="微软雅黑" panose="020B0503020204020204" pitchFamily="34" charset="-122"/>
                <a:ea typeface="微软雅黑" panose="020B0503020204020204" pitchFamily="34" charset="-122"/>
              </a:rPr>
              <a:t>UI</a:t>
            </a:r>
            <a:r>
              <a:rPr lang="zh-CN" altLang="en-US" sz="1400" dirty="0">
                <a:latin typeface="微软雅黑" panose="020B0503020204020204" pitchFamily="34" charset="-122"/>
                <a:ea typeface="微软雅黑" panose="020B0503020204020204" pitchFamily="34" charset="-122"/>
              </a:rPr>
              <a:t>重建）。</a:t>
            </a:r>
            <a:endParaRPr lang="en-US" altLang="zh-CN" sz="1400" dirty="0">
              <a:latin typeface="微软雅黑" panose="020B0503020204020204" pitchFamily="34" charset="-122"/>
              <a:ea typeface="微软雅黑" panose="020B0503020204020204" pitchFamily="34" charset="-122"/>
              <a:cs typeface="+mj-cs"/>
            </a:endParaRPr>
          </a:p>
          <a:p>
            <a:pPr lvl="0">
              <a:spcBef>
                <a:spcPct val="0"/>
              </a:spcBef>
            </a:pPr>
            <a:endParaRPr lang="en-US" altLang="zh-CN" sz="1400" dirty="0">
              <a:latin typeface="微软雅黑" panose="020B0503020204020204" pitchFamily="34" charset="-122"/>
              <a:ea typeface="微软雅黑" panose="020B0503020204020204" pitchFamily="34" charset="-122"/>
              <a:cs typeface="+mj-cs"/>
            </a:endParaRPr>
          </a:p>
          <a:p>
            <a:pPr lvl="0">
              <a:spcBef>
                <a:spcPct val="0"/>
              </a:spcBef>
            </a:pPr>
            <a:endParaRPr lang="en-US" altLang="zh-CN" sz="1400" dirty="0">
              <a:latin typeface="微软雅黑" panose="020B0503020204020204" pitchFamily="34" charset="-122"/>
              <a:ea typeface="微软雅黑" panose="020B0503020204020204" pitchFamily="34" charset="-122"/>
              <a:cs typeface="+mj-cs"/>
            </a:endParaRPr>
          </a:p>
          <a:p>
            <a:pPr lvl="0">
              <a:spcBef>
                <a:spcPct val="0"/>
              </a:spcBef>
            </a:pPr>
            <a:endParaRPr lang="en-US" altLang="zh-CN" sz="1400" dirty="0">
              <a:latin typeface="微软雅黑" panose="020B0503020204020204" pitchFamily="34" charset="-122"/>
              <a:ea typeface="微软雅黑" panose="020B0503020204020204" pitchFamily="34" charset="-122"/>
              <a:cs typeface="+mj-cs"/>
            </a:endParaRPr>
          </a:p>
          <a:p>
            <a:pPr lvl="0">
              <a:spcBef>
                <a:spcPct val="0"/>
              </a:spcBef>
            </a:pPr>
            <a:endParaRPr lang="en-US" altLang="zh-CN" sz="1400" dirty="0">
              <a:latin typeface="微软雅黑" panose="020B0503020204020204" pitchFamily="34" charset="-122"/>
              <a:ea typeface="微软雅黑" panose="020B0503020204020204" pitchFamily="34" charset="-122"/>
              <a:cs typeface="+mj-cs"/>
            </a:endParaRPr>
          </a:p>
          <a:p>
            <a:pPr lvl="0">
              <a:spcBef>
                <a:spcPct val="0"/>
              </a:spcBef>
            </a:pPr>
            <a:endParaRPr lang="en-US" altLang="zh-CN" sz="1400" dirty="0">
              <a:latin typeface="微软雅黑" panose="020B0503020204020204" pitchFamily="34" charset="-122"/>
              <a:ea typeface="微软雅黑" panose="020B0503020204020204" pitchFamily="34" charset="-122"/>
              <a:cs typeface="+mj-cs"/>
            </a:endParaRPr>
          </a:p>
          <a:p>
            <a:pPr lvl="0">
              <a:spcBef>
                <a:spcPct val="0"/>
              </a:spcBef>
            </a:pPr>
            <a:endParaRPr lang="en-US" altLang="zh-CN" sz="1400" dirty="0">
              <a:latin typeface="微软雅黑" panose="020B0503020204020204" pitchFamily="34" charset="-122"/>
              <a:ea typeface="微软雅黑" panose="020B0503020204020204" pitchFamily="34" charset="-122"/>
              <a:cs typeface="+mj-cs"/>
            </a:endParaRPr>
          </a:p>
          <a:p>
            <a:pPr lvl="0">
              <a:spcBef>
                <a:spcPct val="0"/>
              </a:spcBef>
            </a:pPr>
            <a:endParaRPr lang="en-US" altLang="zh-CN" sz="1400" dirty="0">
              <a:latin typeface="微软雅黑" panose="020B0503020204020204" pitchFamily="34" charset="-122"/>
              <a:ea typeface="微软雅黑" panose="020B0503020204020204" pitchFamily="34" charset="-122"/>
              <a:cs typeface="+mj-cs"/>
            </a:endParaRPr>
          </a:p>
          <a:p>
            <a:pPr lvl="0">
              <a:spcBef>
                <a:spcPct val="0"/>
              </a:spcBef>
            </a:pPr>
            <a:endParaRPr lang="en-US" altLang="zh-CN" sz="1400" dirty="0">
              <a:latin typeface="微软雅黑" panose="020B0503020204020204" pitchFamily="34" charset="-122"/>
              <a:ea typeface="微软雅黑" panose="020B0503020204020204" pitchFamily="34" charset="-122"/>
              <a:cs typeface="+mj-cs"/>
            </a:endParaRPr>
          </a:p>
          <a:p>
            <a:pPr lvl="0">
              <a:spcBef>
                <a:spcPct val="0"/>
              </a:spcBef>
            </a:pPr>
            <a:endParaRPr lang="en-US" altLang="zh-CN" sz="1400" dirty="0">
              <a:latin typeface="微软雅黑" panose="020B0503020204020204" pitchFamily="34" charset="-122"/>
              <a:ea typeface="微软雅黑" panose="020B0503020204020204" pitchFamily="34" charset="-122"/>
              <a:cs typeface="+mj-cs"/>
            </a:endParaRPr>
          </a:p>
          <a:p>
            <a:pPr lvl="0">
              <a:spcBef>
                <a:spcPct val="0"/>
              </a:spcBef>
            </a:pPr>
            <a:endParaRPr lang="en-US" altLang="zh-CN" sz="1400" dirty="0">
              <a:latin typeface="微软雅黑" panose="020B0503020204020204" pitchFamily="34" charset="-122"/>
              <a:ea typeface="微软雅黑" panose="020B0503020204020204" pitchFamily="34" charset="-122"/>
              <a:cs typeface="+mj-cs"/>
            </a:endParaRPr>
          </a:p>
          <a:p>
            <a:pPr lvl="0">
              <a:spcBef>
                <a:spcPct val="0"/>
              </a:spcBef>
            </a:pPr>
            <a:endParaRPr lang="en-US" altLang="zh-CN" sz="1400" dirty="0">
              <a:latin typeface="微软雅黑" panose="020B0503020204020204" pitchFamily="34" charset="-122"/>
              <a:ea typeface="微软雅黑" panose="020B0503020204020204" pitchFamily="34" charset="-122"/>
              <a:cs typeface="+mj-cs"/>
            </a:endParaRPr>
          </a:p>
          <a:p>
            <a:pPr lvl="0">
              <a:spcBef>
                <a:spcPct val="0"/>
              </a:spcBef>
            </a:pPr>
            <a:endParaRPr lang="en-US" altLang="zh-CN" sz="1400" dirty="0">
              <a:latin typeface="微软雅黑" panose="020B0503020204020204" pitchFamily="34" charset="-122"/>
              <a:ea typeface="微软雅黑" panose="020B0503020204020204" pitchFamily="34" charset="-122"/>
              <a:cs typeface="+mj-cs"/>
            </a:endParaRPr>
          </a:p>
          <a:p>
            <a:pPr lvl="0">
              <a:spcBef>
                <a:spcPct val="0"/>
              </a:spcBef>
            </a:pPr>
            <a:endParaRPr lang="en-US" altLang="zh-CN" sz="1400" dirty="0">
              <a:latin typeface="微软雅黑" panose="020B0503020204020204" pitchFamily="34" charset="-122"/>
              <a:ea typeface="微软雅黑" panose="020B0503020204020204" pitchFamily="34" charset="-122"/>
              <a:cs typeface="+mj-cs"/>
            </a:endParaRPr>
          </a:p>
          <a:p>
            <a:pPr lvl="0">
              <a:spcBef>
                <a:spcPct val="0"/>
              </a:spcBef>
            </a:pPr>
            <a:endParaRPr lang="en-US" altLang="zh-CN" sz="1400" dirty="0">
              <a:latin typeface="微软雅黑" panose="020B0503020204020204" pitchFamily="34" charset="-122"/>
              <a:ea typeface="微软雅黑" panose="020B0503020204020204" pitchFamily="34" charset="-122"/>
            </a:endParaRPr>
          </a:p>
          <a:p>
            <a:pPr lvl="0">
              <a:spcBef>
                <a:spcPct val="0"/>
              </a:spcBef>
            </a:pPr>
            <a:endParaRPr lang="en-US" altLang="zh-CN" sz="1400" dirty="0">
              <a:latin typeface="微软雅黑" panose="020B0503020204020204" pitchFamily="34" charset="-122"/>
              <a:ea typeface="微软雅黑" panose="020B0503020204020204" pitchFamily="34" charset="-122"/>
            </a:endParaRPr>
          </a:p>
          <a:p>
            <a:pPr lvl="0">
              <a:spcBef>
                <a:spcPct val="0"/>
              </a:spcBef>
            </a:pPr>
            <a:r>
              <a:rPr lang="en-US" altLang="zh-CN" sz="1400" b="1" dirty="0">
                <a:latin typeface="微软雅黑" panose="020B0503020204020204" pitchFamily="34" charset="-122"/>
                <a:ea typeface="微软雅黑" panose="020B0503020204020204" pitchFamily="34" charset="-122"/>
              </a:rPr>
              <a:t>UGUI</a:t>
            </a:r>
            <a:r>
              <a:rPr lang="zh-CN" altLang="en-US" sz="1400" b="1" dirty="0">
                <a:latin typeface="微软雅黑" panose="020B0503020204020204" pitchFamily="34" charset="-122"/>
                <a:ea typeface="微软雅黑" panose="020B0503020204020204" pitchFamily="34" charset="-122"/>
              </a:rPr>
              <a:t>开源地址</a:t>
            </a:r>
            <a:r>
              <a:rPr lang="en-US" altLang="zh-CN" sz="1400" b="1" dirty="0">
                <a:latin typeface="微软雅黑" panose="020B0503020204020204" pitchFamily="34" charset="-122"/>
                <a:ea typeface="微软雅黑" panose="020B0503020204020204" pitchFamily="34" charset="-122"/>
              </a:rPr>
              <a:t> </a:t>
            </a:r>
            <a:r>
              <a:rPr lang="en-US" altLang="zh-CN" sz="1400" dirty="0">
                <a:latin typeface="微软雅黑" panose="020B0503020204020204" pitchFamily="34" charset="-122"/>
                <a:ea typeface="微软雅黑" panose="020B0503020204020204" pitchFamily="34" charset="-122"/>
                <a:hlinkClick r:id="rId1"/>
              </a:rPr>
              <a:t>https://bitbucket.org/Unity-Technologies/ui</a:t>
            </a:r>
            <a:endParaRPr lang="en-US" altLang="zh-CN" sz="1400" dirty="0">
              <a:latin typeface="微软雅黑" panose="020B0503020204020204" pitchFamily="34" charset="-122"/>
              <a:ea typeface="微软雅黑" panose="020B0503020204020204" pitchFamily="34" charset="-122"/>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altLang="zh-CN" sz="4000">
                <a:solidFill>
                  <a:schemeClr val="tx1"/>
                </a:solidFill>
                <a:latin typeface="微软雅黑" panose="020B0503020204020204" pitchFamily="34" charset="-122"/>
                <a:ea typeface="微软雅黑" panose="020B0503020204020204" pitchFamily="34" charset="-122"/>
              </a:rPr>
              <a:t>UGUI</a:t>
            </a:r>
            <a:r>
              <a:rPr lang="zh-CN" altLang="en-US" sz="4000">
                <a:solidFill>
                  <a:schemeClr val="tx1"/>
                </a:solidFill>
                <a:latin typeface="微软雅黑" panose="020B0503020204020204" pitchFamily="34" charset="-122"/>
                <a:ea typeface="微软雅黑" panose="020B0503020204020204" pitchFamily="34" charset="-122"/>
              </a:rPr>
              <a:t>介绍</a:t>
            </a:r>
            <a:endParaRPr lang="en-US" altLang="zh-CN" sz="4000">
              <a:solidFill>
                <a:schemeClr val="tx1"/>
              </a:solidFill>
              <a:latin typeface="微软雅黑" panose="020B0503020204020204" pitchFamily="34" charset="-122"/>
              <a:ea typeface="微软雅黑" panose="020B0503020204020204" pitchFamily="34" charset="-122"/>
            </a:endParaRPr>
          </a:p>
        </p:txBody>
      </p:sp>
      <p:pic>
        <p:nvPicPr>
          <p:cNvPr id="3075" name="Picture 3" descr="C:\Users\Administrator\Desktop\QQ截图20190509210137.png"/>
          <p:cNvPicPr>
            <a:picLocks noChangeAspect="1" noChangeArrowheads="1"/>
          </p:cNvPicPr>
          <p:nvPr/>
        </p:nvPicPr>
        <p:blipFill>
          <a:blip r:embed="rId2"/>
          <a:srcRect/>
          <a:stretch>
            <a:fillRect/>
          </a:stretch>
        </p:blipFill>
        <p:spPr bwMode="auto">
          <a:xfrm>
            <a:off x="285720" y="3143248"/>
            <a:ext cx="4093283" cy="2500330"/>
          </a:xfrm>
          <a:prstGeom prst="rect">
            <a:avLst/>
          </a:prstGeom>
          <a:noFill/>
        </p:spPr>
      </p:pic>
      <p:pic>
        <p:nvPicPr>
          <p:cNvPr id="3076" name="Picture 4" descr="C:\Users\Administrator\Desktop\QQ截图20190509210619.png"/>
          <p:cNvPicPr>
            <a:picLocks noChangeAspect="1" noChangeArrowheads="1"/>
          </p:cNvPicPr>
          <p:nvPr/>
        </p:nvPicPr>
        <p:blipFill>
          <a:blip r:embed="rId3"/>
          <a:srcRect/>
          <a:stretch>
            <a:fillRect/>
          </a:stretch>
        </p:blipFill>
        <p:spPr bwMode="auto">
          <a:xfrm>
            <a:off x="4643438" y="3429000"/>
            <a:ext cx="4285752" cy="1857388"/>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643602"/>
          </a:xfrm>
          <a:prstGeom prst="rect">
            <a:avLst/>
          </a:prstGeom>
        </p:spPr>
        <p:txBody>
          <a:bodyPr vert="horz" lIns="91440" tIns="45720" rIns="91440" bIns="45720" rtlCol="0" anchor="t">
            <a:normAutofit/>
          </a:bodyPr>
          <a:lstStyle/>
          <a:p>
            <a:pPr lvl="0">
              <a:spcBef>
                <a:spcPct val="0"/>
              </a:spcBef>
            </a:pPr>
            <a:r>
              <a:rPr lang="en-US" altLang="zh-CN" sz="1400" b="1" dirty="0">
                <a:latin typeface="微软雅黑" panose="020B0503020204020204" pitchFamily="34" charset="-122"/>
                <a:ea typeface="微软雅黑" panose="020B0503020204020204" pitchFamily="34" charset="-122"/>
                <a:cs typeface="+mj-cs"/>
              </a:rPr>
              <a:t>UI</a:t>
            </a:r>
            <a:r>
              <a:rPr lang="zh-CN" altLang="en-US" sz="1400" b="1" dirty="0">
                <a:latin typeface="微软雅黑" panose="020B0503020204020204" pitchFamily="34" charset="-122"/>
                <a:ea typeface="微软雅黑" panose="020B0503020204020204" pitchFamily="34" charset="-122"/>
                <a:cs typeface="+mj-cs"/>
              </a:rPr>
              <a:t>基础控件</a:t>
            </a:r>
            <a:endParaRPr lang="en-US" altLang="zh-CN" sz="1400" b="1" dirty="0">
              <a:latin typeface="微软雅黑" panose="020B0503020204020204" pitchFamily="34" charset="-122"/>
              <a:ea typeface="微软雅黑" panose="020B0503020204020204" pitchFamily="34" charset="-122"/>
              <a:cs typeface="+mj-cs"/>
            </a:endParaRPr>
          </a:p>
          <a:p>
            <a:pPr marL="342900" lvl="0" indent="-342900">
              <a:spcBef>
                <a:spcPct val="0"/>
              </a:spcBef>
              <a:buFont typeface="Arial" panose="020B0604020202020204" pitchFamily="34" charset="0"/>
              <a:buChar char="•"/>
            </a:pPr>
            <a:r>
              <a:rPr lang="en-US" altLang="zh-CN" sz="1400" dirty="0">
                <a:latin typeface="微软雅黑" panose="020B0503020204020204" pitchFamily="34" charset="-122"/>
                <a:ea typeface="微软雅黑" panose="020B0503020204020204" pitchFamily="34" charset="-122"/>
                <a:cs typeface="+mj-cs"/>
              </a:rPr>
              <a:t>Text </a:t>
            </a:r>
            <a:r>
              <a:rPr lang="zh-CN" altLang="en-US" sz="1400" dirty="0">
                <a:latin typeface="微软雅黑" panose="020B0503020204020204" pitchFamily="34" charset="-122"/>
                <a:ea typeface="微软雅黑" panose="020B0503020204020204" pitchFamily="34" charset="-122"/>
              </a:rPr>
              <a:t>文本</a:t>
            </a:r>
            <a:endParaRPr lang="en-US" altLang="zh-CN" sz="1400" dirty="0">
              <a:latin typeface="微软雅黑" panose="020B0503020204020204" pitchFamily="34" charset="-122"/>
              <a:ea typeface="微软雅黑" panose="020B0503020204020204" pitchFamily="34" charset="-122"/>
              <a:cs typeface="+mj-cs"/>
            </a:endParaRPr>
          </a:p>
          <a:p>
            <a:pPr marL="342900" lvl="0" indent="-342900">
              <a:spcBef>
                <a:spcPct val="0"/>
              </a:spcBef>
              <a:buFont typeface="Arial" panose="020B0604020202020204" pitchFamily="34" charset="0"/>
              <a:buChar char="•"/>
            </a:pPr>
            <a:r>
              <a:rPr lang="en-US" altLang="zh-CN" sz="1400" dirty="0">
                <a:latin typeface="微软雅黑" panose="020B0503020204020204" pitchFamily="34" charset="-122"/>
                <a:ea typeface="微软雅黑" panose="020B0503020204020204" pitchFamily="34" charset="-122"/>
                <a:cs typeface="+mj-cs"/>
              </a:rPr>
              <a:t>Image </a:t>
            </a:r>
            <a:r>
              <a:rPr lang="zh-CN" altLang="en-US" sz="1400" dirty="0">
                <a:latin typeface="微软雅黑" panose="020B0503020204020204" pitchFamily="34" charset="-122"/>
                <a:ea typeface="微软雅黑" panose="020B0503020204020204" pitchFamily="34" charset="-122"/>
              </a:rPr>
              <a:t>图片</a:t>
            </a:r>
            <a:endParaRPr lang="en-US" altLang="zh-CN" sz="1400" dirty="0">
              <a:latin typeface="微软雅黑" panose="020B0503020204020204" pitchFamily="34" charset="-122"/>
              <a:ea typeface="微软雅黑" panose="020B0503020204020204" pitchFamily="34" charset="-122"/>
              <a:cs typeface="+mj-cs"/>
            </a:endParaRPr>
          </a:p>
          <a:p>
            <a:pPr marL="342900" lvl="0" indent="-342900">
              <a:spcBef>
                <a:spcPct val="0"/>
              </a:spcBef>
              <a:buFont typeface="Arial" panose="020B0604020202020204" pitchFamily="34" charset="0"/>
              <a:buChar char="•"/>
            </a:pPr>
            <a:r>
              <a:rPr lang="en-US" altLang="zh-CN" sz="1400" dirty="0" err="1">
                <a:latin typeface="微软雅黑" panose="020B0503020204020204" pitchFamily="34" charset="-122"/>
                <a:ea typeface="微软雅黑" panose="020B0503020204020204" pitchFamily="34" charset="-122"/>
                <a:cs typeface="+mj-cs"/>
              </a:rPr>
              <a:t>RawImage</a:t>
            </a:r>
            <a:r>
              <a:rPr lang="en-US" altLang="zh-CN" sz="1400" dirty="0">
                <a:latin typeface="微软雅黑" panose="020B0503020204020204" pitchFamily="34" charset="-122"/>
                <a:ea typeface="微软雅黑" panose="020B0503020204020204" pitchFamily="34" charset="-122"/>
                <a:cs typeface="+mj-cs"/>
              </a:rPr>
              <a:t> </a:t>
            </a:r>
            <a:r>
              <a:rPr lang="zh-CN" altLang="en-US" sz="1400" dirty="0">
                <a:latin typeface="微软雅黑" panose="020B0503020204020204" pitchFamily="34" charset="-122"/>
                <a:ea typeface="微软雅黑" panose="020B0503020204020204" pitchFamily="34" charset="-122"/>
              </a:rPr>
              <a:t>原图片</a:t>
            </a:r>
            <a:endParaRPr lang="en-US" altLang="zh-CN" sz="1400" dirty="0">
              <a:latin typeface="微软雅黑" panose="020B0503020204020204" pitchFamily="34" charset="-122"/>
              <a:ea typeface="微软雅黑" panose="020B0503020204020204" pitchFamily="34" charset="-122"/>
              <a:cs typeface="+mj-cs"/>
            </a:endParaRPr>
          </a:p>
          <a:p>
            <a:pPr marL="342900" lvl="0" indent="-342900">
              <a:spcBef>
                <a:spcPct val="0"/>
              </a:spcBef>
              <a:buFont typeface="Arial" panose="020B0604020202020204" pitchFamily="34" charset="0"/>
              <a:buChar char="•"/>
            </a:pPr>
            <a:r>
              <a:rPr lang="en-US" altLang="zh-CN" sz="1400" dirty="0">
                <a:latin typeface="微软雅黑" panose="020B0503020204020204" pitchFamily="34" charset="-122"/>
                <a:ea typeface="微软雅黑" panose="020B0503020204020204" pitchFamily="34" charset="-122"/>
                <a:cs typeface="+mj-cs"/>
              </a:rPr>
              <a:t>Mask </a:t>
            </a:r>
            <a:r>
              <a:rPr lang="zh-CN" altLang="en-US" sz="1400" dirty="0">
                <a:latin typeface="微软雅黑" panose="020B0503020204020204" pitchFamily="34" charset="-122"/>
                <a:ea typeface="微软雅黑" panose="020B0503020204020204" pitchFamily="34" charset="-122"/>
                <a:cs typeface="+mj-cs"/>
              </a:rPr>
              <a:t>遮罩</a:t>
            </a:r>
            <a:endParaRPr lang="en-US" altLang="zh-CN" sz="1400" dirty="0">
              <a:latin typeface="微软雅黑" panose="020B0503020204020204" pitchFamily="34" charset="-122"/>
              <a:ea typeface="微软雅黑" panose="020B0503020204020204" pitchFamily="34" charset="-122"/>
              <a:cs typeface="+mj-cs"/>
            </a:endParaRPr>
          </a:p>
          <a:p>
            <a:pPr marL="342900" lvl="0" indent="-342900">
              <a:spcBef>
                <a:spcPct val="0"/>
              </a:spcBef>
              <a:buFont typeface="Arial" panose="020B0604020202020204" pitchFamily="34" charset="0"/>
              <a:buChar char="•"/>
            </a:pPr>
            <a:r>
              <a:rPr lang="en-US" altLang="zh-CN" sz="1400" dirty="0">
                <a:latin typeface="微软雅黑" panose="020B0503020204020204" pitchFamily="34" charset="-122"/>
                <a:ea typeface="微软雅黑" panose="020B0503020204020204" pitchFamily="34" charset="-122"/>
                <a:cs typeface="+mj-cs"/>
              </a:rPr>
              <a:t>Effects </a:t>
            </a:r>
            <a:r>
              <a:rPr lang="zh-CN" altLang="en-US" sz="1400" dirty="0">
                <a:latin typeface="微软雅黑" panose="020B0503020204020204" pitchFamily="34" charset="-122"/>
                <a:ea typeface="微软雅黑" panose="020B0503020204020204" pitchFamily="34" charset="-122"/>
                <a:cs typeface="+mj-cs"/>
              </a:rPr>
              <a:t>特殊效果（阴影，描边等）</a:t>
            </a:r>
            <a:endParaRPr lang="en-US" altLang="zh-CN" sz="1400" dirty="0">
              <a:latin typeface="微软雅黑" panose="020B0503020204020204" pitchFamily="34" charset="-122"/>
              <a:ea typeface="微软雅黑" panose="020B0503020204020204" pitchFamily="34" charset="-122"/>
              <a:cs typeface="+mj-cs"/>
            </a:endParaRPr>
          </a:p>
          <a:p>
            <a:pPr lvl="0">
              <a:spcBef>
                <a:spcPct val="0"/>
              </a:spcBef>
            </a:pPr>
            <a:endParaRPr lang="zh-CN" altLang="en-US" sz="1400" dirty="0">
              <a:latin typeface="微软雅黑" panose="020B0503020204020204" pitchFamily="34" charset="-122"/>
              <a:ea typeface="微软雅黑" panose="020B0503020204020204" pitchFamily="34" charset="-122"/>
              <a:cs typeface="+mj-cs"/>
            </a:endParaRPr>
          </a:p>
          <a:p>
            <a:pPr lvl="0">
              <a:spcBef>
                <a:spcPct val="0"/>
              </a:spcBef>
            </a:pPr>
            <a:r>
              <a:rPr lang="en-US" altLang="zh-CN" sz="1400" b="1" dirty="0">
                <a:latin typeface="微软雅黑" panose="020B0503020204020204" pitchFamily="34" charset="-122"/>
                <a:ea typeface="微软雅黑" panose="020B0503020204020204" pitchFamily="34" charset="-122"/>
                <a:cs typeface="+mj-cs"/>
              </a:rPr>
              <a:t>UI</a:t>
            </a:r>
            <a:r>
              <a:rPr lang="zh-CN" altLang="en-US" sz="1400" b="1" dirty="0">
                <a:latin typeface="微软雅黑" panose="020B0503020204020204" pitchFamily="34" charset="-122"/>
                <a:ea typeface="微软雅黑" panose="020B0503020204020204" pitchFamily="34" charset="-122"/>
                <a:cs typeface="+mj-cs"/>
              </a:rPr>
              <a:t>交互控件</a:t>
            </a:r>
            <a:endParaRPr lang="en-US" altLang="zh-CN" sz="1400" b="1" dirty="0">
              <a:latin typeface="微软雅黑" panose="020B0503020204020204" pitchFamily="34" charset="-122"/>
              <a:ea typeface="微软雅黑" panose="020B0503020204020204" pitchFamily="34" charset="-122"/>
              <a:cs typeface="+mj-cs"/>
            </a:endParaRPr>
          </a:p>
          <a:p>
            <a:pPr marL="342900" lvl="0" indent="-342900">
              <a:spcBef>
                <a:spcPct val="0"/>
              </a:spcBef>
              <a:buFont typeface="Arial" panose="020B0604020202020204" pitchFamily="34" charset="0"/>
              <a:buChar char="•"/>
            </a:pPr>
            <a:r>
              <a:rPr lang="en-US" altLang="zh-CN" sz="1400" dirty="0">
                <a:latin typeface="微软雅黑" panose="020B0503020204020204" pitchFamily="34" charset="-122"/>
                <a:ea typeface="微软雅黑" panose="020B0503020204020204" pitchFamily="34" charset="-122"/>
                <a:cs typeface="+mj-cs"/>
              </a:rPr>
              <a:t>Button </a:t>
            </a:r>
            <a:r>
              <a:rPr lang="zh-CN" altLang="en-US" sz="1400" dirty="0">
                <a:latin typeface="微软雅黑" panose="020B0503020204020204" pitchFamily="34" charset="-122"/>
                <a:ea typeface="微软雅黑" panose="020B0503020204020204" pitchFamily="34" charset="-122"/>
                <a:cs typeface="+mj-cs"/>
              </a:rPr>
              <a:t>按钮</a:t>
            </a:r>
            <a:endParaRPr lang="en-US" altLang="zh-CN" sz="1400" dirty="0">
              <a:latin typeface="微软雅黑" panose="020B0503020204020204" pitchFamily="34" charset="-122"/>
              <a:ea typeface="微软雅黑" panose="020B0503020204020204" pitchFamily="34" charset="-122"/>
              <a:cs typeface="+mj-cs"/>
            </a:endParaRPr>
          </a:p>
          <a:p>
            <a:pPr marL="342900" lvl="0" indent="-342900">
              <a:spcBef>
                <a:spcPct val="0"/>
              </a:spcBef>
              <a:buFont typeface="Arial" panose="020B0604020202020204" pitchFamily="34" charset="0"/>
              <a:buChar char="•"/>
            </a:pPr>
            <a:r>
              <a:rPr lang="en-US" altLang="zh-CN" sz="1400" dirty="0">
                <a:latin typeface="微软雅黑" panose="020B0503020204020204" pitchFamily="34" charset="-122"/>
                <a:ea typeface="微软雅黑" panose="020B0503020204020204" pitchFamily="34" charset="-122"/>
                <a:cs typeface="+mj-cs"/>
              </a:rPr>
              <a:t>Toggle </a:t>
            </a:r>
            <a:r>
              <a:rPr lang="zh-CN" altLang="en-US" sz="1400" dirty="0">
                <a:latin typeface="微软雅黑" panose="020B0503020204020204" pitchFamily="34" charset="-122"/>
                <a:ea typeface="微软雅黑" panose="020B0503020204020204" pitchFamily="34" charset="-122"/>
                <a:cs typeface="+mj-cs"/>
              </a:rPr>
              <a:t>开关</a:t>
            </a:r>
            <a:endParaRPr lang="en-US" altLang="zh-CN" sz="1400" dirty="0">
              <a:latin typeface="微软雅黑" panose="020B0503020204020204" pitchFamily="34" charset="-122"/>
              <a:ea typeface="微软雅黑" panose="020B0503020204020204" pitchFamily="34" charset="-122"/>
              <a:cs typeface="+mj-cs"/>
            </a:endParaRPr>
          </a:p>
          <a:p>
            <a:pPr marL="342900" lvl="0" indent="-342900">
              <a:spcBef>
                <a:spcPct val="0"/>
              </a:spcBef>
              <a:buFont typeface="Arial" panose="020B0604020202020204" pitchFamily="34" charset="0"/>
              <a:buChar char="•"/>
            </a:pPr>
            <a:r>
              <a:rPr lang="en-US" altLang="zh-CN" sz="1400" dirty="0">
                <a:latin typeface="微软雅黑" panose="020B0503020204020204" pitchFamily="34" charset="-122"/>
                <a:ea typeface="微软雅黑" panose="020B0503020204020204" pitchFamily="34" charset="-122"/>
                <a:cs typeface="+mj-cs"/>
              </a:rPr>
              <a:t>Slider </a:t>
            </a:r>
            <a:r>
              <a:rPr lang="zh-CN" altLang="en-US" sz="1400" dirty="0">
                <a:latin typeface="微软雅黑" panose="020B0503020204020204" pitchFamily="34" charset="-122"/>
                <a:ea typeface="微软雅黑" panose="020B0503020204020204" pitchFamily="34" charset="-122"/>
              </a:rPr>
              <a:t>滑动条</a:t>
            </a:r>
            <a:endParaRPr lang="en-US" altLang="zh-CN" sz="1400" dirty="0">
              <a:latin typeface="微软雅黑" panose="020B0503020204020204" pitchFamily="34" charset="-122"/>
              <a:ea typeface="微软雅黑" panose="020B0503020204020204" pitchFamily="34" charset="-122"/>
              <a:cs typeface="+mj-cs"/>
            </a:endParaRPr>
          </a:p>
          <a:p>
            <a:pPr marL="342900" lvl="0" indent="-342900">
              <a:spcBef>
                <a:spcPct val="0"/>
              </a:spcBef>
              <a:buFont typeface="Arial" panose="020B0604020202020204" pitchFamily="34" charset="0"/>
              <a:buChar char="•"/>
            </a:pPr>
            <a:r>
              <a:rPr lang="en-US" altLang="zh-CN" sz="1400" dirty="0">
                <a:latin typeface="微软雅黑" panose="020B0503020204020204" pitchFamily="34" charset="-122"/>
                <a:ea typeface="微软雅黑" panose="020B0503020204020204" pitchFamily="34" charset="-122"/>
                <a:cs typeface="+mj-cs"/>
              </a:rPr>
              <a:t>Scrollbar </a:t>
            </a:r>
            <a:r>
              <a:rPr lang="zh-CN" altLang="en-US" sz="1400" dirty="0">
                <a:latin typeface="微软雅黑" panose="020B0503020204020204" pitchFamily="34" charset="-122"/>
                <a:ea typeface="微软雅黑" panose="020B0503020204020204" pitchFamily="34" charset="-122"/>
              </a:rPr>
              <a:t>滚动条 </a:t>
            </a:r>
            <a:endParaRPr lang="en-US" altLang="zh-CN" sz="1400" dirty="0">
              <a:latin typeface="微软雅黑" panose="020B0503020204020204" pitchFamily="34" charset="-122"/>
              <a:ea typeface="微软雅黑" panose="020B0503020204020204" pitchFamily="34" charset="-122"/>
              <a:cs typeface="+mj-cs"/>
            </a:endParaRPr>
          </a:p>
          <a:p>
            <a:pPr marL="342900" lvl="0" indent="-342900">
              <a:spcBef>
                <a:spcPct val="0"/>
              </a:spcBef>
              <a:buFont typeface="Arial" panose="020B0604020202020204" pitchFamily="34" charset="0"/>
              <a:buChar char="•"/>
            </a:pPr>
            <a:r>
              <a:rPr lang="en-US" altLang="zh-CN" sz="1400" dirty="0">
                <a:latin typeface="微软雅黑" panose="020B0503020204020204" pitchFamily="34" charset="-122"/>
                <a:ea typeface="微软雅黑" panose="020B0503020204020204" pitchFamily="34" charset="-122"/>
                <a:cs typeface="+mj-cs"/>
              </a:rPr>
              <a:t>Input Field </a:t>
            </a:r>
            <a:r>
              <a:rPr lang="zh-CN" altLang="en-US" sz="1400" dirty="0">
                <a:latin typeface="微软雅黑" panose="020B0503020204020204" pitchFamily="34" charset="-122"/>
                <a:ea typeface="微软雅黑" panose="020B0503020204020204" pitchFamily="34" charset="-122"/>
              </a:rPr>
              <a:t>输入框</a:t>
            </a:r>
            <a:endParaRPr lang="en-US" altLang="zh-CN" sz="1400" dirty="0">
              <a:latin typeface="微软雅黑" panose="020B0503020204020204" pitchFamily="34" charset="-122"/>
              <a:ea typeface="微软雅黑" panose="020B0503020204020204" pitchFamily="34" charset="-122"/>
              <a:cs typeface="+mj-cs"/>
            </a:endParaRPr>
          </a:p>
          <a:p>
            <a:pPr marL="342900" lvl="0" indent="-342900">
              <a:spcBef>
                <a:spcPct val="0"/>
              </a:spcBef>
              <a:buFont typeface="Arial" panose="020B0604020202020204" pitchFamily="34" charset="0"/>
              <a:buChar char="•"/>
            </a:pPr>
            <a:r>
              <a:rPr lang="en-US" altLang="zh-CN" sz="1400" dirty="0">
                <a:latin typeface="微软雅黑" panose="020B0503020204020204" pitchFamily="34" charset="-122"/>
                <a:ea typeface="微软雅黑" panose="020B0503020204020204" pitchFamily="34" charset="-122"/>
                <a:cs typeface="+mj-cs"/>
              </a:rPr>
              <a:t>Scroll </a:t>
            </a:r>
            <a:r>
              <a:rPr lang="en-US" altLang="zh-CN" sz="1400" dirty="0" err="1">
                <a:latin typeface="微软雅黑" panose="020B0503020204020204" pitchFamily="34" charset="-122"/>
                <a:ea typeface="微软雅黑" panose="020B0503020204020204" pitchFamily="34" charset="-122"/>
                <a:cs typeface="+mj-cs"/>
              </a:rPr>
              <a:t>Rect</a:t>
            </a:r>
            <a:r>
              <a:rPr lang="en-US" altLang="zh-CN" sz="1400" dirty="0">
                <a:latin typeface="微软雅黑" panose="020B0503020204020204" pitchFamily="34" charset="-122"/>
                <a:ea typeface="微软雅黑" panose="020B0503020204020204" pitchFamily="34" charset="-122"/>
                <a:cs typeface="+mj-cs"/>
              </a:rPr>
              <a:t> </a:t>
            </a:r>
            <a:r>
              <a:rPr lang="zh-CN" altLang="en-US" sz="1400" dirty="0">
                <a:latin typeface="微软雅黑" panose="020B0503020204020204" pitchFamily="34" charset="-122"/>
                <a:ea typeface="微软雅黑" panose="020B0503020204020204" pitchFamily="34" charset="-122"/>
              </a:rPr>
              <a:t>滚动视图</a:t>
            </a:r>
            <a:endParaRPr lang="en-US" altLang="zh-CN" sz="1400" dirty="0">
              <a:latin typeface="微软雅黑" panose="020B0503020204020204" pitchFamily="34" charset="-122"/>
              <a:ea typeface="微软雅黑" panose="020B0503020204020204" pitchFamily="34" charset="-122"/>
              <a:cs typeface="+mj-cs"/>
            </a:endParaRPr>
          </a:p>
          <a:p>
            <a:pPr marL="342900" lvl="0" indent="-342900">
              <a:spcBef>
                <a:spcPct val="0"/>
              </a:spcBef>
              <a:buFont typeface="Arial" panose="020B0604020202020204" pitchFamily="34" charset="0"/>
              <a:buChar char="•"/>
            </a:pPr>
            <a:r>
              <a:rPr lang="en-US" sz="1400" dirty="0">
                <a:latin typeface="微软雅黑" panose="020B0503020204020204" pitchFamily="34" charset="-122"/>
                <a:ea typeface="微软雅黑" panose="020B0503020204020204" pitchFamily="34" charset="-122"/>
              </a:rPr>
              <a:t>Dropdown </a:t>
            </a:r>
            <a:r>
              <a:rPr lang="zh-CN" altLang="en-US" sz="1400" dirty="0">
                <a:latin typeface="微软雅黑" panose="020B0503020204020204" pitchFamily="34" charset="-122"/>
                <a:ea typeface="微软雅黑" panose="020B0503020204020204" pitchFamily="34" charset="-122"/>
              </a:rPr>
              <a:t>下拉框</a:t>
            </a:r>
            <a:endParaRPr lang="en-US" altLang="zh-CN" sz="1400" dirty="0">
              <a:latin typeface="微软雅黑" panose="020B0503020204020204" pitchFamily="34" charset="-122"/>
              <a:ea typeface="微软雅黑" panose="020B0503020204020204" pitchFamily="34" charset="-122"/>
              <a:cs typeface="+mj-cs"/>
            </a:endParaRPr>
          </a:p>
          <a:p>
            <a:pPr lvl="0">
              <a:spcBef>
                <a:spcPct val="0"/>
              </a:spcBef>
              <a:buFont typeface="Arial" panose="020B0604020202020204" pitchFamily="34" charset="0"/>
              <a:buChar char="•"/>
            </a:pPr>
            <a:endParaRPr lang="zh-CN" altLang="en-US" sz="1400" dirty="0">
              <a:latin typeface="微软雅黑" panose="020B0503020204020204" pitchFamily="34" charset="-122"/>
              <a:ea typeface="微软雅黑" panose="020B0503020204020204" pitchFamily="34" charset="-122"/>
              <a:cs typeface="+mj-cs"/>
            </a:endParaRPr>
          </a:p>
          <a:p>
            <a:pPr lvl="0">
              <a:spcBef>
                <a:spcPct val="0"/>
              </a:spcBef>
            </a:pPr>
            <a:r>
              <a:rPr lang="en-US" altLang="zh-CN" sz="1400" b="1" dirty="0">
                <a:latin typeface="微软雅黑" panose="020B0503020204020204" pitchFamily="34" charset="-122"/>
                <a:ea typeface="微软雅黑" panose="020B0503020204020204" pitchFamily="34" charset="-122"/>
                <a:cs typeface="+mj-cs"/>
              </a:rPr>
              <a:t>UI</a:t>
            </a:r>
            <a:r>
              <a:rPr lang="zh-CN" altLang="en-US" sz="1400" b="1" dirty="0">
                <a:latin typeface="微软雅黑" panose="020B0503020204020204" pitchFamily="34" charset="-122"/>
                <a:ea typeface="微软雅黑" panose="020B0503020204020204" pitchFamily="34" charset="-122"/>
                <a:cs typeface="+mj-cs"/>
              </a:rPr>
              <a:t>布局控件</a:t>
            </a:r>
            <a:endParaRPr lang="en-US" altLang="zh-CN" sz="1400" b="1" dirty="0">
              <a:latin typeface="微软雅黑" panose="020B0503020204020204" pitchFamily="34" charset="-122"/>
              <a:ea typeface="微软雅黑" panose="020B0503020204020204" pitchFamily="34" charset="-122"/>
              <a:cs typeface="+mj-cs"/>
            </a:endParaRPr>
          </a:p>
          <a:p>
            <a:pPr marL="342900" lvl="0" indent="-342900">
              <a:spcBef>
                <a:spcPct val="0"/>
              </a:spcBef>
              <a:buFont typeface="Arial" panose="020B0604020202020204" pitchFamily="34" charset="0"/>
              <a:buChar char="•"/>
            </a:pPr>
            <a:r>
              <a:rPr lang="en-US" sz="1400" dirty="0">
                <a:latin typeface="微软雅黑" panose="020B0503020204020204" pitchFamily="34" charset="-122"/>
                <a:ea typeface="微软雅黑" panose="020B0503020204020204" pitchFamily="34" charset="-122"/>
              </a:rPr>
              <a:t>Horizontal Layout Group</a:t>
            </a:r>
            <a:r>
              <a:rPr lang="zh-CN" altLang="en-US" sz="1400" dirty="0">
                <a:latin typeface="微软雅黑" panose="020B0503020204020204" pitchFamily="34" charset="-122"/>
                <a:ea typeface="微软雅黑" panose="020B0503020204020204" pitchFamily="34" charset="-122"/>
              </a:rPr>
              <a:t> 水平布局</a:t>
            </a:r>
            <a:endParaRPr lang="en-US" sz="1400" dirty="0">
              <a:latin typeface="微软雅黑" panose="020B0503020204020204" pitchFamily="34" charset="-122"/>
              <a:ea typeface="微软雅黑" panose="020B0503020204020204" pitchFamily="34" charset="-122"/>
            </a:endParaRPr>
          </a:p>
          <a:p>
            <a:pPr marL="342900" lvl="0" indent="-342900">
              <a:spcBef>
                <a:spcPct val="0"/>
              </a:spcBef>
              <a:buFont typeface="Arial" panose="020B0604020202020204" pitchFamily="34" charset="0"/>
              <a:buChar char="•"/>
            </a:pPr>
            <a:r>
              <a:rPr lang="en-US" sz="1400" dirty="0">
                <a:latin typeface="微软雅黑" panose="020B0503020204020204" pitchFamily="34" charset="-122"/>
                <a:ea typeface="微软雅黑" panose="020B0503020204020204" pitchFamily="34" charset="-122"/>
              </a:rPr>
              <a:t>Vertical Layout Group</a:t>
            </a:r>
            <a:r>
              <a:rPr lang="zh-CN" altLang="en-US" sz="1400" dirty="0">
                <a:latin typeface="微软雅黑" panose="020B0503020204020204" pitchFamily="34" charset="-122"/>
                <a:ea typeface="微软雅黑" panose="020B0503020204020204" pitchFamily="34" charset="-122"/>
              </a:rPr>
              <a:t> 垂直布局</a:t>
            </a:r>
            <a:endParaRPr lang="en-US" sz="1400" dirty="0">
              <a:latin typeface="微软雅黑" panose="020B0503020204020204" pitchFamily="34" charset="-122"/>
              <a:ea typeface="微软雅黑" panose="020B0503020204020204" pitchFamily="34" charset="-122"/>
            </a:endParaRPr>
          </a:p>
          <a:p>
            <a:pPr marL="342900" lvl="0" indent="-342900">
              <a:spcBef>
                <a:spcPct val="0"/>
              </a:spcBef>
              <a:buFont typeface="Arial" panose="020B0604020202020204" pitchFamily="34" charset="0"/>
              <a:buChar char="•"/>
            </a:pPr>
            <a:r>
              <a:rPr lang="en-US" sz="1400" dirty="0">
                <a:latin typeface="微软雅黑" panose="020B0503020204020204" pitchFamily="34" charset="-122"/>
                <a:ea typeface="微软雅黑" panose="020B0503020204020204" pitchFamily="34" charset="-122"/>
              </a:rPr>
              <a:t>Grid Layout Group </a:t>
            </a:r>
            <a:r>
              <a:rPr lang="zh-CN" altLang="en-US" sz="1400" dirty="0">
                <a:latin typeface="微软雅黑" panose="020B0503020204020204" pitchFamily="34" charset="-122"/>
                <a:ea typeface="微软雅黑" panose="020B0503020204020204" pitchFamily="34" charset="-122"/>
              </a:rPr>
              <a:t>网格布局</a:t>
            </a:r>
            <a:endParaRPr lang="en-US" altLang="zh-CN" sz="1400" dirty="0">
              <a:latin typeface="微软雅黑" panose="020B0503020204020204" pitchFamily="34" charset="-122"/>
              <a:ea typeface="微软雅黑" panose="020B0503020204020204" pitchFamily="34" charset="-122"/>
            </a:endParaRPr>
          </a:p>
          <a:p>
            <a:pPr marL="342900" lvl="0" indent="-342900">
              <a:spcBef>
                <a:spcPct val="0"/>
              </a:spcBef>
              <a:buFont typeface="Arial" panose="020B0604020202020204" pitchFamily="34" charset="0"/>
              <a:buChar cha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marL="342900" lvl="0" indent="-342900">
              <a:spcBef>
                <a:spcPct val="0"/>
              </a:spcBef>
              <a:buFont typeface="Arial" panose="020B0604020202020204" pitchFamily="34" charset="0"/>
              <a:buChar cha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lvl="0">
              <a:spcBef>
                <a:spcPct val="0"/>
              </a:spcBef>
              <a:defRPr/>
            </a:pPr>
            <a:r>
              <a:rPr lang="zh-CN" altLang="en-US" sz="1400" b="1" dirty="0">
                <a:latin typeface="微软雅黑" panose="020B0503020204020204" pitchFamily="34" charset="-122"/>
                <a:ea typeface="微软雅黑" panose="020B0503020204020204" pitchFamily="34" charset="-122"/>
              </a:rPr>
              <a:t>书籍</a:t>
            </a:r>
            <a:r>
              <a:rPr lang="zh-CN" altLang="en-US" sz="1400" dirty="0">
                <a:latin typeface="微软雅黑" panose="020B0503020204020204" pitchFamily="34" charset="-122"/>
                <a:ea typeface="微软雅黑" panose="020B0503020204020204" pitchFamily="34" charset="-122"/>
              </a:rPr>
              <a:t>：精解</a:t>
            </a:r>
            <a:r>
              <a:rPr lang="en-US" altLang="zh-CN" sz="1400" dirty="0" err="1">
                <a:latin typeface="微软雅黑" panose="020B0503020204020204" pitchFamily="34" charset="-122"/>
                <a:ea typeface="微软雅黑" panose="020B0503020204020204" pitchFamily="34" charset="-122"/>
              </a:rPr>
              <a:t>uGUI</a:t>
            </a:r>
            <a:r>
              <a:rPr lang="en-US" altLang="zh-CN" sz="1400" dirty="0">
                <a:latin typeface="微软雅黑" panose="020B0503020204020204" pitchFamily="34" charset="-122"/>
                <a:ea typeface="微软雅黑" panose="020B0503020204020204" pitchFamily="34" charset="-122"/>
              </a:rPr>
              <a:t>-Unity UI</a:t>
            </a:r>
            <a:r>
              <a:rPr lang="zh-CN" altLang="en-US" sz="1400" dirty="0">
                <a:latin typeface="微软雅黑" panose="020B0503020204020204" pitchFamily="34" charset="-122"/>
                <a:ea typeface="微软雅黑" panose="020B0503020204020204" pitchFamily="34" charset="-122"/>
              </a:rPr>
              <a:t>设计与开发从入门到精通</a:t>
            </a:r>
            <a:endParaRPr lang="en-US" altLang="zh-CN" sz="1400" dirty="0">
              <a:latin typeface="微软雅黑" panose="020B0503020204020204" pitchFamily="34" charset="-122"/>
              <a:ea typeface="微软雅黑" panose="020B0503020204020204" pitchFamily="34" charset="-122"/>
            </a:endParaRPr>
          </a:p>
          <a:p>
            <a:pPr lvl="0">
              <a:spcBef>
                <a:spcPct val="0"/>
              </a:spcBef>
              <a:defRPr/>
            </a:pPr>
            <a:r>
              <a:rPr lang="zh-CN" altLang="en-US" sz="1400" b="1" dirty="0">
                <a:latin typeface="微软雅黑" panose="020B0503020204020204" pitchFamily="34" charset="-122"/>
                <a:ea typeface="微软雅黑" panose="020B0503020204020204" pitchFamily="34" charset="-122"/>
              </a:rPr>
              <a:t>作者</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日</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岩井雅幸</a:t>
            </a:r>
            <a:endParaRPr lang="en-US" altLang="zh-CN" sz="1400" dirty="0">
              <a:latin typeface="微软雅黑" panose="020B0503020204020204" pitchFamily="34" charset="-122"/>
              <a:ea typeface="微软雅黑" panose="020B0503020204020204" pitchFamily="34" charset="-122"/>
            </a:endParaRPr>
          </a:p>
          <a:p>
            <a:pPr marL="342900" lvl="0" indent="-342900">
              <a:spcBef>
                <a:spcPct val="0"/>
              </a:spcBef>
              <a:buFont typeface="Arial" panose="020B0604020202020204" pitchFamily="34" charset="0"/>
              <a:buChar char="•"/>
            </a:pPr>
            <a:endParaRPr kumimoji="0" lang="zh-CN" altLang="en-US" sz="16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0" indent="-742950" algn="ctr">
              <a:spcBef>
                <a:spcPct val="0"/>
              </a:spcBef>
              <a:defRPr/>
            </a:pPr>
            <a:r>
              <a:rPr lang="zh-CN" altLang="en-US" sz="4000" dirty="0">
                <a:solidFill>
                  <a:schemeClr val="tx1"/>
                </a:solidFill>
                <a:latin typeface="微软雅黑" panose="020B0503020204020204" pitchFamily="34" charset="-122"/>
                <a:ea typeface="微软雅黑" panose="020B0503020204020204" pitchFamily="34" charset="-122"/>
              </a:rPr>
              <a:t>控件介绍</a:t>
            </a:r>
            <a:endParaRPr lang="en-US" altLang="zh-CN" sz="4000" dirty="0">
              <a:solidFill>
                <a:schemeClr val="tx1"/>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229581" y="1196752"/>
            <a:ext cx="3771575" cy="4896544"/>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643602"/>
          </a:xfrm>
          <a:prstGeom prst="rect">
            <a:avLst/>
          </a:prstGeom>
        </p:spPr>
        <p:txBody>
          <a:bodyPr vert="horz" lIns="91440" tIns="45720" rIns="91440" bIns="45720" rtlCol="0" anchor="t">
            <a:normAutofit/>
          </a:bodyPr>
          <a:lstStyle/>
          <a:p>
            <a:pPr lvl="0">
              <a:spcBef>
                <a:spcPct val="0"/>
              </a:spcBef>
              <a:defRPr/>
            </a:pPr>
            <a:r>
              <a:rPr lang="en-US" altLang="zh-CN" sz="1400" b="1" dirty="0">
                <a:latin typeface="微软雅黑" panose="020B0503020204020204" pitchFamily="34" charset="-122"/>
                <a:ea typeface="微软雅黑" panose="020B0503020204020204" pitchFamily="34" charset="-122"/>
                <a:cs typeface="+mj-cs"/>
              </a:rPr>
              <a:t>Canvas</a:t>
            </a:r>
            <a:r>
              <a:rPr lang="zh-CN" altLang="en-US" sz="1400" dirty="0">
                <a:latin typeface="微软雅黑" panose="020B0503020204020204" pitchFamily="34" charset="-122"/>
                <a:ea typeface="微软雅黑" panose="020B0503020204020204" pitchFamily="34" charset="-122"/>
                <a:cs typeface="+mj-cs"/>
              </a:rPr>
              <a:t>：</a:t>
            </a:r>
            <a:r>
              <a:rPr lang="zh-CN" altLang="en-US" sz="1400" dirty="0">
                <a:latin typeface="微软雅黑" panose="020B0503020204020204" pitchFamily="34" charset="-122"/>
                <a:ea typeface="微软雅黑" panose="020B0503020204020204" pitchFamily="34" charset="-122"/>
              </a:rPr>
              <a:t> 画布是所有</a:t>
            </a:r>
            <a:r>
              <a:rPr lang="en-US" altLang="zh-CN" sz="1400" dirty="0">
                <a:latin typeface="微软雅黑" panose="020B0503020204020204" pitchFamily="34" charset="-122"/>
                <a:ea typeface="微软雅黑" panose="020B0503020204020204" pitchFamily="34" charset="-122"/>
              </a:rPr>
              <a:t>UI</a:t>
            </a:r>
            <a:r>
              <a:rPr lang="zh-CN" altLang="en-US" sz="1400" dirty="0">
                <a:latin typeface="微软雅黑" panose="020B0503020204020204" pitchFamily="34" charset="-122"/>
                <a:ea typeface="微软雅黑" panose="020B0503020204020204" pitchFamily="34" charset="-122"/>
              </a:rPr>
              <a:t>元素的父元素，就像油画的画布一样，控制着对</a:t>
            </a:r>
            <a:r>
              <a:rPr lang="en-US" altLang="zh-CN" sz="1400" dirty="0">
                <a:latin typeface="微软雅黑" panose="020B0503020204020204" pitchFamily="34" charset="-122"/>
                <a:ea typeface="微软雅黑" panose="020B0503020204020204" pitchFamily="34" charset="-122"/>
              </a:rPr>
              <a:t>UI</a:t>
            </a:r>
            <a:r>
              <a:rPr lang="zh-CN" altLang="en-US" sz="1400" dirty="0">
                <a:latin typeface="微软雅黑" panose="020B0503020204020204" pitchFamily="34" charset="-122"/>
                <a:ea typeface="微软雅黑" panose="020B0503020204020204" pitchFamily="34" charset="-122"/>
              </a:rPr>
              <a:t>元素的渲染。也就是说所有</a:t>
            </a:r>
            <a:r>
              <a:rPr lang="en-US" altLang="zh-CN" sz="1400" dirty="0">
                <a:latin typeface="微软雅黑" panose="020B0503020204020204" pitchFamily="34" charset="-122"/>
                <a:ea typeface="微软雅黑" panose="020B0503020204020204" pitchFamily="34" charset="-122"/>
              </a:rPr>
              <a:t>UI</a:t>
            </a:r>
            <a:r>
              <a:rPr lang="zh-CN" altLang="en-US" sz="1400" dirty="0">
                <a:latin typeface="微软雅黑" panose="020B0503020204020204" pitchFamily="34" charset="-122"/>
                <a:ea typeface="微软雅黑" panose="020B0503020204020204" pitchFamily="34" charset="-122"/>
              </a:rPr>
              <a:t>控件都需要作为</a:t>
            </a:r>
            <a:r>
              <a:rPr lang="en-US" altLang="zh-CN" sz="1400" dirty="0">
                <a:latin typeface="微软雅黑" panose="020B0503020204020204" pitchFamily="34" charset="-122"/>
                <a:ea typeface="微软雅黑" panose="020B0503020204020204" pitchFamily="34" charset="-122"/>
              </a:rPr>
              <a:t>Canvas</a:t>
            </a:r>
            <a:r>
              <a:rPr lang="zh-CN" altLang="en-US" sz="1400" dirty="0">
                <a:latin typeface="微软雅黑" panose="020B0503020204020204" pitchFamily="34" charset="-122"/>
                <a:ea typeface="微软雅黑" panose="020B0503020204020204" pitchFamily="34" charset="-122"/>
              </a:rPr>
              <a:t>对象的子对象才可以被渲染出来。</a:t>
            </a:r>
            <a:endParaRPr lang="en-US" altLang="zh-CN" sz="1400" dirty="0">
              <a:latin typeface="微软雅黑" panose="020B0503020204020204" pitchFamily="34" charset="-122"/>
              <a:ea typeface="微软雅黑" panose="020B0503020204020204" pitchFamily="34" charset="-122"/>
            </a:endParaRPr>
          </a:p>
          <a:p>
            <a:pPr lvl="0">
              <a:spcBef>
                <a:spcPct val="0"/>
              </a:spcBef>
              <a:defRPr/>
            </a:pPr>
            <a:endParaRPr lang="en-US" altLang="zh-CN" sz="1400" dirty="0">
              <a:latin typeface="微软雅黑" panose="020B0503020204020204" pitchFamily="34" charset="-122"/>
              <a:ea typeface="微软雅黑" panose="020B0503020204020204" pitchFamily="34" charset="-122"/>
            </a:endParaRPr>
          </a:p>
          <a:p>
            <a:pPr>
              <a:spcBef>
                <a:spcPct val="0"/>
              </a:spcBef>
              <a:defRPr/>
            </a:pPr>
            <a:r>
              <a:rPr lang="zh-CN" altLang="en-US" sz="1400" b="1" dirty="0">
                <a:latin typeface="微软雅黑" panose="020B0503020204020204" pitchFamily="34" charset="-122"/>
                <a:ea typeface="微软雅黑" panose="020B0503020204020204" pitchFamily="34" charset="-122"/>
              </a:rPr>
              <a:t>渲染顺序：</a:t>
            </a:r>
            <a:r>
              <a:rPr lang="zh-CN" altLang="en-US" sz="1400" dirty="0">
                <a:latin typeface="微软雅黑" panose="020B0503020204020204" pitchFamily="34" charset="-122"/>
                <a:ea typeface="微软雅黑" panose="020B0503020204020204" pitchFamily="34" charset="-122"/>
              </a:rPr>
              <a:t>画布上的</a:t>
            </a:r>
            <a:r>
              <a:rPr lang="en-US" altLang="zh-CN" sz="1400" dirty="0">
                <a:latin typeface="微软雅黑" panose="020B0503020204020204" pitchFamily="34" charset="-122"/>
                <a:ea typeface="微软雅黑" panose="020B0503020204020204" pitchFamily="34" charset="-122"/>
              </a:rPr>
              <a:t>UI</a:t>
            </a:r>
            <a:r>
              <a:rPr lang="zh-CN" altLang="en-US" sz="1400" dirty="0">
                <a:latin typeface="微软雅黑" panose="020B0503020204020204" pitchFamily="34" charset="-122"/>
                <a:ea typeface="微软雅黑" panose="020B0503020204020204" pitchFamily="34" charset="-122"/>
              </a:rPr>
              <a:t>元素按照排列顺序渲染。位于上方的元素先被渲染，下方的元素后被渲染。对于嵌套的结构，先渲染父类，在渲染子类。</a:t>
            </a:r>
            <a:endParaRPr lang="en-US" altLang="zh-CN" sz="1400" dirty="0">
              <a:latin typeface="微软雅黑" panose="020B0503020204020204" pitchFamily="34" charset="-122"/>
              <a:ea typeface="微软雅黑" panose="020B0503020204020204" pitchFamily="34" charset="-122"/>
            </a:endParaRPr>
          </a:p>
          <a:p>
            <a:pPr lvl="0">
              <a:spcBef>
                <a:spcPct val="0"/>
              </a:spcBef>
              <a:defRPr/>
            </a:pPr>
            <a:endParaRPr lang="en-US" altLang="zh-CN" sz="1400" dirty="0">
              <a:latin typeface="微软雅黑" panose="020B0503020204020204" pitchFamily="34" charset="-122"/>
              <a:ea typeface="微软雅黑" panose="020B0503020204020204" pitchFamily="34" charset="-122"/>
              <a:cs typeface="+mj-cs"/>
            </a:endParaRPr>
          </a:p>
          <a:p>
            <a:pPr>
              <a:spcBef>
                <a:spcPct val="0"/>
              </a:spcBef>
              <a:defRPr/>
            </a:pPr>
            <a:r>
              <a:rPr lang="zh-CN" altLang="en-US" sz="1400" b="1" dirty="0">
                <a:latin typeface="微软雅黑" panose="020B0503020204020204" pitchFamily="34" charset="-122"/>
                <a:ea typeface="微软雅黑" panose="020B0503020204020204" pitchFamily="34" charset="-122"/>
              </a:rPr>
              <a:t>渲染模式：</a:t>
            </a:r>
            <a:r>
              <a:rPr lang="en-US" altLang="zh-CN" sz="1400" dirty="0">
                <a:latin typeface="微软雅黑" panose="020B0503020204020204" pitchFamily="34" charset="-122"/>
                <a:ea typeface="微软雅黑" panose="020B0503020204020204" pitchFamily="34" charset="-122"/>
              </a:rPr>
              <a:t> Canvas</a:t>
            </a:r>
            <a:r>
              <a:rPr lang="zh-CN" altLang="en-US" sz="1400" dirty="0">
                <a:latin typeface="微软雅黑" panose="020B0503020204020204" pitchFamily="34" charset="-122"/>
                <a:ea typeface="微软雅黑" panose="020B0503020204020204" pitchFamily="34" charset="-122"/>
              </a:rPr>
              <a:t>有三种渲染模式</a:t>
            </a:r>
            <a:endParaRPr lang="en-US" altLang="zh-CN" sz="1400" dirty="0">
              <a:latin typeface="微软雅黑" panose="020B0503020204020204" pitchFamily="34" charset="-122"/>
              <a:ea typeface="微软雅黑" panose="020B0503020204020204" pitchFamily="34" charset="-122"/>
            </a:endParaRPr>
          </a:p>
          <a:p>
            <a:pPr marL="342900" indent="-342900">
              <a:spcBef>
                <a:spcPct val="0"/>
              </a:spcBef>
              <a:buFont typeface="Arial" panose="020B0604020202020204" pitchFamily="34" charset="0"/>
              <a:buChar char="•"/>
              <a:defRPr/>
            </a:pPr>
            <a:r>
              <a:rPr lang="en-US" altLang="zh-CN" sz="1400" b="1" dirty="0">
                <a:latin typeface="微软雅黑" panose="020B0503020204020204" pitchFamily="34" charset="-122"/>
                <a:ea typeface="微软雅黑" panose="020B0503020204020204" pitchFamily="34" charset="-122"/>
              </a:rPr>
              <a:t>Screen Space - Overlay</a:t>
            </a:r>
            <a:r>
              <a:rPr lang="zh-CN" altLang="en-US" sz="1400" b="1"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不需要指定</a:t>
            </a:r>
            <a:r>
              <a:rPr lang="en-US" altLang="zh-CN" sz="1400" dirty="0">
                <a:latin typeface="微软雅黑" panose="020B0503020204020204" pitchFamily="34" charset="-122"/>
                <a:ea typeface="微软雅黑" panose="020B0503020204020204" pitchFamily="34" charset="-122"/>
              </a:rPr>
              <a:t>UI</a:t>
            </a:r>
            <a:r>
              <a:rPr lang="zh-CN" altLang="en-US" sz="1400" dirty="0">
                <a:latin typeface="微软雅黑" panose="020B0503020204020204" pitchFamily="34" charset="-122"/>
                <a:ea typeface="微软雅黑" panose="020B0503020204020204" pitchFamily="34" charset="-122"/>
              </a:rPr>
              <a:t>相机，渲染会覆盖整个画面，永远在屏幕的最上面。</a:t>
            </a:r>
            <a:endParaRPr lang="en-US" altLang="zh-CN" sz="1400" dirty="0">
              <a:latin typeface="微软雅黑" panose="020B0503020204020204" pitchFamily="34" charset="-122"/>
              <a:ea typeface="微软雅黑" panose="020B0503020204020204" pitchFamily="34" charset="-122"/>
            </a:endParaRPr>
          </a:p>
          <a:p>
            <a:pPr marL="342900" indent="-342900">
              <a:spcBef>
                <a:spcPct val="0"/>
              </a:spcBef>
              <a:buFont typeface="Arial" panose="020B0604020202020204" pitchFamily="34" charset="0"/>
              <a:buChar char="•"/>
              <a:defRPr/>
            </a:pPr>
            <a:endParaRPr lang="en-US" altLang="zh-CN" sz="1400" b="1" dirty="0">
              <a:latin typeface="微软雅黑" panose="020B0503020204020204" pitchFamily="34" charset="-122"/>
              <a:ea typeface="微软雅黑" panose="020B0503020204020204" pitchFamily="34" charset="-122"/>
            </a:endParaRPr>
          </a:p>
          <a:p>
            <a:pPr marL="342900" indent="-342900">
              <a:spcBef>
                <a:spcPct val="0"/>
              </a:spcBef>
              <a:buFont typeface="Arial" panose="020B0604020202020204" pitchFamily="34" charset="0"/>
              <a:buChar char="•"/>
              <a:defRPr/>
            </a:pPr>
            <a:endParaRPr lang="en-US" altLang="zh-CN" sz="1400" b="1" dirty="0">
              <a:latin typeface="微软雅黑" panose="020B0503020204020204" pitchFamily="34" charset="-122"/>
              <a:ea typeface="微软雅黑" panose="020B0503020204020204" pitchFamily="34" charset="-122"/>
            </a:endParaRPr>
          </a:p>
          <a:p>
            <a:pPr marL="342900" indent="-342900">
              <a:spcBef>
                <a:spcPct val="0"/>
              </a:spcBef>
              <a:buFont typeface="Arial" panose="020B0604020202020204" pitchFamily="34" charset="0"/>
              <a:buChar char="•"/>
              <a:defRPr/>
            </a:pPr>
            <a:endParaRPr lang="en-US" altLang="zh-CN" sz="1400" b="1" dirty="0">
              <a:latin typeface="微软雅黑" panose="020B0503020204020204" pitchFamily="34" charset="-122"/>
              <a:ea typeface="微软雅黑" panose="020B0503020204020204" pitchFamily="34" charset="-122"/>
            </a:endParaRPr>
          </a:p>
          <a:p>
            <a:pPr marL="342900" indent="-342900">
              <a:spcBef>
                <a:spcPct val="0"/>
              </a:spcBef>
              <a:buFont typeface="Arial" panose="020B0604020202020204" pitchFamily="34" charset="0"/>
              <a:buChar char="•"/>
              <a:defRPr/>
            </a:pPr>
            <a:endParaRPr lang="en-US" altLang="zh-CN" sz="1400" b="1" dirty="0">
              <a:latin typeface="微软雅黑" panose="020B0503020204020204" pitchFamily="34" charset="-122"/>
              <a:ea typeface="微软雅黑" panose="020B0503020204020204" pitchFamily="34" charset="-122"/>
            </a:endParaRPr>
          </a:p>
          <a:p>
            <a:pPr marL="342900" indent="-342900">
              <a:spcBef>
                <a:spcPct val="0"/>
              </a:spcBef>
              <a:buFont typeface="Arial" panose="020B0604020202020204" pitchFamily="34" charset="0"/>
              <a:buChar char="•"/>
              <a:defRPr/>
            </a:pPr>
            <a:endParaRPr lang="en-US" altLang="zh-CN" sz="1400" b="1" dirty="0">
              <a:latin typeface="微软雅黑" panose="020B0503020204020204" pitchFamily="34" charset="-122"/>
              <a:ea typeface="微软雅黑" panose="020B0503020204020204" pitchFamily="34" charset="-122"/>
            </a:endParaRPr>
          </a:p>
          <a:p>
            <a:pPr marL="342900" indent="-342900">
              <a:spcBef>
                <a:spcPct val="0"/>
              </a:spcBef>
              <a:buFont typeface="Arial" panose="020B0604020202020204" pitchFamily="34" charset="0"/>
              <a:buChar char="•"/>
              <a:defRPr/>
            </a:pPr>
            <a:endParaRPr lang="en-US" altLang="zh-CN" sz="1400" b="1" dirty="0">
              <a:latin typeface="微软雅黑" panose="020B0503020204020204" pitchFamily="34" charset="-122"/>
              <a:ea typeface="微软雅黑" panose="020B0503020204020204" pitchFamily="34" charset="-122"/>
            </a:endParaRPr>
          </a:p>
          <a:p>
            <a:pPr marL="342900" indent="-342900">
              <a:spcBef>
                <a:spcPct val="0"/>
              </a:spcBef>
              <a:buFont typeface="Arial" panose="020B0604020202020204" pitchFamily="34" charset="0"/>
              <a:buChar char="•"/>
              <a:defRPr/>
            </a:pPr>
            <a:endParaRPr lang="en-US" altLang="zh-CN" sz="1400" b="1" dirty="0">
              <a:latin typeface="微软雅黑" panose="020B0503020204020204" pitchFamily="34" charset="-122"/>
              <a:ea typeface="微软雅黑" panose="020B0503020204020204" pitchFamily="34" charset="-122"/>
            </a:endParaRPr>
          </a:p>
          <a:p>
            <a:pPr marL="342900" indent="-342900">
              <a:spcBef>
                <a:spcPct val="0"/>
              </a:spcBef>
              <a:buFont typeface="Arial" panose="020B0604020202020204" pitchFamily="34" charset="0"/>
              <a:buChar char="•"/>
              <a:defRPr/>
            </a:pPr>
            <a:r>
              <a:rPr lang="en-US" altLang="zh-CN" sz="1400" b="1" dirty="0">
                <a:latin typeface="微软雅黑" panose="020B0503020204020204" pitchFamily="34" charset="-122"/>
                <a:ea typeface="微软雅黑" panose="020B0503020204020204" pitchFamily="34" charset="-122"/>
              </a:rPr>
              <a:t>Screen Space - Camera</a:t>
            </a:r>
            <a:r>
              <a:rPr lang="zh-CN" altLang="en-US" sz="1400" b="1"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需要指定</a:t>
            </a:r>
            <a:r>
              <a:rPr lang="en-US" altLang="zh-CN" sz="1400" dirty="0">
                <a:latin typeface="微软雅黑" panose="020B0503020204020204" pitchFamily="34" charset="-122"/>
                <a:ea typeface="微软雅黑" panose="020B0503020204020204" pitchFamily="34" charset="-122"/>
              </a:rPr>
              <a:t>UI</a:t>
            </a:r>
            <a:r>
              <a:rPr lang="zh-CN" altLang="en-US" sz="1400" dirty="0">
                <a:latin typeface="微软雅黑" panose="020B0503020204020204" pitchFamily="34" charset="-122"/>
                <a:ea typeface="微软雅黑" panose="020B0503020204020204" pitchFamily="34" charset="-122"/>
              </a:rPr>
              <a:t>相机，画布会被放置在相</a:t>
            </a:r>
            <a:r>
              <a:rPr lang="zh-CN" altLang="en-US" sz="1400">
                <a:latin typeface="微软雅黑" panose="020B0503020204020204" pitchFamily="34" charset="-122"/>
                <a:ea typeface="微软雅黑" panose="020B0503020204020204" pitchFamily="34" charset="-122"/>
              </a:rPr>
              <a:t>机</a:t>
            </a:r>
            <a:r>
              <a:rPr lang="zh-CN" altLang="en-US" sz="1400" smtClean="0">
                <a:latin typeface="微软雅黑" panose="020B0503020204020204" pitchFamily="34" charset="-122"/>
                <a:ea typeface="微软雅黑" panose="020B0503020204020204" pitchFamily="34" charset="-122"/>
              </a:rPr>
              <a:t>前，</a:t>
            </a:r>
            <a:r>
              <a:rPr lang="zh-CN" altLang="en-US" sz="1400" dirty="0">
                <a:latin typeface="微软雅黑" panose="020B0503020204020204" pitchFamily="34" charset="-122"/>
                <a:ea typeface="微软雅黑" panose="020B0503020204020204" pitchFamily="34" charset="-122"/>
              </a:rPr>
              <a:t>通过该相机渲染。</a:t>
            </a:r>
            <a:endParaRPr lang="en-US" altLang="zh-CN" sz="1400" dirty="0">
              <a:latin typeface="微软雅黑" panose="020B0503020204020204" pitchFamily="34" charset="-122"/>
              <a:ea typeface="微软雅黑" panose="020B0503020204020204" pitchFamily="34" charset="-122"/>
            </a:endParaRPr>
          </a:p>
          <a:p>
            <a:pPr marL="342900" indent="-342900">
              <a:spcBef>
                <a:spcPct val="0"/>
              </a:spcBef>
              <a:buFont typeface="Arial" panose="020B0604020202020204" pitchFamily="34" charset="0"/>
              <a:buChar char="•"/>
              <a:defRPr/>
            </a:pPr>
            <a:r>
              <a:rPr lang="en-US" altLang="zh-CN" sz="1400" b="1" dirty="0">
                <a:latin typeface="微软雅黑" panose="020B0503020204020204" pitchFamily="34" charset="-122"/>
                <a:ea typeface="微软雅黑" panose="020B0503020204020204" pitchFamily="34" charset="-122"/>
              </a:rPr>
              <a:t>World Space</a:t>
            </a:r>
            <a:r>
              <a:rPr lang="zh-CN" altLang="en-US" sz="1400" b="1"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把画布当成普通的</a:t>
            </a:r>
            <a:r>
              <a:rPr lang="en-US" altLang="zh-CN" sz="1400" dirty="0">
                <a:latin typeface="微软雅黑" panose="020B0503020204020204" pitchFamily="34" charset="-122"/>
                <a:ea typeface="微软雅黑" panose="020B0503020204020204" pitchFamily="34" charset="-122"/>
              </a:rPr>
              <a:t>3D</a:t>
            </a:r>
            <a:r>
              <a:rPr lang="zh-CN" altLang="en-US" sz="1400" dirty="0">
                <a:latin typeface="微软雅黑" panose="020B0503020204020204" pitchFamily="34" charset="-122"/>
                <a:ea typeface="微软雅黑" panose="020B0503020204020204" pitchFamily="34" charset="-122"/>
              </a:rPr>
              <a:t>对象放置在世界坐标系中，画布可以自由移动旋转。</a:t>
            </a:r>
            <a:endParaRPr lang="en-US" altLang="zh-CN" sz="1400" dirty="0">
              <a:latin typeface="微软雅黑" panose="020B0503020204020204" pitchFamily="34" charset="-122"/>
              <a:ea typeface="微软雅黑" panose="020B0503020204020204" pitchFamily="34" charset="-122"/>
            </a:endParaRPr>
          </a:p>
          <a:p>
            <a:pPr marL="342900" indent="-342900">
              <a:spcBef>
                <a:spcPct val="0"/>
              </a:spcBef>
              <a:buFont typeface="Arial" panose="020B0604020202020204" pitchFamily="34" charset="0"/>
              <a:buChar char="•"/>
              <a:defRPr/>
            </a:pPr>
            <a:endParaRPr lang="en-US" altLang="zh-CN" sz="1400" dirty="0">
              <a:latin typeface="微软雅黑" panose="020B0503020204020204" pitchFamily="34" charset="-122"/>
              <a:ea typeface="微软雅黑" panose="020B0503020204020204" pitchFamily="34" charset="-122"/>
            </a:endParaRPr>
          </a:p>
          <a:p>
            <a:pPr marL="342900" indent="-342900">
              <a:spcBef>
                <a:spcPct val="0"/>
              </a:spcBef>
              <a:buFont typeface="Arial" panose="020B0604020202020204" pitchFamily="34" charset="0"/>
              <a:buChar char="•"/>
              <a:defRPr/>
            </a:pPr>
            <a:endParaRPr lang="en-US" altLang="zh-CN" sz="1400" dirty="0">
              <a:latin typeface="微软雅黑" panose="020B0503020204020204" pitchFamily="34" charset="-122"/>
              <a:ea typeface="微软雅黑" panose="020B0503020204020204" pitchFamily="34" charset="-122"/>
            </a:endParaRPr>
          </a:p>
          <a:p>
            <a:pPr marL="342900" indent="-342900">
              <a:spcBef>
                <a:spcPct val="0"/>
              </a:spcBef>
              <a:buFont typeface="Arial" panose="020B0604020202020204" pitchFamily="34" charset="0"/>
              <a:buChar char="•"/>
              <a:defRPr/>
            </a:pPr>
            <a:endParaRPr lang="en-US" altLang="zh-CN" sz="1400" dirty="0">
              <a:latin typeface="微软雅黑" panose="020B0503020204020204" pitchFamily="34" charset="-122"/>
              <a:ea typeface="微软雅黑" panose="020B0503020204020204" pitchFamily="34" charset="-122"/>
            </a:endParaRPr>
          </a:p>
          <a:p>
            <a:pPr marL="342900" indent="-342900">
              <a:spcBef>
                <a:spcPct val="0"/>
              </a:spcBef>
              <a:buFont typeface="Arial" panose="020B0604020202020204" pitchFamily="34" charset="0"/>
              <a:buChar char="•"/>
              <a:defRPr/>
            </a:pPr>
            <a:endParaRPr lang="en-US" altLang="zh-CN" sz="1400" dirty="0">
              <a:latin typeface="微软雅黑" panose="020B0503020204020204" pitchFamily="34" charset="-122"/>
              <a:ea typeface="微软雅黑" panose="020B0503020204020204" pitchFamily="34" charset="-122"/>
            </a:endParaRPr>
          </a:p>
          <a:p>
            <a:pPr marL="342900" indent="-342900">
              <a:spcBef>
                <a:spcPct val="0"/>
              </a:spcBef>
              <a:buFont typeface="Arial" panose="020B0604020202020204" pitchFamily="34" charset="0"/>
              <a:buChar char="•"/>
              <a:defRPr/>
            </a:pPr>
            <a:endParaRPr lang="en-US" altLang="zh-CN" sz="1400" dirty="0">
              <a:latin typeface="微软雅黑" panose="020B0503020204020204" pitchFamily="34" charset="-122"/>
              <a:ea typeface="微软雅黑" panose="020B0503020204020204" pitchFamily="34" charset="-122"/>
            </a:endParaRPr>
          </a:p>
          <a:p>
            <a:pPr marL="342900" indent="-342900">
              <a:spcBef>
                <a:spcPct val="0"/>
              </a:spcBef>
              <a:buFont typeface="Arial" panose="020B0604020202020204" pitchFamily="34" charset="0"/>
              <a:buChar char="•"/>
              <a:defRPr/>
            </a:pPr>
            <a:endParaRPr lang="en-US" altLang="zh-CN" sz="1400" dirty="0">
              <a:latin typeface="微软雅黑" panose="020B0503020204020204" pitchFamily="34" charset="-122"/>
              <a:ea typeface="微软雅黑" panose="020B0503020204020204" pitchFamily="34" charset="-122"/>
            </a:endParaRPr>
          </a:p>
          <a:p>
            <a:pPr marL="342900" indent="-342900">
              <a:spcBef>
                <a:spcPct val="0"/>
              </a:spcBef>
              <a:buFont typeface="Arial" panose="020B0604020202020204" pitchFamily="34" charset="0"/>
              <a:buChar char="•"/>
              <a:defRPr/>
            </a:pPr>
            <a:endParaRPr lang="en-US" altLang="zh-CN" sz="1400" dirty="0">
              <a:latin typeface="微软雅黑" panose="020B0503020204020204" pitchFamily="34" charset="-122"/>
              <a:ea typeface="微软雅黑" panose="020B0503020204020204" pitchFamily="34" charset="-122"/>
            </a:endParaRPr>
          </a:p>
          <a:p>
            <a:pPr>
              <a:spcBef>
                <a:spcPct val="0"/>
              </a:spcBef>
              <a:defRPr/>
            </a:pPr>
            <a:r>
              <a:rPr lang="en-US" altLang="zh-CN" sz="1400" dirty="0">
                <a:latin typeface="微软雅黑" panose="020B0503020204020204" pitchFamily="34" charset="-122"/>
                <a:ea typeface="微软雅黑" panose="020B0503020204020204" pitchFamily="34" charset="-122"/>
              </a:rPr>
              <a:t>		world space			screen space - camera</a:t>
            </a:r>
            <a:endParaRPr lang="zh-CN" altLang="en-US" sz="1400" dirty="0">
              <a:latin typeface="微软雅黑" panose="020B0503020204020204" pitchFamily="34" charset="-122"/>
              <a:ea typeface="微软雅黑" panose="020B0503020204020204" pitchFamily="34" charset="-122"/>
            </a:endParaRPr>
          </a:p>
          <a:p>
            <a:pPr>
              <a:spcBef>
                <a:spcPct val="0"/>
              </a:spcBef>
              <a:defRPr/>
            </a:pPr>
            <a:endParaRPr lang="en-US" altLang="zh-CN" sz="1400" b="1" dirty="0">
              <a:latin typeface="微软雅黑" panose="020B0503020204020204" pitchFamily="34" charset="-122"/>
              <a:ea typeface="微软雅黑" panose="020B0503020204020204" pitchFamily="34" charset="-122"/>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lgn="ctr">
              <a:spcBef>
                <a:spcPct val="0"/>
              </a:spcBef>
              <a:defRPr/>
            </a:pPr>
            <a:r>
              <a:rPr lang="zh-CN" altLang="en-US" sz="4000" dirty="0">
                <a:solidFill>
                  <a:schemeClr val="tx1"/>
                </a:solidFill>
                <a:latin typeface="微软雅黑" panose="020B0503020204020204" pitchFamily="34" charset="-122"/>
                <a:ea typeface="微软雅黑" panose="020B0503020204020204" pitchFamily="34" charset="-122"/>
              </a:rPr>
              <a:t>相机和画布</a:t>
            </a:r>
            <a:r>
              <a:rPr lang="zh-CN" altLang="en-US" sz="4000" dirty="0">
                <a:latin typeface="微软雅黑" panose="020B0503020204020204" pitchFamily="34" charset="-122"/>
                <a:ea typeface="微软雅黑" panose="020B0503020204020204" pitchFamily="34" charset="-122"/>
              </a:rPr>
              <a:t>布</a:t>
            </a:r>
            <a:endParaRPr lang="en-US" altLang="zh-CN" sz="4000" dirty="0">
              <a:solidFill>
                <a:schemeClr val="tx1"/>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55576" y="2743165"/>
            <a:ext cx="3067208" cy="1371670"/>
          </a:xfrm>
          <a:prstGeom prst="rect">
            <a:avLst/>
          </a:prstGeom>
        </p:spPr>
      </p:pic>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43504" y="4786322"/>
            <a:ext cx="3029106" cy="1371670"/>
          </a:xfrm>
          <a:prstGeom prst="rect">
            <a:avLst/>
          </a:prstGeom>
        </p:spPr>
      </p:pic>
      <p:pic>
        <p:nvPicPr>
          <p:cNvPr id="13" name="图片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8728" y="5000636"/>
            <a:ext cx="2883048" cy="1111307"/>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643602"/>
          </a:xfrm>
          <a:prstGeom prst="rect">
            <a:avLst/>
          </a:prstGeom>
        </p:spPr>
        <p:txBody>
          <a:bodyPr vert="horz" lIns="91440" tIns="45720" rIns="91440" bIns="45720" rtlCol="0" anchor="t">
            <a:normAutofit/>
          </a:bodyPr>
          <a:lstStyle/>
          <a:p>
            <a:pPr>
              <a:spcBef>
                <a:spcPct val="0"/>
              </a:spcBef>
              <a:defRPr/>
            </a:pPr>
            <a:r>
              <a:rPr lang="zh-CN" altLang="en-US" sz="1400" b="1" dirty="0">
                <a:latin typeface="微软雅黑" panose="020B0503020204020204" pitchFamily="34" charset="-122"/>
                <a:ea typeface="微软雅黑" panose="020B0503020204020204" pitchFamily="34" charset="-122"/>
              </a:rPr>
              <a:t>适配策略</a:t>
            </a:r>
            <a:endParaRPr lang="en-US" altLang="zh-CN" sz="1400" b="1" dirty="0">
              <a:latin typeface="微软雅黑" panose="020B0503020204020204" pitchFamily="34" charset="-122"/>
              <a:ea typeface="微软雅黑" panose="020B0503020204020204" pitchFamily="34" charset="-122"/>
            </a:endParaRPr>
          </a:p>
          <a:p>
            <a:pPr>
              <a:spcBef>
                <a:spcPct val="0"/>
              </a:spcBef>
              <a:defRPr/>
            </a:pPr>
            <a:endParaRPr lang="en-US" altLang="zh-CN" sz="1400" b="1" dirty="0">
              <a:latin typeface="微软雅黑" panose="020B0503020204020204" pitchFamily="34" charset="-122"/>
              <a:ea typeface="微软雅黑" panose="020B0503020204020204" pitchFamily="34" charset="-122"/>
            </a:endParaRPr>
          </a:p>
          <a:p>
            <a:pPr>
              <a:spcBef>
                <a:spcPct val="0"/>
              </a:spcBef>
              <a:defRPr/>
            </a:pPr>
            <a:r>
              <a:rPr lang="en-US" altLang="zh-CN" sz="1400" b="1" dirty="0">
                <a:latin typeface="微软雅黑" panose="020B0503020204020204" pitchFamily="34" charset="-122"/>
                <a:ea typeface="微软雅黑" panose="020B0503020204020204" pitchFamily="34" charset="-122"/>
              </a:rPr>
              <a:t>UI Scale Model</a:t>
            </a:r>
            <a:endParaRPr lang="en-US" altLang="zh-CN" sz="1400" b="1" dirty="0">
              <a:latin typeface="微软雅黑" panose="020B0503020204020204" pitchFamily="34" charset="-122"/>
              <a:ea typeface="微软雅黑" panose="020B0503020204020204" pitchFamily="34" charset="-122"/>
            </a:endParaRPr>
          </a:p>
          <a:p>
            <a:pPr marL="514350" indent="-514350">
              <a:spcBef>
                <a:spcPct val="0"/>
              </a:spcBef>
              <a:buFont typeface="Arial" panose="020B0604020202020204" pitchFamily="34" charset="0"/>
              <a:buChar char="•"/>
              <a:defRPr/>
            </a:pPr>
            <a:r>
              <a:rPr lang="en-US" altLang="zh-CN" sz="1400" b="1" dirty="0">
                <a:latin typeface="微软雅黑" panose="020B0503020204020204" pitchFamily="34" charset="-122"/>
                <a:ea typeface="微软雅黑" panose="020B0503020204020204" pitchFamily="34" charset="-122"/>
              </a:rPr>
              <a:t>Scale With Screen Size</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UI</a:t>
            </a:r>
            <a:r>
              <a:rPr lang="zh-CN" altLang="en-US" sz="1400" dirty="0">
                <a:latin typeface="微软雅黑" panose="020B0503020204020204" pitchFamily="34" charset="-122"/>
                <a:ea typeface="微软雅黑" panose="020B0503020204020204" pitchFamily="34" charset="-122"/>
              </a:rPr>
              <a:t>元素的位置和大小是根据指定的标准分辨率来设置。（该模式在不同分辨率的设备上会自动适配）</a:t>
            </a:r>
            <a:endParaRPr lang="en-US" altLang="zh-CN" sz="1400" b="1" dirty="0">
              <a:latin typeface="微软雅黑" panose="020B0503020204020204" pitchFamily="34" charset="-122"/>
              <a:ea typeface="微软雅黑" panose="020B0503020204020204" pitchFamily="34" charset="-122"/>
            </a:endParaRPr>
          </a:p>
          <a:p>
            <a:pPr marL="514350" indent="-514350">
              <a:spcBef>
                <a:spcPct val="0"/>
              </a:spcBef>
              <a:buFont typeface="Arial" panose="020B0604020202020204" pitchFamily="34" charset="0"/>
              <a:buChar char="•"/>
              <a:defRPr/>
            </a:pPr>
            <a:r>
              <a:rPr lang="en-US" altLang="zh-CN" sz="1400" b="1" dirty="0">
                <a:latin typeface="微软雅黑" panose="020B0503020204020204" pitchFamily="34" charset="-122"/>
                <a:ea typeface="微软雅黑" panose="020B0503020204020204" pitchFamily="34" charset="-122"/>
              </a:rPr>
              <a:t>Constant Pixel Size</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UI</a:t>
            </a:r>
            <a:r>
              <a:rPr lang="zh-CN" altLang="en-US" sz="1400" dirty="0">
                <a:latin typeface="微软雅黑" panose="020B0503020204020204" pitchFamily="34" charset="-122"/>
                <a:ea typeface="微软雅黑" panose="020B0503020204020204" pitchFamily="34" charset="-122"/>
              </a:rPr>
              <a:t>元素的位置和尺寸是由画面上的像素单位来设置。</a:t>
            </a:r>
            <a:endParaRPr lang="en-US" altLang="zh-CN" sz="1400" dirty="0">
              <a:latin typeface="微软雅黑" panose="020B0503020204020204" pitchFamily="34" charset="-122"/>
              <a:ea typeface="微软雅黑" panose="020B0503020204020204" pitchFamily="34" charset="-122"/>
            </a:endParaRPr>
          </a:p>
          <a:p>
            <a:pPr marL="514350" indent="-514350">
              <a:spcBef>
                <a:spcPct val="0"/>
              </a:spcBef>
              <a:buFont typeface="Arial" panose="020B0604020202020204" pitchFamily="34" charset="0"/>
              <a:buChar char="•"/>
              <a:defRPr/>
            </a:pPr>
            <a:r>
              <a:rPr lang="en-US" altLang="zh-CN" sz="1400" b="1" dirty="0">
                <a:latin typeface="微软雅黑" panose="020B0503020204020204" pitchFamily="34" charset="-122"/>
                <a:ea typeface="微软雅黑" panose="020B0503020204020204" pitchFamily="34" charset="-122"/>
              </a:rPr>
              <a:t>Constant Physical Size</a:t>
            </a:r>
            <a:r>
              <a:rPr lang="zh-CN" altLang="en-US" sz="1400" b="1"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UI</a:t>
            </a:r>
            <a:r>
              <a:rPr lang="zh-CN" altLang="en-US" sz="1400" dirty="0">
                <a:latin typeface="微软雅黑" panose="020B0503020204020204" pitchFamily="34" charset="-122"/>
                <a:ea typeface="微软雅黑" panose="020B0503020204020204" pitchFamily="34" charset="-122"/>
              </a:rPr>
              <a:t>元素的位置和尺寸可以使用物理单位（厘米，英寸等）来设置。</a:t>
            </a:r>
            <a:endParaRPr lang="en-US" altLang="zh-CN" sz="1400" dirty="0">
              <a:latin typeface="微软雅黑" panose="020B0503020204020204" pitchFamily="34" charset="-122"/>
              <a:ea typeface="微软雅黑" panose="020B0503020204020204" pitchFamily="34" charset="-122"/>
            </a:endParaRPr>
          </a:p>
          <a:p>
            <a:pPr>
              <a:spcBef>
                <a:spcPct val="0"/>
              </a:spcBef>
              <a:defRPr/>
            </a:pPr>
            <a:endParaRPr lang="en-US" altLang="zh-CN" sz="1400" dirty="0">
              <a:latin typeface="微软雅黑" panose="020B0503020204020204" pitchFamily="34" charset="-122"/>
              <a:ea typeface="微软雅黑" panose="020B0503020204020204" pitchFamily="34" charset="-122"/>
            </a:endParaRPr>
          </a:p>
          <a:p>
            <a:pPr>
              <a:spcBef>
                <a:spcPct val="0"/>
              </a:spcBef>
              <a:defRPr/>
            </a:pPr>
            <a:r>
              <a:rPr lang="en-US" altLang="zh-CN" sz="1400" b="1" dirty="0">
                <a:latin typeface="微软雅黑" panose="020B0503020204020204" pitchFamily="34" charset="-122"/>
                <a:ea typeface="微软雅黑" panose="020B0503020204020204" pitchFamily="34" charset="-122"/>
              </a:rPr>
              <a:t>Screen</a:t>
            </a:r>
            <a:r>
              <a:rPr lang="zh-CN" altLang="en-US" sz="1400" b="1" dirty="0">
                <a:latin typeface="微软雅黑" panose="020B0503020204020204" pitchFamily="34" charset="-122"/>
                <a:ea typeface="微软雅黑" panose="020B0503020204020204" pitchFamily="34" charset="-122"/>
              </a:rPr>
              <a:t> </a:t>
            </a:r>
            <a:r>
              <a:rPr lang="en-US" altLang="zh-CN" sz="1400" b="1" dirty="0">
                <a:latin typeface="微软雅黑" panose="020B0503020204020204" pitchFamily="34" charset="-122"/>
                <a:ea typeface="微软雅黑" panose="020B0503020204020204" pitchFamily="34" charset="-122"/>
              </a:rPr>
              <a:t>Match Mode</a:t>
            </a:r>
            <a:r>
              <a:rPr lang="zh-CN" altLang="en-US" sz="1400" b="1"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当屏幕分辨率与标准分辨率的宽高比例不一致的时候，画布如何缩放</a:t>
            </a:r>
            <a:endParaRPr lang="en-US" altLang="zh-CN" sz="1400" dirty="0">
              <a:latin typeface="微软雅黑" panose="020B0503020204020204" pitchFamily="34" charset="-122"/>
              <a:ea typeface="微软雅黑" panose="020B0503020204020204" pitchFamily="34" charset="-122"/>
            </a:endParaRPr>
          </a:p>
          <a:p>
            <a:pPr marL="514350" indent="-514350">
              <a:spcBef>
                <a:spcPct val="0"/>
              </a:spcBef>
              <a:buFont typeface="Arial" panose="020B0604020202020204" pitchFamily="34" charset="0"/>
              <a:buChar char="•"/>
              <a:defRPr/>
            </a:pPr>
            <a:r>
              <a:rPr lang="en-US" altLang="zh-CN" sz="1400" b="1" dirty="0">
                <a:latin typeface="微软雅黑" panose="020B0503020204020204" pitchFamily="34" charset="-122"/>
                <a:ea typeface="微软雅黑" panose="020B0503020204020204" pitchFamily="34" charset="-122"/>
              </a:rPr>
              <a:t>Match Width or Height</a:t>
            </a:r>
            <a:r>
              <a:rPr lang="zh-CN" altLang="en-US" sz="1400" dirty="0">
                <a:latin typeface="微软雅黑" panose="020B0503020204020204" pitchFamily="34" charset="-122"/>
                <a:ea typeface="微软雅黑" panose="020B0503020204020204" pitchFamily="34" charset="-122"/>
              </a:rPr>
              <a:t>：按照标准分辨率的宽度或高度来缩放画布。</a:t>
            </a:r>
            <a:endParaRPr lang="en-US" altLang="zh-CN" sz="1400" dirty="0">
              <a:latin typeface="微软雅黑" panose="020B0503020204020204" pitchFamily="34" charset="-122"/>
              <a:ea typeface="微软雅黑" panose="020B0503020204020204" pitchFamily="34" charset="-122"/>
            </a:endParaRPr>
          </a:p>
          <a:p>
            <a:pPr marL="514350" indent="-514350">
              <a:spcBef>
                <a:spcPct val="0"/>
              </a:spcBef>
              <a:buFont typeface="Arial" panose="020B0604020202020204" pitchFamily="34" charset="0"/>
              <a:buChar char="•"/>
              <a:defRPr/>
            </a:pPr>
            <a:r>
              <a:rPr lang="en-US" altLang="zh-CN" sz="1400" b="1" dirty="0">
                <a:latin typeface="微软雅黑" panose="020B0503020204020204" pitchFamily="34" charset="-122"/>
                <a:ea typeface="微软雅黑" panose="020B0503020204020204" pitchFamily="34" charset="-122"/>
              </a:rPr>
              <a:t>Expand</a:t>
            </a:r>
            <a:r>
              <a:rPr lang="zh-CN" altLang="en-US" sz="1400" dirty="0">
                <a:latin typeface="微软雅黑" panose="020B0503020204020204" pitchFamily="34" charset="-122"/>
                <a:ea typeface="微软雅黑" panose="020B0503020204020204" pitchFamily="34" charset="-122"/>
              </a:rPr>
              <a:t>：扩展画布，画布的宽和高同时扩展，画布的尺寸不会低于标准分辨率。在此模式下会保证标准分辨率下的东西能够全部显示出来。</a:t>
            </a:r>
            <a:endParaRPr lang="en-US" altLang="zh-CN" sz="1400" dirty="0">
              <a:latin typeface="微软雅黑" panose="020B0503020204020204" pitchFamily="34" charset="-122"/>
              <a:ea typeface="微软雅黑" panose="020B0503020204020204" pitchFamily="34" charset="-122"/>
            </a:endParaRPr>
          </a:p>
          <a:p>
            <a:pPr marL="514350" indent="-514350">
              <a:spcBef>
                <a:spcPct val="0"/>
              </a:spcBef>
              <a:buFont typeface="Arial" panose="020B0604020202020204" pitchFamily="34" charset="0"/>
              <a:buChar char="•"/>
              <a:defRPr/>
            </a:pPr>
            <a:r>
              <a:rPr lang="en-US" altLang="zh-CN" sz="1400" b="1" dirty="0">
                <a:latin typeface="微软雅黑" panose="020B0503020204020204" pitchFamily="34" charset="-122"/>
                <a:ea typeface="微软雅黑" panose="020B0503020204020204" pitchFamily="34" charset="-122"/>
              </a:rPr>
              <a:t>Shrink</a:t>
            </a:r>
            <a:r>
              <a:rPr lang="zh-CN" altLang="en-US" sz="1400" dirty="0">
                <a:latin typeface="微软雅黑" panose="020B0503020204020204" pitchFamily="34" charset="-122"/>
                <a:ea typeface="微软雅黑" panose="020B0503020204020204" pitchFamily="34" charset="-122"/>
              </a:rPr>
              <a:t>：收缩画布，画布的宽和高同时收缩，画布的尺寸不会高于标准分辨率。在此模式下不会留黑边但是会导致显示不完全。</a:t>
            </a:r>
            <a:endParaRPr lang="en-US" altLang="zh-CN" sz="1400" dirty="0">
              <a:latin typeface="微软雅黑" panose="020B0503020204020204" pitchFamily="34" charset="-122"/>
              <a:ea typeface="微软雅黑" panose="020B0503020204020204" pitchFamily="34" charset="-122"/>
            </a:endParaRPr>
          </a:p>
          <a:p>
            <a:pPr marL="0" marR="0" lvl="0" indent="0" defTabSz="914400" rtl="0" eaLnBrk="1" fontAlgn="auto" latinLnBrk="0" hangingPunct="1">
              <a:lnSpc>
                <a:spcPct val="100000"/>
              </a:lnSpc>
              <a:spcBef>
                <a:spcPct val="0"/>
              </a:spcBef>
              <a:spcAft>
                <a:spcPts val="0"/>
              </a:spcAft>
              <a:buClrTx/>
              <a:buSzTx/>
              <a:buFontTx/>
              <a:buNone/>
              <a:defRPr/>
            </a:pPr>
            <a:endParaRPr lang="en-US" altLang="zh-CN" sz="1400" dirty="0">
              <a:latin typeface="微软雅黑" panose="020B0503020204020204" pitchFamily="34" charset="-122"/>
              <a:ea typeface="微软雅黑" panose="020B0503020204020204" pitchFamily="34" charset="-122"/>
              <a:cs typeface="+mj-cs"/>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0" indent="-742950" algn="ctr">
              <a:spcBef>
                <a:spcPct val="0"/>
              </a:spcBef>
              <a:defRPr/>
            </a:pPr>
            <a:r>
              <a:rPr lang="zh-CN" altLang="en-US" sz="4000" dirty="0">
                <a:solidFill>
                  <a:schemeClr val="tx1"/>
                </a:solidFill>
                <a:latin typeface="微软雅黑" panose="020B0503020204020204" pitchFamily="34" charset="-122"/>
                <a:ea typeface="微软雅黑" panose="020B0503020204020204" pitchFamily="34" charset="-122"/>
              </a:rPr>
              <a:t>相机和画布</a:t>
            </a:r>
            <a:endParaRPr lang="en-US" altLang="zh-CN" sz="4000" dirty="0">
              <a:solidFill>
                <a:schemeClr val="tx1"/>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07704" y="4182655"/>
            <a:ext cx="5184576" cy="2532493"/>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643602"/>
          </a:xfrm>
          <a:prstGeom prst="rect">
            <a:avLst/>
          </a:prstGeom>
        </p:spPr>
        <p:txBody>
          <a:bodyPr vert="horz" lIns="91440" tIns="45720" rIns="91440" bIns="45720" rtlCol="0" anchor="t">
            <a:normAutofit/>
          </a:bodyPr>
          <a:lstStyle/>
          <a:p>
            <a:pPr marL="342900" lvl="0" indent="-342900">
              <a:spcBef>
                <a:spcPct val="0"/>
              </a:spcBef>
              <a:buFont typeface="Arial" panose="020B0604020202020204" pitchFamily="34" charset="0"/>
              <a:buChar char="•"/>
              <a:defRPr/>
            </a:pPr>
            <a:r>
              <a:rPr lang="en-US" altLang="zh-CN" sz="1400" b="1" dirty="0" err="1">
                <a:latin typeface="微软雅黑" panose="020B0503020204020204" pitchFamily="34" charset="-122"/>
                <a:ea typeface="微软雅黑" panose="020B0503020204020204" pitchFamily="34" charset="-122"/>
                <a:cs typeface="+mj-cs"/>
              </a:rPr>
              <a:t>RectTransform</a:t>
            </a:r>
            <a:r>
              <a:rPr lang="en-US" altLang="zh-CN" sz="1400" b="1" dirty="0">
                <a:latin typeface="微软雅黑" panose="020B0503020204020204" pitchFamily="34" charset="-122"/>
                <a:ea typeface="微软雅黑" panose="020B0503020204020204" pitchFamily="34" charset="-122"/>
                <a:cs typeface="+mj-cs"/>
              </a:rPr>
              <a:t> </a:t>
            </a:r>
            <a:r>
              <a:rPr lang="zh-CN" altLang="en-US" sz="1400" b="1" dirty="0">
                <a:latin typeface="微软雅黑" panose="020B0503020204020204" pitchFamily="34" charset="-122"/>
                <a:ea typeface="微软雅黑" panose="020B0503020204020204" pitchFamily="34" charset="-122"/>
                <a:cs typeface="+mj-cs"/>
              </a:rPr>
              <a:t>组件：</a:t>
            </a:r>
            <a:r>
              <a:rPr lang="zh-CN" altLang="en-US" sz="1400" dirty="0">
                <a:latin typeface="微软雅黑" panose="020B0503020204020204" pitchFamily="34" charset="-122"/>
                <a:ea typeface="微软雅黑" panose="020B0503020204020204" pitchFamily="34" charset="-122"/>
                <a:cs typeface="+mj-cs"/>
              </a:rPr>
              <a:t>锚点，轴心，坐标值，旋转</a:t>
            </a:r>
            <a:r>
              <a:rPr lang="zh-CN" altLang="en-US" sz="1400" dirty="0">
                <a:latin typeface="微软雅黑" panose="020B0503020204020204" pitchFamily="34" charset="-122"/>
                <a:ea typeface="微软雅黑" panose="020B0503020204020204" pitchFamily="34" charset="-122"/>
              </a:rPr>
              <a:t>值</a:t>
            </a:r>
            <a:r>
              <a:rPr lang="zh-CN" altLang="en-US" sz="1400" dirty="0">
                <a:latin typeface="微软雅黑" panose="020B0503020204020204" pitchFamily="34" charset="-122"/>
                <a:ea typeface="微软雅黑" panose="020B0503020204020204" pitchFamily="34" charset="-122"/>
                <a:cs typeface="+mj-cs"/>
              </a:rPr>
              <a:t>，缩放</a:t>
            </a:r>
            <a:r>
              <a:rPr lang="zh-CN" altLang="en-US" sz="1400" dirty="0">
                <a:latin typeface="微软雅黑" panose="020B0503020204020204" pitchFamily="34" charset="-122"/>
                <a:ea typeface="微软雅黑" panose="020B0503020204020204" pitchFamily="34" charset="-122"/>
              </a:rPr>
              <a:t>值</a:t>
            </a:r>
            <a:r>
              <a:rPr lang="zh-CN" altLang="en-US" sz="1400" b="1" dirty="0">
                <a:latin typeface="微软雅黑" panose="020B0503020204020204" pitchFamily="34" charset="-122"/>
                <a:ea typeface="微软雅黑" panose="020B0503020204020204" pitchFamily="34" charset="-122"/>
                <a:cs typeface="+mj-cs"/>
              </a:rPr>
              <a:t>。</a:t>
            </a:r>
            <a:endParaRPr kumimoji="0" lang="en-US" altLang="zh-CN"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lang="en-US" altLang="zh-CN" sz="1400" dirty="0">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r>
              <a:rPr lang="en-US" altLang="zh-CN" sz="1400" dirty="0">
                <a:latin typeface="微软雅黑" panose="020B0503020204020204" pitchFamily="34" charset="-122"/>
                <a:ea typeface="微软雅黑" panose="020B0503020204020204" pitchFamily="34" charset="-122"/>
                <a:cs typeface="+mj-cs"/>
              </a:rPr>
              <a:t>	</a:t>
            </a:r>
            <a:endParaRPr lang="en-US" altLang="zh-CN" sz="1400" dirty="0">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r>
              <a:rPr lang="en-US" altLang="zh-CN" sz="1400" dirty="0">
                <a:latin typeface="微软雅黑" panose="020B0503020204020204" pitchFamily="34" charset="-122"/>
                <a:ea typeface="微软雅黑" panose="020B0503020204020204" pitchFamily="34" charset="-122"/>
                <a:cs typeface="+mj-cs"/>
              </a:rPr>
              <a:t>					</a:t>
            </a:r>
            <a:endParaRPr lang="en-US" altLang="zh-CN" sz="1400" dirty="0">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lang="en-US" altLang="zh-CN" sz="1400" dirty="0">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kumimoji="0" lang="en-US" altLang="zh-CN" sz="1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lang="en-US" altLang="zh-CN" sz="1400" dirty="0">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lang="en-US" altLang="zh-CN" sz="1400" dirty="0">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lang="en-US" altLang="zh-CN" sz="1400" dirty="0">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lang="en-US" altLang="zh-CN" sz="1400" dirty="0">
              <a:latin typeface="微软雅黑" panose="020B0503020204020204" pitchFamily="34" charset="-122"/>
              <a:ea typeface="微软雅黑" panose="020B0503020204020204" pitchFamily="34" charset="-122"/>
              <a:cs typeface="+mj-cs"/>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marL="285750" lvl="0" indent="-285750">
              <a:spcBef>
                <a:spcPct val="0"/>
              </a:spcBef>
              <a:defRPr/>
            </a:pPr>
            <a:endParaRPr lang="en-US" altLang="zh-CN" sz="1400" b="1" dirty="0">
              <a:latin typeface="微软雅黑" panose="020B0503020204020204" pitchFamily="34" charset="-122"/>
              <a:ea typeface="微软雅黑" panose="020B0503020204020204" pitchFamily="34" charset="-122"/>
            </a:endParaRPr>
          </a:p>
          <a:p>
            <a:pPr marL="285750" lvl="0" indent="-285750">
              <a:spcBef>
                <a:spcPct val="0"/>
              </a:spcBef>
              <a:buFont typeface="Arial" panose="020B0604020202020204" pitchFamily="34" charset="0"/>
              <a:buChar char="•"/>
              <a:defRPr/>
            </a:pPr>
            <a:r>
              <a:rPr lang="en-US" altLang="zh-CN" sz="1400" b="1" dirty="0">
                <a:latin typeface="微软雅黑" panose="020B0503020204020204" pitchFamily="34" charset="-122"/>
                <a:ea typeface="微软雅黑" panose="020B0503020204020204" pitchFamily="34" charset="-122"/>
              </a:rPr>
              <a:t>Blueprint</a:t>
            </a:r>
            <a:r>
              <a:rPr lang="zh-CN" altLang="en-US" sz="1400" b="1" dirty="0">
                <a:latin typeface="微软雅黑" panose="020B0503020204020204" pitchFamily="34" charset="-122"/>
                <a:ea typeface="微软雅黑" panose="020B0503020204020204" pitchFamily="34" charset="-122"/>
              </a:rPr>
              <a:t>模式：</a:t>
            </a:r>
            <a:r>
              <a:rPr lang="zh-CN" altLang="en-US" sz="1400" dirty="0">
                <a:latin typeface="微软雅黑" panose="020B0503020204020204" pitchFamily="34" charset="-122"/>
                <a:ea typeface="微软雅黑" panose="020B0503020204020204" pitchFamily="34" charset="-122"/>
              </a:rPr>
              <a:t>未采用旋转或缩放的矩形框。</a:t>
            </a:r>
            <a:endParaRPr lang="en-US" altLang="zh-CN" sz="1400" dirty="0">
              <a:latin typeface="微软雅黑" panose="020B0503020204020204" pitchFamily="34" charset="-122"/>
              <a:ea typeface="微软雅黑" panose="020B0503020204020204" pitchFamily="34" charset="-122"/>
            </a:endParaRPr>
          </a:p>
          <a:p>
            <a:pPr marL="285750" lvl="0" indent="-285750">
              <a:spcBef>
                <a:spcPct val="0"/>
              </a:spcBef>
              <a:buFont typeface="Arial" panose="020B0604020202020204" pitchFamily="34" charset="0"/>
              <a:buChar char="•"/>
              <a:defRPr/>
            </a:pPr>
            <a:r>
              <a:rPr lang="en-US" altLang="zh-CN" sz="1400" b="1" dirty="0" err="1">
                <a:latin typeface="微软雅黑" panose="020B0503020204020204" pitchFamily="34" charset="-122"/>
                <a:ea typeface="微软雅黑" panose="020B0503020204020204" pitchFamily="34" charset="-122"/>
              </a:rPr>
              <a:t>RawEditor</a:t>
            </a:r>
            <a:r>
              <a:rPr lang="zh-CN" altLang="en-US" sz="1400" b="1" dirty="0">
                <a:latin typeface="微软雅黑" panose="020B0503020204020204" pitchFamily="34" charset="-122"/>
                <a:ea typeface="微软雅黑" panose="020B0503020204020204" pitchFamily="34" charset="-122"/>
              </a:rPr>
              <a:t>模</a:t>
            </a:r>
            <a:r>
              <a:rPr lang="zh-CN" altLang="en-US" sz="1400" b="1">
                <a:latin typeface="微软雅黑" panose="020B0503020204020204" pitchFamily="34" charset="-122"/>
                <a:ea typeface="微软雅黑" panose="020B0503020204020204" pitchFamily="34" charset="-122"/>
              </a:rPr>
              <a:t>式</a:t>
            </a:r>
            <a:r>
              <a:rPr lang="zh-CN" altLang="en-US" sz="1400" b="1" smtClean="0">
                <a:latin typeface="微软雅黑" panose="020B0503020204020204" pitchFamily="34" charset="-122"/>
                <a:ea typeface="微软雅黑" panose="020B0503020204020204" pitchFamily="34" charset="-122"/>
              </a:rPr>
              <a:t>：</a:t>
            </a:r>
            <a:r>
              <a:rPr lang="zh-CN" altLang="en-US" sz="1400" smtClean="0">
                <a:latin typeface="微软雅黑" panose="020B0503020204020204" pitchFamily="34" charset="-122"/>
                <a:ea typeface="微软雅黑" panose="020B0503020204020204" pitchFamily="34" charset="-122"/>
              </a:rPr>
              <a:t>在编辑</a:t>
            </a:r>
            <a:r>
              <a:rPr lang="en-US" sz="1400" smtClean="0">
                <a:latin typeface="微软雅黑" panose="020B0503020204020204" pitchFamily="34" charset="-122"/>
                <a:ea typeface="微软雅黑" panose="020B0503020204020204" pitchFamily="34" charset="-122"/>
              </a:rPr>
              <a:t>pivot</a:t>
            </a:r>
            <a:r>
              <a:rPr lang="zh-CN" altLang="en-US" sz="1400" smtClean="0">
                <a:latin typeface="微软雅黑" panose="020B0503020204020204" pitchFamily="34" charset="-122"/>
                <a:ea typeface="微软雅黑" panose="020B0503020204020204" pitchFamily="34" charset="-122"/>
              </a:rPr>
              <a:t>时，</a:t>
            </a:r>
            <a:r>
              <a:rPr lang="en-US" sz="1400" smtClean="0">
                <a:latin typeface="微软雅黑" panose="020B0503020204020204" pitchFamily="34" charset="-122"/>
                <a:ea typeface="微软雅黑" panose="020B0503020204020204" pitchFamily="34" charset="-122"/>
              </a:rPr>
              <a:t>pivot</a:t>
            </a:r>
            <a:r>
              <a:rPr lang="zh-CN" altLang="en-US" sz="1400" smtClean="0">
                <a:latin typeface="微软雅黑" panose="020B0503020204020204" pitchFamily="34" charset="-122"/>
                <a:ea typeface="微软雅黑" panose="020B0503020204020204" pitchFamily="34" charset="-122"/>
              </a:rPr>
              <a:t>会始终保持在</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内的相对位置，</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跟随</a:t>
            </a:r>
            <a:r>
              <a:rPr lang="en-US" sz="1400" smtClean="0">
                <a:latin typeface="微软雅黑" panose="020B0503020204020204" pitchFamily="34" charset="-122"/>
                <a:ea typeface="微软雅黑" panose="020B0503020204020204" pitchFamily="34" charset="-122"/>
              </a:rPr>
              <a:t>pivot</a:t>
            </a:r>
            <a:r>
              <a:rPr lang="zh-CN" altLang="en-US" sz="1400" smtClean="0">
                <a:latin typeface="微软雅黑" panose="020B0503020204020204" pitchFamily="34" charset="-122"/>
                <a:ea typeface="微软雅黑" panose="020B0503020204020204" pitchFamily="34" charset="-122"/>
              </a:rPr>
              <a:t>的位置移动</a:t>
            </a:r>
            <a:endParaRPr lang="en-US" altLang="zh-CN" sz="1400" dirty="0">
              <a:latin typeface="微软雅黑" panose="020B0503020204020204" pitchFamily="34" charset="-122"/>
              <a:ea typeface="微软雅黑" panose="020B0503020204020204" pitchFamily="34" charset="-122"/>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0" indent="-742950" algn="ctr">
              <a:spcBef>
                <a:spcPct val="0"/>
              </a:spcBef>
              <a:defRPr/>
            </a:pPr>
            <a:r>
              <a:rPr lang="zh-CN" altLang="en-US" sz="4000" dirty="0">
                <a:solidFill>
                  <a:schemeClr val="tx1"/>
                </a:solidFill>
                <a:latin typeface="微软雅黑" panose="020B0503020204020204" pitchFamily="34" charset="-122"/>
                <a:ea typeface="微软雅黑" panose="020B0503020204020204" pitchFamily="34" charset="-122"/>
              </a:rPr>
              <a:t>布局系统</a:t>
            </a:r>
            <a:endParaRPr lang="en-US" altLang="zh-CN" sz="4000" dirty="0">
              <a:solidFill>
                <a:schemeClr val="tx1"/>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27584" y="1340768"/>
            <a:ext cx="7030564" cy="3597031"/>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643602"/>
          </a:xfrm>
          <a:prstGeom prst="rect">
            <a:avLst/>
          </a:prstGeom>
        </p:spPr>
        <p:txBody>
          <a:bodyPr vert="horz" lIns="91440" tIns="45720" rIns="91440" bIns="45720" rtlCol="0" anchor="t">
            <a:normAutofit/>
          </a:bodyPr>
          <a:lstStyle/>
          <a:p>
            <a:pPr lvl="0">
              <a:spcBef>
                <a:spcPct val="0"/>
              </a:spcBef>
              <a:defRPr/>
            </a:pPr>
            <a:r>
              <a:rPr lang="zh-CN" altLang="en-US" sz="1400" b="1" dirty="0">
                <a:latin typeface="微软雅黑" panose="020B0503020204020204" pitchFamily="34" charset="-122"/>
                <a:ea typeface="微软雅黑" panose="020B0503020204020204" pitchFamily="34" charset="-122"/>
              </a:rPr>
              <a:t>轴心：</a:t>
            </a:r>
            <a:r>
              <a:rPr lang="zh-CN" altLang="en-US" sz="1400" dirty="0">
                <a:latin typeface="微软雅黑" panose="020B0503020204020204" pitchFamily="34" charset="-122"/>
                <a:ea typeface="微软雅黑" panose="020B0503020204020204" pitchFamily="34" charset="-122"/>
              </a:rPr>
              <a:t>轴心是</a:t>
            </a:r>
            <a:r>
              <a:rPr lang="en-US" altLang="zh-CN" sz="1400" dirty="0">
                <a:latin typeface="微软雅黑" panose="020B0503020204020204" pitchFamily="34" charset="-122"/>
                <a:ea typeface="微软雅黑" panose="020B0503020204020204" pitchFamily="34" charset="-122"/>
              </a:rPr>
              <a:t>UI</a:t>
            </a:r>
            <a:r>
              <a:rPr lang="zh-CN" altLang="en-US" sz="1400" dirty="0">
                <a:latin typeface="微软雅黑" panose="020B0503020204020204" pitchFamily="34" charset="-122"/>
                <a:ea typeface="微软雅黑" panose="020B0503020204020204" pitchFamily="34" charset="-122"/>
              </a:rPr>
              <a:t>元素旋转和缩放的基准点。下图中心位置的蓝色小圈为轴心点</a:t>
            </a:r>
            <a:endParaRPr lang="en-US" altLang="zh-CN" sz="1400" dirty="0">
              <a:latin typeface="微软雅黑" panose="020B0503020204020204" pitchFamily="34" charset="-122"/>
              <a:ea typeface="微软雅黑" panose="020B0503020204020204" pitchFamily="34" charset="-122"/>
            </a:endParaRPr>
          </a:p>
          <a:p>
            <a:pPr lvl="0">
              <a:spcBef>
                <a:spcPct val="0"/>
              </a:spcBef>
              <a:defRPr/>
            </a:pPr>
            <a:endParaRPr lang="en-US" altLang="zh-CN" sz="1400" dirty="0">
              <a:latin typeface="微软雅黑" panose="020B0503020204020204" pitchFamily="34" charset="-122"/>
              <a:ea typeface="微软雅黑" panose="020B0503020204020204" pitchFamily="34" charset="-122"/>
            </a:endParaRPr>
          </a:p>
          <a:p>
            <a:pPr lvl="0">
              <a:spcBef>
                <a:spcPct val="0"/>
              </a:spcBef>
              <a:defRPr/>
            </a:pPr>
            <a:endParaRPr lang="en-US" altLang="zh-CN" sz="1400" dirty="0">
              <a:latin typeface="微软雅黑" panose="020B0503020204020204" pitchFamily="34" charset="-122"/>
              <a:ea typeface="微软雅黑" panose="020B0503020204020204" pitchFamily="34" charset="-122"/>
            </a:endParaRPr>
          </a:p>
          <a:p>
            <a:pPr lvl="0">
              <a:spcBef>
                <a:spcPct val="0"/>
              </a:spcBef>
              <a:defRPr/>
            </a:pPr>
            <a:endParaRPr lang="en-US" altLang="zh-CN" sz="1400" dirty="0">
              <a:latin typeface="微软雅黑" panose="020B0503020204020204" pitchFamily="34" charset="-122"/>
              <a:ea typeface="微软雅黑" panose="020B0503020204020204" pitchFamily="34" charset="-122"/>
            </a:endParaRPr>
          </a:p>
          <a:p>
            <a:pPr lvl="0">
              <a:spcBef>
                <a:spcPct val="0"/>
              </a:spcBef>
              <a:defRPr/>
            </a:pPr>
            <a:endParaRPr lang="en-US" altLang="zh-CN" sz="1400" dirty="0">
              <a:latin typeface="微软雅黑" panose="020B0503020204020204" pitchFamily="34" charset="-122"/>
              <a:ea typeface="微软雅黑" panose="020B0503020204020204" pitchFamily="34" charset="-122"/>
            </a:endParaRPr>
          </a:p>
          <a:p>
            <a:pPr lvl="0">
              <a:spcBef>
                <a:spcPct val="0"/>
              </a:spcBef>
              <a:defRPr/>
            </a:pPr>
            <a:endParaRPr lang="en-US" altLang="zh-CN" sz="1400" dirty="0">
              <a:latin typeface="微软雅黑" panose="020B0503020204020204" pitchFamily="34" charset="-122"/>
              <a:ea typeface="微软雅黑" panose="020B0503020204020204" pitchFamily="34" charset="-122"/>
            </a:endParaRPr>
          </a:p>
          <a:p>
            <a:pPr lvl="0">
              <a:spcBef>
                <a:spcPct val="0"/>
              </a:spcBef>
              <a:defRPr/>
            </a:pPr>
            <a:endParaRPr lang="en-US" altLang="zh-CN" sz="1400" dirty="0">
              <a:latin typeface="微软雅黑" panose="020B0503020204020204" pitchFamily="34" charset="-122"/>
              <a:ea typeface="微软雅黑" panose="020B0503020204020204" pitchFamily="34" charset="-122"/>
            </a:endParaRPr>
          </a:p>
          <a:p>
            <a:pPr lvl="0">
              <a:spcBef>
                <a:spcPct val="0"/>
              </a:spcBef>
              <a:defRPr/>
            </a:pPr>
            <a:endParaRPr lang="en-US" altLang="zh-CN" sz="1400" dirty="0">
              <a:latin typeface="微软雅黑" panose="020B0503020204020204" pitchFamily="34" charset="-122"/>
              <a:ea typeface="微软雅黑" panose="020B0503020204020204" pitchFamily="34" charset="-122"/>
            </a:endParaRPr>
          </a:p>
          <a:p>
            <a:pPr lvl="0">
              <a:spcBef>
                <a:spcPct val="0"/>
              </a:spcBef>
              <a:defRPr/>
            </a:pPr>
            <a:endParaRPr lang="en-US" altLang="zh-CN" sz="1400" dirty="0">
              <a:latin typeface="微软雅黑" panose="020B0503020204020204" pitchFamily="34" charset="-122"/>
              <a:ea typeface="微软雅黑" panose="020B0503020204020204" pitchFamily="34" charset="-122"/>
            </a:endParaRPr>
          </a:p>
          <a:p>
            <a:pPr lvl="0">
              <a:spcBef>
                <a:spcPct val="0"/>
              </a:spcBef>
              <a:defRPr/>
            </a:pPr>
            <a:endParaRPr lang="en-US" altLang="zh-CN" sz="1400"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dirty="0">
              <a:latin typeface="微软雅黑" panose="020B0503020204020204" pitchFamily="34" charset="-122"/>
              <a:ea typeface="微软雅黑" panose="020B0503020204020204" pitchFamily="34" charset="-122"/>
            </a:endParaRPr>
          </a:p>
          <a:p>
            <a:pPr lvl="0">
              <a:spcBef>
                <a:spcPct val="0"/>
              </a:spcBef>
              <a:defRPr/>
            </a:pPr>
            <a:endParaRPr lang="en-US" altLang="zh-CN" sz="1400" dirty="0">
              <a:latin typeface="微软雅黑" panose="020B0503020204020204" pitchFamily="34" charset="-122"/>
              <a:ea typeface="微软雅黑" panose="020B0503020204020204" pitchFamily="34" charset="-122"/>
            </a:endParaRPr>
          </a:p>
          <a:p>
            <a:pPr lvl="0" algn="ctr">
              <a:spcBef>
                <a:spcPct val="0"/>
              </a:spcBef>
              <a:defRPr/>
            </a:pPr>
            <a:endParaRPr lang="en-US" altLang="zh-CN" sz="1400" b="1" dirty="0">
              <a:latin typeface="微软雅黑" panose="020B0503020204020204" pitchFamily="34" charset="-122"/>
              <a:ea typeface="微软雅黑" panose="020B0503020204020204" pitchFamily="34" charset="-122"/>
            </a:endParaRPr>
          </a:p>
          <a:p>
            <a:pPr lvl="0" algn="ctr">
              <a:spcBef>
                <a:spcPct val="0"/>
              </a:spcBef>
              <a:defRPr/>
            </a:pPr>
            <a:r>
              <a:rPr lang="zh-CN" altLang="en-US" sz="1400" b="1" dirty="0">
                <a:latin typeface="微软雅黑" panose="020B0503020204020204" pitchFamily="34" charset="-122"/>
                <a:ea typeface="微软雅黑" panose="020B0503020204020204" pitchFamily="34" charset="-122"/>
              </a:rPr>
              <a:t>轴心示意图</a:t>
            </a:r>
            <a:endParaRPr lang="en-US" altLang="zh-CN" sz="1400" b="1" dirty="0">
              <a:latin typeface="微软雅黑" panose="020B0503020204020204" pitchFamily="34" charset="-122"/>
              <a:ea typeface="微软雅黑" panose="020B0503020204020204" pitchFamily="34" charset="-122"/>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0" indent="-742950" algn="ctr">
              <a:spcBef>
                <a:spcPct val="0"/>
              </a:spcBef>
              <a:defRPr/>
            </a:pPr>
            <a:r>
              <a:rPr lang="zh-CN" altLang="en-US" sz="4000" dirty="0">
                <a:solidFill>
                  <a:schemeClr val="tx1"/>
                </a:solidFill>
                <a:latin typeface="微软雅黑" panose="020B0503020204020204" pitchFamily="34" charset="-122"/>
                <a:ea typeface="微软雅黑" panose="020B0503020204020204" pitchFamily="34" charset="-122"/>
              </a:rPr>
              <a:t>布局系统</a:t>
            </a:r>
            <a:endParaRPr lang="en-US" altLang="zh-CN" sz="4000" dirty="0">
              <a:solidFill>
                <a:schemeClr val="tx1"/>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95736" y="1580991"/>
            <a:ext cx="4752528" cy="4267351"/>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857892"/>
          </a:xfrm>
          <a:prstGeom prst="rect">
            <a:avLst/>
          </a:prstGeom>
        </p:spPr>
        <p:txBody>
          <a:bodyPr vert="horz" lIns="91440" tIns="45720" rIns="91440" bIns="45720" rtlCol="0" anchor="t">
            <a:noAutofit/>
          </a:bodyPr>
          <a:lstStyle/>
          <a:p>
            <a:pPr>
              <a:spcBef>
                <a:spcPct val="0"/>
              </a:spcBef>
              <a:defRPr/>
            </a:pPr>
            <a:r>
              <a:rPr lang="zh-CN" altLang="en-US" sz="1400" b="1" dirty="0">
                <a:latin typeface="微软雅黑" panose="020B0503020204020204" pitchFamily="34" charset="-122"/>
                <a:ea typeface="微软雅黑" panose="020B0503020204020204" pitchFamily="34" charset="-122"/>
              </a:rPr>
              <a:t>锚点：</a:t>
            </a:r>
            <a:r>
              <a:rPr lang="en-US" altLang="zh-CN" sz="1400" dirty="0">
                <a:latin typeface="微软雅黑" panose="020B0503020204020204" pitchFamily="34" charset="-122"/>
                <a:ea typeface="微软雅黑" panose="020B0503020204020204" pitchFamily="34" charset="-122"/>
              </a:rPr>
              <a:t>UI</a:t>
            </a:r>
            <a:r>
              <a:rPr lang="zh-CN" altLang="en-US" sz="1400" dirty="0">
                <a:latin typeface="微软雅黑" panose="020B0503020204020204" pitchFamily="34" charset="-122"/>
                <a:ea typeface="微软雅黑" panose="020B0503020204020204" pitchFamily="34" charset="-122"/>
              </a:rPr>
              <a:t>元素矩形框的位置和大小，以锚点在父物体的矩形框内的位置作为自身</a:t>
            </a:r>
            <a:r>
              <a:rPr lang="zh-CN" altLang="en-US" sz="1400" dirty="0">
                <a:solidFill>
                  <a:srgbClr val="C00000"/>
                </a:solidFill>
                <a:latin typeface="微软雅黑" panose="020B0503020204020204" pitchFamily="34" charset="-122"/>
                <a:ea typeface="微软雅黑" panose="020B0503020204020204" pitchFamily="34" charset="-122"/>
              </a:rPr>
              <a:t>偏移</a:t>
            </a:r>
            <a:r>
              <a:rPr lang="zh-CN" altLang="en-US" sz="1400" dirty="0">
                <a:latin typeface="微软雅黑" panose="020B0503020204020204" pitchFamily="34" charset="-122"/>
                <a:ea typeface="微软雅黑" panose="020B0503020204020204" pitchFamily="34" charset="-122"/>
              </a:rPr>
              <a:t>和</a:t>
            </a:r>
            <a:r>
              <a:rPr lang="zh-CN" altLang="en-US" sz="1400" dirty="0">
                <a:solidFill>
                  <a:srgbClr val="C00000"/>
                </a:solidFill>
                <a:latin typeface="微软雅黑" panose="020B0503020204020204" pitchFamily="34" charset="-122"/>
                <a:ea typeface="微软雅黑" panose="020B0503020204020204" pitchFamily="34" charset="-122"/>
              </a:rPr>
              <a:t>拉伸</a:t>
            </a:r>
            <a:r>
              <a:rPr lang="zh-CN" altLang="en-US" sz="1400" dirty="0">
                <a:latin typeface="微软雅黑" panose="020B0503020204020204" pitchFamily="34" charset="-122"/>
                <a:ea typeface="微软雅黑" panose="020B0503020204020204" pitchFamily="34" charset="-122"/>
              </a:rPr>
              <a:t>的参考。</a:t>
            </a:r>
            <a:endParaRPr lang="en-US" altLang="zh-CN" sz="1400" dirty="0">
              <a:latin typeface="微软雅黑" panose="020B0503020204020204" pitchFamily="34" charset="-122"/>
              <a:ea typeface="微软雅黑" panose="020B0503020204020204" pitchFamily="34" charset="-122"/>
            </a:endParaRPr>
          </a:p>
          <a:p>
            <a:pPr marL="285750" indent="-285750">
              <a:spcBef>
                <a:spcPct val="0"/>
              </a:spcBef>
              <a:buFont typeface="Arial" panose="020B0604020202020204" pitchFamily="34" charset="0"/>
              <a:buChar char="•"/>
              <a:defRPr/>
            </a:pPr>
            <a:r>
              <a:rPr lang="zh-CN" altLang="en-US" sz="1400" dirty="0">
                <a:latin typeface="微软雅黑" panose="020B0503020204020204" pitchFamily="34" charset="-122"/>
                <a:ea typeface="微软雅黑" panose="020B0503020204020204" pitchFamily="34" charset="-122"/>
              </a:rPr>
              <a:t>锚点在编辑视图里是四个小三角形（锚点控制柄），这四个小三角组成里了一个锚框。</a:t>
            </a:r>
            <a:endParaRPr lang="en-US" altLang="zh-CN" sz="1400" dirty="0">
              <a:latin typeface="微软雅黑" panose="020B0503020204020204" pitchFamily="34" charset="-122"/>
              <a:ea typeface="微软雅黑" panose="020B0503020204020204" pitchFamily="34" charset="-122"/>
            </a:endParaRPr>
          </a:p>
          <a:p>
            <a:pPr marL="285750" indent="-285750">
              <a:spcBef>
                <a:spcPct val="0"/>
              </a:spcBef>
              <a:buFont typeface="Arial" panose="020B0604020202020204" pitchFamily="34" charset="0"/>
              <a:buChar char="•"/>
              <a:defRPr/>
            </a:pPr>
            <a:r>
              <a:rPr lang="zh-CN" altLang="en-US" sz="1400" dirty="0">
                <a:latin typeface="微软雅黑" panose="020B0503020204020204" pitchFamily="34" charset="-122"/>
                <a:ea typeface="微软雅黑" panose="020B0503020204020204" pitchFamily="34" charset="-122"/>
              </a:rPr>
              <a:t>锚框的范围不能超过父类的矩形框，锚框的四个控制柄可以聚合到同一个位置。</a:t>
            </a:r>
            <a:endParaRPr lang="en-US" altLang="zh-CN" sz="1400"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r>
              <a:rPr lang="zh-CN" altLang="en-US" sz="1400" b="1" dirty="0">
                <a:latin typeface="微软雅黑" panose="020B0503020204020204" pitchFamily="34" charset="-122"/>
                <a:ea typeface="微软雅黑" panose="020B0503020204020204" pitchFamily="34" charset="-122"/>
              </a:rPr>
              <a:t>为了便于理解界面里的数值，我们给锚点定义了俩种形态：</a:t>
            </a:r>
            <a:r>
              <a:rPr lang="zh-CN" altLang="en-US" sz="1400" b="1" dirty="0">
                <a:solidFill>
                  <a:srgbClr val="C00000"/>
                </a:solidFill>
                <a:latin typeface="微软雅黑" panose="020B0503020204020204" pitchFamily="34" charset="-122"/>
                <a:ea typeface="微软雅黑" panose="020B0503020204020204" pitchFamily="34" charset="-122"/>
              </a:rPr>
              <a:t>锚点形态</a:t>
            </a:r>
            <a:r>
              <a:rPr lang="zh-CN" altLang="en-US" sz="1400" b="1" dirty="0">
                <a:latin typeface="微软雅黑" panose="020B0503020204020204" pitchFamily="34" charset="-122"/>
                <a:ea typeface="微软雅黑" panose="020B0503020204020204" pitchFamily="34" charset="-122"/>
              </a:rPr>
              <a:t>和</a:t>
            </a:r>
            <a:r>
              <a:rPr lang="zh-CN" altLang="en-US" sz="1400" b="1" dirty="0">
                <a:solidFill>
                  <a:srgbClr val="C00000"/>
                </a:solidFill>
                <a:latin typeface="微软雅黑" panose="020B0503020204020204" pitchFamily="34" charset="-122"/>
                <a:ea typeface="微软雅黑" panose="020B0503020204020204" pitchFamily="34" charset="-122"/>
              </a:rPr>
              <a:t>锚框形态</a:t>
            </a:r>
            <a:endParaRPr lang="en-US" altLang="zh-CN" sz="1400" b="1" dirty="0">
              <a:solidFill>
                <a:srgbClr val="C00000"/>
              </a:solidFill>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r>
              <a:rPr lang="zh-CN" altLang="en-US" sz="1400" b="1" dirty="0">
                <a:latin typeface="微软雅黑" panose="020B0503020204020204" pitchFamily="34" charset="-122"/>
                <a:ea typeface="微软雅黑" panose="020B0503020204020204" pitchFamily="34" charset="-122"/>
              </a:rPr>
              <a:t>锚点形态：</a:t>
            </a:r>
            <a:r>
              <a:rPr lang="zh-CN" altLang="en-US" sz="1400" dirty="0">
                <a:latin typeface="微软雅黑" panose="020B0503020204020204" pitchFamily="34" charset="-122"/>
                <a:ea typeface="微软雅黑" panose="020B0503020204020204" pitchFamily="34" charset="-122"/>
              </a:rPr>
              <a:t>物体的大小不会随着父物体的大小变化而变化，但是位置会根据轴心到锚点的距离一致的原则发生对应的变化。</a:t>
            </a:r>
            <a:endParaRPr lang="zh-CN" altLang="en-US" sz="1400"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lgn="ctr">
              <a:spcBef>
                <a:spcPct val="0"/>
              </a:spcBef>
              <a:defRPr/>
            </a:pPr>
            <a:endParaRPr lang="en-US" altLang="zh-CN" sz="1400" b="1" dirty="0">
              <a:latin typeface="微软雅黑" panose="020B0503020204020204" pitchFamily="34" charset="-122"/>
              <a:ea typeface="微软雅黑" panose="020B0503020204020204" pitchFamily="34" charset="-122"/>
            </a:endParaRPr>
          </a:p>
          <a:p>
            <a:pPr algn="ctr">
              <a:spcBef>
                <a:spcPct val="0"/>
              </a:spcBef>
              <a:defRPr/>
            </a:pPr>
            <a:r>
              <a:rPr lang="zh-CN" altLang="en-US" sz="1400" b="1" dirty="0">
                <a:latin typeface="微软雅黑" panose="020B0503020204020204" pitchFamily="34" charset="-122"/>
                <a:ea typeface="微软雅黑" panose="020B0503020204020204" pitchFamily="34" charset="-122"/>
              </a:rPr>
              <a:t>锚点形态下的</a:t>
            </a:r>
            <a:r>
              <a:rPr lang="en-US" altLang="zh-CN" sz="1400" b="1" dirty="0" err="1">
                <a:latin typeface="微软雅黑" panose="020B0503020204020204" pitchFamily="34" charset="-122"/>
                <a:ea typeface="微软雅黑" panose="020B0503020204020204" pitchFamily="34" charset="-122"/>
              </a:rPr>
              <a:t>Rect</a:t>
            </a:r>
            <a:r>
              <a:rPr lang="zh-CN" altLang="en-US" sz="1400" b="1" dirty="0">
                <a:latin typeface="微软雅黑" panose="020B0503020204020204" pitchFamily="34" charset="-122"/>
                <a:ea typeface="微软雅黑" panose="020B0503020204020204" pitchFamily="34" charset="-122"/>
              </a:rPr>
              <a:t>组件</a:t>
            </a:r>
            <a:endParaRPr lang="en-US" altLang="zh-CN" sz="1400" b="1" dirty="0">
              <a:latin typeface="微软雅黑" panose="020B0503020204020204" pitchFamily="34" charset="-122"/>
              <a:ea typeface="微软雅黑" panose="020B0503020204020204" pitchFamily="34" charset="-122"/>
            </a:endParaRPr>
          </a:p>
          <a:p>
            <a:pPr>
              <a:spcBef>
                <a:spcPct val="0"/>
              </a:spcBef>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a:spcBef>
                <a:spcPct val="0"/>
              </a:spcBef>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a:spcBef>
                <a:spcPct val="0"/>
              </a:spcBef>
              <a:defRPr/>
            </a:pPr>
            <a:r>
              <a:rPr lang="zh-CN" altLang="en-US" sz="1400" b="1" dirty="0">
                <a:latin typeface="微软雅黑" panose="020B0503020204020204" pitchFamily="34" charset="-122"/>
                <a:ea typeface="微软雅黑" panose="020B0503020204020204" pitchFamily="34" charset="-122"/>
              </a:rPr>
              <a:t>锚框形态：</a:t>
            </a:r>
            <a:r>
              <a:rPr lang="zh-CN" altLang="en-US" sz="1400" dirty="0">
                <a:latin typeface="微软雅黑" panose="020B0503020204020204" pitchFamily="34" charset="-122"/>
                <a:ea typeface="微软雅黑" panose="020B0503020204020204" pitchFamily="34" charset="-122"/>
              </a:rPr>
              <a:t>物体的大小会随着父物体的大小变化而变化。</a:t>
            </a: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algn="ctr">
              <a:spcBef>
                <a:spcPct val="0"/>
              </a:spcBef>
              <a:defRPr/>
            </a:pPr>
            <a:endParaRPr lang="en-US" altLang="zh-CN" sz="1400" b="1" dirty="0">
              <a:latin typeface="微软雅黑" panose="020B0503020204020204" pitchFamily="34" charset="-122"/>
              <a:ea typeface="微软雅黑" panose="020B0503020204020204" pitchFamily="34" charset="-122"/>
            </a:endParaRPr>
          </a:p>
          <a:p>
            <a:pPr algn="ctr">
              <a:spcBef>
                <a:spcPct val="0"/>
              </a:spcBef>
              <a:defRPr/>
            </a:pPr>
            <a:endParaRPr lang="en-US" altLang="zh-CN" sz="1400" b="1" dirty="0">
              <a:latin typeface="微软雅黑" panose="020B0503020204020204" pitchFamily="34" charset="-122"/>
              <a:ea typeface="微软雅黑" panose="020B0503020204020204" pitchFamily="34" charset="-122"/>
            </a:endParaRPr>
          </a:p>
          <a:p>
            <a:pPr algn="ctr">
              <a:spcBef>
                <a:spcPct val="0"/>
              </a:spcBef>
              <a:defRPr/>
            </a:pPr>
            <a:endParaRPr lang="en-US" altLang="zh-CN" sz="1400" b="1" dirty="0">
              <a:latin typeface="微软雅黑" panose="020B0503020204020204" pitchFamily="34" charset="-122"/>
              <a:ea typeface="微软雅黑" panose="020B0503020204020204" pitchFamily="34" charset="-122"/>
            </a:endParaRPr>
          </a:p>
          <a:p>
            <a:pPr algn="ctr">
              <a:spcBef>
                <a:spcPct val="0"/>
              </a:spcBef>
              <a:defRPr/>
            </a:pPr>
            <a:r>
              <a:rPr lang="zh-CN" altLang="en-US" sz="1400" b="1" dirty="0">
                <a:latin typeface="微软雅黑" panose="020B0503020204020204" pitchFamily="34" charset="-122"/>
                <a:ea typeface="微软雅黑" panose="020B0503020204020204" pitchFamily="34" charset="-122"/>
              </a:rPr>
              <a:t>锚框形态下的</a:t>
            </a:r>
            <a:r>
              <a:rPr lang="en-US" altLang="zh-CN" sz="1400" b="1" dirty="0" err="1">
                <a:latin typeface="微软雅黑" panose="020B0503020204020204" pitchFamily="34" charset="-122"/>
                <a:ea typeface="微软雅黑" panose="020B0503020204020204" pitchFamily="34" charset="-122"/>
              </a:rPr>
              <a:t>Rect</a:t>
            </a:r>
            <a:r>
              <a:rPr lang="zh-CN" altLang="en-US" sz="1400" b="1" dirty="0">
                <a:latin typeface="微软雅黑" panose="020B0503020204020204" pitchFamily="34" charset="-122"/>
                <a:ea typeface="微软雅黑" panose="020B0503020204020204" pitchFamily="34" charset="-122"/>
              </a:rPr>
              <a:t>组件</a:t>
            </a:r>
            <a:endParaRPr lang="en-US" altLang="zh-CN" sz="1400" b="1" dirty="0">
              <a:latin typeface="微软雅黑" panose="020B0503020204020204" pitchFamily="34" charset="-122"/>
              <a:ea typeface="微软雅黑" panose="020B0503020204020204" pitchFamily="34" charset="-122"/>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0" indent="-742950" algn="ctr">
              <a:spcBef>
                <a:spcPct val="0"/>
              </a:spcBef>
              <a:defRPr/>
            </a:pPr>
            <a:r>
              <a:rPr lang="zh-CN" altLang="en-US" sz="4000" dirty="0">
                <a:solidFill>
                  <a:schemeClr val="tx1"/>
                </a:solidFill>
                <a:latin typeface="微软雅黑" panose="020B0503020204020204" pitchFamily="34" charset="-122"/>
                <a:ea typeface="微软雅黑" panose="020B0503020204020204" pitchFamily="34" charset="-122"/>
              </a:rPr>
              <a:t>布局系统</a:t>
            </a:r>
            <a:endParaRPr lang="en-US" altLang="zh-CN" sz="4000" dirty="0">
              <a:solidFill>
                <a:schemeClr val="tx1"/>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28284" y="2816932"/>
            <a:ext cx="5280586" cy="1224136"/>
          </a:xfrm>
          <a:prstGeom prst="rect">
            <a:avLst/>
          </a:prstGeom>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2466" y="5085184"/>
            <a:ext cx="5280586" cy="1248138"/>
          </a:xfrm>
          <a:prstGeom prst="rect">
            <a:avLst/>
          </a:prstGeom>
        </p:spPr>
      </p:pic>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09131" y="1485471"/>
            <a:ext cx="527841" cy="42304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7"/>
            <a:ext cx="8429684" cy="5857893"/>
          </a:xfrm>
          <a:prstGeom prst="rect">
            <a:avLst/>
          </a:prstGeom>
        </p:spPr>
        <p:txBody>
          <a:bodyPr vert="horz" lIns="91440" tIns="45720" rIns="91440" bIns="45720" rtlCol="0" anchor="t">
            <a:noAutofit/>
          </a:bodyPr>
          <a:lstStyle/>
          <a:p>
            <a:pPr lvl="0" algn="ctr">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r>
              <a:rPr lang="zh-CN" altLang="en-US" sz="1400" b="1" dirty="0">
                <a:latin typeface="微软雅黑" panose="020B0503020204020204" pitchFamily="34" charset="-122"/>
                <a:ea typeface="微软雅黑" panose="020B0503020204020204" pitchFamily="34" charset="-122"/>
              </a:rPr>
              <a:t>锚框形态下界面里数值的意义</a:t>
            </a:r>
            <a:r>
              <a:rPr lang="zh-CN" altLang="en-US" sz="1400" dirty="0">
                <a:latin typeface="微软雅黑" panose="020B0503020204020204" pitchFamily="34" charset="-122"/>
                <a:ea typeface="微软雅黑" panose="020B0503020204020204" pitchFamily="34" charset="-122"/>
              </a:rPr>
              <a:t>：下图中，在黑框大小和位置变化的时候，会保证红框的左下角到锚框的左下角距离不变，同时红框的右上角到锚框的右上角距离不变。</a:t>
            </a: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a:p>
            <a:pPr lvl="0">
              <a:spcBef>
                <a:spcPct val="0"/>
              </a:spcBef>
              <a:defRPr/>
            </a:pPr>
            <a:r>
              <a:rPr lang="en-US" altLang="zh-CN" sz="1400" b="1" dirty="0">
                <a:latin typeface="微软雅黑" panose="020B0503020204020204" pitchFamily="34" charset="-122"/>
                <a:ea typeface="微软雅黑" panose="020B0503020204020204" pitchFamily="34" charset="-122"/>
              </a:rPr>
              <a:t>                   </a:t>
            </a:r>
            <a:r>
              <a:rPr lang="zh-CN" altLang="en-US" sz="1400" b="1" dirty="0">
                <a:latin typeface="微软雅黑" panose="020B0503020204020204" pitchFamily="34" charset="-122"/>
                <a:ea typeface="微软雅黑" panose="020B0503020204020204" pitchFamily="34" charset="-122"/>
              </a:rPr>
              <a:t>界面里</a:t>
            </a:r>
            <a:r>
              <a:rPr lang="en-US" altLang="zh-CN" sz="1400" b="1" dirty="0">
                <a:latin typeface="微软雅黑" panose="020B0503020204020204" pitchFamily="34" charset="-122"/>
                <a:ea typeface="微软雅黑" panose="020B0503020204020204" pitchFamily="34" charset="-122"/>
              </a:rPr>
              <a:t>Left Bottom</a:t>
            </a:r>
            <a:r>
              <a:rPr lang="zh-CN" altLang="en-US" sz="1400" b="1" dirty="0">
                <a:latin typeface="微软雅黑" panose="020B0503020204020204" pitchFamily="34" charset="-122"/>
                <a:ea typeface="微软雅黑" panose="020B0503020204020204" pitchFamily="34" charset="-122"/>
              </a:rPr>
              <a:t>值意义                                    界面里</a:t>
            </a:r>
            <a:r>
              <a:rPr lang="en-US" altLang="zh-CN" sz="1400" b="1" dirty="0">
                <a:latin typeface="微软雅黑" panose="020B0503020204020204" pitchFamily="34" charset="-122"/>
                <a:ea typeface="微软雅黑" panose="020B0503020204020204" pitchFamily="34" charset="-122"/>
              </a:rPr>
              <a:t>Right Top</a:t>
            </a:r>
            <a:r>
              <a:rPr lang="zh-CN" altLang="en-US" sz="1400" b="1" dirty="0">
                <a:latin typeface="微软雅黑" panose="020B0503020204020204" pitchFamily="34" charset="-122"/>
                <a:ea typeface="微软雅黑" panose="020B0503020204020204" pitchFamily="34" charset="-122"/>
              </a:rPr>
              <a:t>值的意义</a:t>
            </a:r>
            <a:endParaRPr lang="en-US" altLang="zh-CN" sz="1400" b="1" dirty="0">
              <a:latin typeface="微软雅黑" panose="020B0503020204020204" pitchFamily="34" charset="-122"/>
              <a:ea typeface="微软雅黑" panose="020B0503020204020204" pitchFamily="34" charset="-122"/>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0" indent="-742950" algn="ctr">
              <a:spcBef>
                <a:spcPct val="0"/>
              </a:spcBef>
              <a:defRPr/>
            </a:pPr>
            <a:r>
              <a:rPr lang="zh-CN" altLang="en-US" sz="4000" dirty="0">
                <a:solidFill>
                  <a:schemeClr val="tx1"/>
                </a:solidFill>
                <a:latin typeface="微软雅黑" panose="020B0503020204020204" pitchFamily="34" charset="-122"/>
                <a:ea typeface="微软雅黑" panose="020B0503020204020204" pitchFamily="34" charset="-122"/>
              </a:rPr>
              <a:t>布局系统</a:t>
            </a:r>
            <a:endParaRPr lang="en-US" altLang="zh-CN" sz="4000" dirty="0">
              <a:solidFill>
                <a:schemeClr val="tx1"/>
              </a:solidFill>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87895" y="1844824"/>
            <a:ext cx="3176872" cy="4501173"/>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95504" y="1836890"/>
            <a:ext cx="3176872" cy="450910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7"/>
            <a:ext cx="8429684" cy="5857893"/>
          </a:xfrm>
          <a:prstGeom prst="rect">
            <a:avLst/>
          </a:prstGeom>
        </p:spPr>
        <p:txBody>
          <a:bodyPr vert="horz" lIns="91440" tIns="45720" rIns="91440" bIns="45720" rtlCol="0" anchor="t">
            <a:noAutofit/>
          </a:bodyPr>
          <a:lstStyle/>
          <a:p>
            <a:pPr lvl="0">
              <a:spcBef>
                <a:spcPct val="0"/>
              </a:spcBef>
              <a:defRPr/>
            </a:pPr>
            <a:r>
              <a:rPr lang="zh-CN" altLang="en-US" sz="1600" b="1" dirty="0">
                <a:latin typeface="微软雅黑" panose="020B0503020204020204" pitchFamily="34" charset="-122"/>
                <a:ea typeface="微软雅黑" panose="020B0503020204020204" pitchFamily="34" charset="-122"/>
              </a:rPr>
              <a:t>锚点界面里数值的意义：</a:t>
            </a:r>
            <a:r>
              <a:rPr lang="en-US" altLang="zh-CN" sz="1600" dirty="0">
                <a:latin typeface="微软雅黑" panose="020B0503020204020204" pitchFamily="34" charset="-122"/>
                <a:ea typeface="微软雅黑" panose="020B0503020204020204" pitchFamily="34" charset="-122"/>
              </a:rPr>
              <a:t>Anchors</a:t>
            </a:r>
            <a:r>
              <a:rPr lang="zh-CN" altLang="en-US" sz="1600" dirty="0">
                <a:latin typeface="微软雅黑" panose="020B0503020204020204" pitchFamily="34" charset="-122"/>
                <a:ea typeface="微软雅黑" panose="020B0503020204020204" pitchFamily="34" charset="-122"/>
              </a:rPr>
              <a:t>的</a:t>
            </a:r>
            <a:r>
              <a:rPr lang="en-US" altLang="zh-CN" sz="1600" dirty="0">
                <a:latin typeface="微软雅黑" panose="020B0503020204020204" pitchFamily="34" charset="-122"/>
                <a:ea typeface="微软雅黑" panose="020B0503020204020204" pitchFamily="34" charset="-122"/>
              </a:rPr>
              <a:t>Min</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Max</a:t>
            </a:r>
            <a:r>
              <a:rPr lang="zh-CN" altLang="en-US" sz="1600" dirty="0">
                <a:latin typeface="微软雅黑" panose="020B0503020204020204" pitchFamily="34" charset="-122"/>
                <a:ea typeface="微软雅黑" panose="020B0503020204020204" pitchFamily="34" charset="-122"/>
              </a:rPr>
              <a:t>分别是正规化的值</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从</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到</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，表示占父矩形框的百分比。</a:t>
            </a:r>
            <a:endParaRPr lang="en-US" altLang="zh-CN" sz="1600" dirty="0">
              <a:latin typeface="微软雅黑" panose="020B0503020204020204" pitchFamily="34" charset="-122"/>
              <a:ea typeface="微软雅黑" panose="020B0503020204020204" pitchFamily="34" charset="-122"/>
            </a:endParaRPr>
          </a:p>
          <a:p>
            <a:pPr lvl="0">
              <a:spcBef>
                <a:spcPct val="0"/>
              </a:spcBef>
              <a:defRPr/>
            </a:pPr>
            <a:endParaRPr lang="en-US" altLang="zh-CN" sz="1600" b="1" dirty="0">
              <a:latin typeface="微软雅黑" panose="020B0503020204020204" pitchFamily="34" charset="-122"/>
              <a:ea typeface="微软雅黑" panose="020B0503020204020204" pitchFamily="34" charset="-122"/>
            </a:endParaRPr>
          </a:p>
          <a:p>
            <a:pPr lvl="0">
              <a:spcBef>
                <a:spcPct val="0"/>
              </a:spcBef>
              <a:defRPr/>
            </a:pPr>
            <a:endParaRPr lang="en-US" altLang="zh-CN" sz="1600" b="1" dirty="0">
              <a:latin typeface="微软雅黑" panose="020B0503020204020204" pitchFamily="34" charset="-122"/>
              <a:ea typeface="微软雅黑" panose="020B0503020204020204" pitchFamily="34" charset="-122"/>
            </a:endParaRPr>
          </a:p>
          <a:p>
            <a:pPr lvl="0">
              <a:spcBef>
                <a:spcPct val="0"/>
              </a:spcBef>
              <a:defRPr/>
            </a:pPr>
            <a:endParaRPr lang="en-US" altLang="zh-CN" sz="1600" b="1" dirty="0">
              <a:latin typeface="微软雅黑" panose="020B0503020204020204" pitchFamily="34" charset="-122"/>
              <a:ea typeface="微软雅黑" panose="020B0503020204020204" pitchFamily="34" charset="-122"/>
            </a:endParaRPr>
          </a:p>
          <a:p>
            <a:pPr lvl="0">
              <a:spcBef>
                <a:spcPct val="0"/>
              </a:spcBef>
              <a:defRPr/>
            </a:pPr>
            <a:endParaRPr lang="en-US" altLang="zh-CN" sz="1600" b="1" dirty="0">
              <a:latin typeface="微软雅黑" panose="020B0503020204020204" pitchFamily="34" charset="-122"/>
              <a:ea typeface="微软雅黑" panose="020B0503020204020204" pitchFamily="34" charset="-122"/>
            </a:endParaRPr>
          </a:p>
          <a:p>
            <a:pPr lvl="0">
              <a:spcBef>
                <a:spcPct val="0"/>
              </a:spcBef>
              <a:defRPr/>
            </a:pPr>
            <a:endParaRPr lang="en-US" altLang="zh-CN" sz="1600" b="1" dirty="0">
              <a:latin typeface="微软雅黑" panose="020B0503020204020204" pitchFamily="34" charset="-122"/>
              <a:ea typeface="微软雅黑" panose="020B0503020204020204" pitchFamily="34" charset="-122"/>
            </a:endParaRPr>
          </a:p>
          <a:p>
            <a:pPr lvl="0">
              <a:spcBef>
                <a:spcPct val="0"/>
              </a:spcBef>
              <a:defRPr/>
            </a:pPr>
            <a:endParaRPr lang="en-US" altLang="zh-CN" sz="1600" b="1" dirty="0">
              <a:latin typeface="微软雅黑" panose="020B0503020204020204" pitchFamily="34" charset="-122"/>
              <a:ea typeface="微软雅黑" panose="020B0503020204020204" pitchFamily="34" charset="-122"/>
            </a:endParaRPr>
          </a:p>
          <a:p>
            <a:pPr lvl="0">
              <a:spcBef>
                <a:spcPct val="0"/>
              </a:spcBef>
              <a:defRPr/>
            </a:pPr>
            <a:endParaRPr lang="en-US" altLang="zh-CN" sz="1600" b="1" dirty="0">
              <a:latin typeface="微软雅黑" panose="020B0503020204020204" pitchFamily="34" charset="-122"/>
              <a:ea typeface="微软雅黑" panose="020B0503020204020204" pitchFamily="34" charset="-122"/>
            </a:endParaRPr>
          </a:p>
          <a:p>
            <a:pPr lvl="0">
              <a:spcBef>
                <a:spcPct val="0"/>
              </a:spcBef>
              <a:defRPr/>
            </a:pPr>
            <a:endParaRPr lang="en-US" altLang="zh-CN" sz="1600" b="1" dirty="0">
              <a:latin typeface="微软雅黑" panose="020B0503020204020204" pitchFamily="34" charset="-122"/>
              <a:ea typeface="微软雅黑" panose="020B0503020204020204" pitchFamily="34" charset="-122"/>
            </a:endParaRPr>
          </a:p>
          <a:p>
            <a:pPr lvl="0">
              <a:spcBef>
                <a:spcPct val="0"/>
              </a:spcBef>
              <a:defRPr/>
            </a:pPr>
            <a:endParaRPr lang="en-US" altLang="zh-CN" sz="1600" b="1" dirty="0">
              <a:latin typeface="微软雅黑" panose="020B0503020204020204" pitchFamily="34" charset="-122"/>
              <a:ea typeface="微软雅黑" panose="020B0503020204020204" pitchFamily="34" charset="-122"/>
            </a:endParaRPr>
          </a:p>
          <a:p>
            <a:pPr lvl="0">
              <a:spcBef>
                <a:spcPct val="0"/>
              </a:spcBef>
              <a:defRPr/>
            </a:pPr>
            <a:endParaRPr lang="en-US" altLang="zh-CN" sz="1600" b="1" dirty="0">
              <a:latin typeface="微软雅黑" panose="020B0503020204020204" pitchFamily="34" charset="-122"/>
              <a:ea typeface="微软雅黑" panose="020B0503020204020204" pitchFamily="34" charset="-122"/>
            </a:endParaRPr>
          </a:p>
          <a:p>
            <a:pPr lvl="0">
              <a:spcBef>
                <a:spcPct val="0"/>
              </a:spcBef>
              <a:defRPr/>
            </a:pPr>
            <a:endParaRPr lang="en-US" altLang="zh-CN" sz="1600" b="1" dirty="0">
              <a:latin typeface="微软雅黑" panose="020B0503020204020204" pitchFamily="34" charset="-122"/>
              <a:ea typeface="微软雅黑" panose="020B0503020204020204" pitchFamily="34" charset="-122"/>
            </a:endParaRPr>
          </a:p>
          <a:p>
            <a:pPr lvl="0">
              <a:spcBef>
                <a:spcPct val="0"/>
              </a:spcBef>
              <a:defRPr/>
            </a:pPr>
            <a:endParaRPr lang="en-US" altLang="zh-CN" sz="1600" b="1" dirty="0">
              <a:latin typeface="微软雅黑" panose="020B0503020204020204" pitchFamily="34" charset="-122"/>
              <a:ea typeface="微软雅黑" panose="020B0503020204020204" pitchFamily="34" charset="-122"/>
            </a:endParaRPr>
          </a:p>
          <a:p>
            <a:pPr lvl="0">
              <a:spcBef>
                <a:spcPct val="0"/>
              </a:spcBef>
              <a:defRPr/>
            </a:pPr>
            <a:endParaRPr lang="en-US" altLang="zh-CN" sz="1600" b="1" dirty="0">
              <a:latin typeface="微软雅黑" panose="020B0503020204020204" pitchFamily="34" charset="-122"/>
              <a:ea typeface="微软雅黑" panose="020B0503020204020204" pitchFamily="34" charset="-122"/>
            </a:endParaRPr>
          </a:p>
          <a:p>
            <a:pPr lvl="0">
              <a:spcBef>
                <a:spcPct val="0"/>
              </a:spcBef>
              <a:defRPr/>
            </a:pPr>
            <a:endParaRPr lang="en-US" altLang="zh-CN" sz="1600" b="1" dirty="0">
              <a:latin typeface="微软雅黑" panose="020B0503020204020204" pitchFamily="34" charset="-122"/>
              <a:ea typeface="微软雅黑" panose="020B0503020204020204" pitchFamily="34" charset="-122"/>
            </a:endParaRPr>
          </a:p>
          <a:p>
            <a:pPr lvl="0">
              <a:spcBef>
                <a:spcPct val="0"/>
              </a:spcBef>
              <a:defRPr/>
            </a:pPr>
            <a:endParaRPr lang="en-US" altLang="zh-CN" sz="1600" b="1" dirty="0">
              <a:latin typeface="微软雅黑" panose="020B0503020204020204" pitchFamily="34" charset="-122"/>
              <a:ea typeface="微软雅黑" panose="020B0503020204020204" pitchFamily="34" charset="-122"/>
            </a:endParaRPr>
          </a:p>
          <a:p>
            <a:pPr lvl="0">
              <a:spcBef>
                <a:spcPct val="0"/>
              </a:spcBef>
              <a:defRPr/>
            </a:pPr>
            <a:endParaRPr lang="en-US" altLang="zh-CN" sz="1600" b="1" dirty="0">
              <a:latin typeface="微软雅黑" panose="020B0503020204020204" pitchFamily="34" charset="-122"/>
              <a:ea typeface="微软雅黑" panose="020B0503020204020204" pitchFamily="34" charset="-122"/>
            </a:endParaRPr>
          </a:p>
          <a:p>
            <a:pPr lvl="0">
              <a:spcBef>
                <a:spcPct val="0"/>
              </a:spcBef>
              <a:defRPr/>
            </a:pPr>
            <a:endParaRPr lang="en-US" altLang="zh-CN" sz="1600" b="1" dirty="0">
              <a:latin typeface="微软雅黑" panose="020B0503020204020204" pitchFamily="34" charset="-122"/>
              <a:ea typeface="微软雅黑" panose="020B0503020204020204" pitchFamily="34" charset="-122"/>
            </a:endParaRPr>
          </a:p>
          <a:p>
            <a:pPr lvl="0">
              <a:spcBef>
                <a:spcPct val="0"/>
              </a:spcBef>
              <a:defRPr/>
            </a:pPr>
            <a:endParaRPr lang="en-US" altLang="zh-CN" sz="1600" b="1" dirty="0">
              <a:latin typeface="微软雅黑" panose="020B0503020204020204" pitchFamily="34" charset="-122"/>
              <a:ea typeface="微软雅黑" panose="020B0503020204020204" pitchFamily="34" charset="-122"/>
            </a:endParaRPr>
          </a:p>
          <a:p>
            <a:pPr lvl="0">
              <a:spcBef>
                <a:spcPct val="0"/>
              </a:spcBef>
              <a:defRPr/>
            </a:pPr>
            <a:endParaRPr lang="en-US" altLang="zh-CN" sz="1600" b="1" dirty="0">
              <a:latin typeface="微软雅黑" panose="020B0503020204020204" pitchFamily="34" charset="-122"/>
              <a:ea typeface="微软雅黑" panose="020B0503020204020204" pitchFamily="34" charset="-122"/>
            </a:endParaRPr>
          </a:p>
          <a:p>
            <a:pPr lvl="0">
              <a:spcBef>
                <a:spcPct val="0"/>
              </a:spcBef>
              <a:defRPr/>
            </a:pPr>
            <a:endParaRPr lang="en-US" altLang="zh-CN" sz="1600" b="1" dirty="0">
              <a:latin typeface="微软雅黑" panose="020B0503020204020204" pitchFamily="34" charset="-122"/>
              <a:ea typeface="微软雅黑" panose="020B0503020204020204" pitchFamily="34" charset="-122"/>
            </a:endParaRPr>
          </a:p>
          <a:p>
            <a:pPr lvl="0" algn="ctr">
              <a:spcBef>
                <a:spcPct val="0"/>
              </a:spcBef>
              <a:defRPr/>
            </a:pPr>
            <a:r>
              <a:rPr lang="en-US" altLang="zh-CN" sz="1600" b="1" dirty="0">
                <a:latin typeface="微软雅黑" panose="020B0503020204020204" pitchFamily="34" charset="-122"/>
                <a:ea typeface="微软雅黑" panose="020B0503020204020204" pitchFamily="34" charset="-122"/>
              </a:rPr>
              <a:t>Min</a:t>
            </a:r>
            <a:r>
              <a:rPr lang="en-US" altLang="zh-CN" sz="1600" dirty="0">
                <a:latin typeface="微软雅黑" panose="020B0503020204020204" pitchFamily="34" charset="-122"/>
                <a:ea typeface="微软雅黑" panose="020B0503020204020204" pitchFamily="34" charset="-122"/>
              </a:rPr>
              <a:t>=(0.1, 0.1)	</a:t>
            </a:r>
            <a:r>
              <a:rPr lang="en-US" altLang="zh-CN" sz="1600" b="1" dirty="0">
                <a:latin typeface="微软雅黑" panose="020B0503020204020204" pitchFamily="34" charset="-122"/>
                <a:ea typeface="微软雅黑" panose="020B0503020204020204" pitchFamily="34" charset="-122"/>
              </a:rPr>
              <a:t>Max</a:t>
            </a:r>
            <a:r>
              <a:rPr lang="en-US" altLang="zh-CN" sz="1600" dirty="0">
                <a:latin typeface="微软雅黑" panose="020B0503020204020204" pitchFamily="34" charset="-122"/>
                <a:ea typeface="微软雅黑" panose="020B0503020204020204" pitchFamily="34" charset="-122"/>
              </a:rPr>
              <a:t>=(0.9, 0.9)</a:t>
            </a:r>
            <a:endParaRPr lang="en-US" altLang="zh-CN" sz="1600" b="1" dirty="0">
              <a:latin typeface="微软雅黑" panose="020B0503020204020204" pitchFamily="34" charset="-122"/>
              <a:ea typeface="微软雅黑" panose="020B0503020204020204" pitchFamily="34" charset="-122"/>
            </a:endParaRPr>
          </a:p>
          <a:p>
            <a:pPr lvl="0">
              <a:spcBef>
                <a:spcPct val="0"/>
              </a:spcBef>
              <a:defRPr/>
            </a:pPr>
            <a:endParaRPr lang="en-US" altLang="zh-CN" sz="1600" b="1" dirty="0">
              <a:latin typeface="微软雅黑" panose="020B0503020204020204" pitchFamily="34" charset="-122"/>
              <a:ea typeface="微软雅黑" panose="020B0503020204020204" pitchFamily="34" charset="-122"/>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0" indent="-742950" algn="ctr">
              <a:spcBef>
                <a:spcPct val="0"/>
              </a:spcBef>
              <a:defRPr/>
            </a:pPr>
            <a:r>
              <a:rPr lang="zh-CN" altLang="en-US" sz="4000" dirty="0">
                <a:solidFill>
                  <a:schemeClr val="tx1"/>
                </a:solidFill>
                <a:latin typeface="微软雅黑" panose="020B0503020204020204" pitchFamily="34" charset="-122"/>
                <a:ea typeface="微软雅黑" panose="020B0503020204020204" pitchFamily="34" charset="-122"/>
              </a:rPr>
              <a:t>布局系统</a:t>
            </a:r>
            <a:endParaRPr lang="en-US" altLang="zh-CN" sz="4000" dirty="0">
              <a:solidFill>
                <a:schemeClr val="tx1"/>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67644" y="1700808"/>
            <a:ext cx="6408712" cy="46014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643602"/>
          </a:xfrm>
          <a:prstGeom prst="rect">
            <a:avLst/>
          </a:prstGeom>
        </p:spPr>
        <p:txBody>
          <a:bodyPr vert="horz" lIns="91440" tIns="45720" rIns="91440" bIns="45720" rtlCol="0" anchor="t">
            <a:normAutofit/>
          </a:bodyPr>
          <a:lstStyle/>
          <a:p>
            <a:pPr marL="0" marR="0" lvl="0" indent="0" defTabSz="914400" rtl="0" eaLnBrk="1" fontAlgn="auto" latinLnBrk="0" hangingPunct="1">
              <a:lnSpc>
                <a:spcPct val="100000"/>
              </a:lnSpc>
              <a:spcBef>
                <a:spcPct val="0"/>
              </a:spcBef>
              <a:spcAft>
                <a:spcPts val="0"/>
              </a:spcAft>
              <a:buClrTx/>
              <a:buSzTx/>
              <a:buFontTx/>
              <a:buNone/>
              <a:defRPr/>
            </a:pPr>
            <a:r>
              <a:rPr kumimoji="0" lang="zh-CN" altLang="en-US" sz="1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j-cs"/>
              </a:rPr>
              <a:t>为了更加直观的观察锚点，我们把位置关系映射到里四个顶点上（观看</a:t>
            </a:r>
            <a:r>
              <a:rPr kumimoji="0" lang="en-US" altLang="zh-CN" sz="1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j-cs"/>
              </a:rPr>
              <a:t>GIF</a:t>
            </a:r>
            <a:r>
              <a:rPr kumimoji="0" lang="zh-CN" altLang="en-US" sz="1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j-cs"/>
              </a:rPr>
              <a:t>动图）</a:t>
            </a:r>
            <a:endParaRPr kumimoji="0" lang="en-US" altLang="zh-CN" sz="14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j-cs"/>
            </a:endParaRPr>
          </a:p>
          <a:p>
            <a:pPr>
              <a:spcBef>
                <a:spcPct val="0"/>
              </a:spcBef>
              <a:defRPr/>
            </a:pPr>
            <a:endParaRPr lang="en-US" altLang="zh-CN" sz="1400" dirty="0">
              <a:latin typeface="微软雅黑" panose="020B0503020204020204" pitchFamily="34" charset="-122"/>
              <a:ea typeface="微软雅黑" panose="020B0503020204020204" pitchFamily="34" charset="-122"/>
            </a:endParaRPr>
          </a:p>
          <a:p>
            <a:pPr marL="0" marR="0" lvl="0" indent="0" defTabSz="914400" rtl="0" eaLnBrk="1" fontAlgn="auto" latinLnBrk="0" hangingPunct="1">
              <a:lnSpc>
                <a:spcPct val="100000"/>
              </a:lnSpc>
              <a:spcBef>
                <a:spcPct val="0"/>
              </a:spcBef>
              <a:spcAft>
                <a:spcPts val="0"/>
              </a:spcAft>
              <a:buClrTx/>
              <a:buSzTx/>
              <a:buFontTx/>
              <a:buNone/>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0" indent="-742950" algn="ctr">
              <a:spcBef>
                <a:spcPct val="0"/>
              </a:spcBef>
              <a:defRPr/>
            </a:pPr>
            <a:r>
              <a:rPr lang="zh-CN" altLang="en-US" sz="4000" dirty="0">
                <a:solidFill>
                  <a:schemeClr val="tx1"/>
                </a:solidFill>
                <a:latin typeface="微软雅黑" panose="020B0503020204020204" pitchFamily="34" charset="-122"/>
                <a:ea typeface="微软雅黑" panose="020B0503020204020204" pitchFamily="34" charset="-122"/>
              </a:rPr>
              <a:t>布局系统</a:t>
            </a:r>
            <a:endParaRPr lang="en-US" altLang="zh-CN" sz="4000" dirty="0">
              <a:solidFill>
                <a:schemeClr val="tx1"/>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32579" y="1432598"/>
            <a:ext cx="3366374" cy="2448272"/>
          </a:xfrm>
          <a:prstGeom prst="rect">
            <a:avLst/>
          </a:prstGeom>
        </p:spPr>
      </p:pic>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87018" y="1432598"/>
            <a:ext cx="3366374" cy="2448272"/>
          </a:xfrm>
          <a:prstGeom prst="rect">
            <a:avLst/>
          </a:prstGeom>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2579" y="4085628"/>
            <a:ext cx="3366374" cy="2448272"/>
          </a:xfrm>
          <a:prstGeom prst="rect">
            <a:avLst/>
          </a:prstGeom>
        </p:spPr>
      </p:pic>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87018" y="4085628"/>
            <a:ext cx="3366374" cy="2448272"/>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643602"/>
          </a:xfrm>
          <a:prstGeom prst="rect">
            <a:avLst/>
          </a:prstGeom>
        </p:spPr>
        <p:txBody>
          <a:bodyPr vert="horz" lIns="91440" tIns="45720" rIns="91440" bIns="45720" rtlCol="0" anchor="t">
            <a:normAutofit/>
          </a:bodyPr>
          <a:lstStyle/>
          <a:p>
            <a:pPr marL="0" marR="0" lvl="0" indent="0" defTabSz="914400" rtl="0" eaLnBrk="1" fontAlgn="auto" latinLnBrk="0" hangingPunct="1">
              <a:lnSpc>
                <a:spcPct val="100000"/>
              </a:lnSpc>
              <a:spcBef>
                <a:spcPct val="0"/>
              </a:spcBef>
              <a:spcAft>
                <a:spcPts val="0"/>
              </a:spcAft>
              <a:buClrTx/>
              <a:buSzTx/>
              <a:buFontTx/>
              <a:buNone/>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lang="en-US" altLang="zh-CN" sz="1400" b="1" dirty="0">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lang="en-US" altLang="zh-CN" sz="1400" b="1" dirty="0">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lang="en-US" altLang="zh-CN" sz="1400" b="1" dirty="0">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lang="en-US" altLang="zh-CN" sz="1400" b="1" dirty="0">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lang="en-US" altLang="zh-CN" sz="1400" b="1" dirty="0">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lang="en-US" altLang="zh-CN" sz="1400" b="1" dirty="0">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lang="en-US" altLang="zh-CN" sz="1400" b="1" dirty="0">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lang="en-US" altLang="zh-CN" sz="1400" b="1" dirty="0">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lang="en-US" altLang="zh-CN" sz="1400" b="1" dirty="0">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lang="en-US" altLang="zh-CN" sz="1400" b="1" dirty="0">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lang="en-US" altLang="zh-CN" sz="1400" b="1" dirty="0">
              <a:latin typeface="微软雅黑" panose="020B0503020204020204" pitchFamily="34" charset="-122"/>
              <a:ea typeface="微软雅黑" panose="020B0503020204020204" pitchFamily="34" charset="-122"/>
              <a:cs typeface="+mj-cs"/>
            </a:endParaRPr>
          </a:p>
          <a:p>
            <a:pPr marL="0" marR="0" lvl="0" indent="0" algn="ctr" defTabSz="914400" rtl="0" eaLnBrk="1" fontAlgn="auto" latinLnBrk="0" hangingPunct="1">
              <a:lnSpc>
                <a:spcPct val="100000"/>
              </a:lnSpc>
              <a:spcBef>
                <a:spcPct val="0"/>
              </a:spcBef>
              <a:spcAft>
                <a:spcPts val="0"/>
              </a:spcAft>
              <a:buClrTx/>
              <a:buSzTx/>
              <a:buFontTx/>
              <a:buNone/>
              <a:defRPr/>
            </a:pPr>
            <a:endParaRPr lang="en-US" altLang="zh-CN" sz="1400" b="1" dirty="0">
              <a:latin typeface="微软雅黑" panose="020B0503020204020204" pitchFamily="34" charset="-122"/>
              <a:ea typeface="微软雅黑" panose="020B0503020204020204" pitchFamily="34" charset="-122"/>
              <a:cs typeface="+mj-cs"/>
            </a:endParaRPr>
          </a:p>
          <a:p>
            <a:pPr marL="0" marR="0" lvl="0" indent="0" algn="ctr" defTabSz="914400" rtl="0" eaLnBrk="1" fontAlgn="auto" latinLnBrk="0" hangingPunct="1">
              <a:lnSpc>
                <a:spcPct val="100000"/>
              </a:lnSpc>
              <a:spcBef>
                <a:spcPct val="0"/>
              </a:spcBef>
              <a:spcAft>
                <a:spcPts val="0"/>
              </a:spcAft>
              <a:buClrTx/>
              <a:buSzTx/>
              <a:buFontTx/>
              <a:buNone/>
              <a:defRPr/>
            </a:pPr>
            <a:endParaRPr lang="en-US" altLang="zh-CN" sz="1400" b="1" dirty="0">
              <a:latin typeface="微软雅黑" panose="020B0503020204020204" pitchFamily="34" charset="-122"/>
              <a:ea typeface="微软雅黑" panose="020B0503020204020204" pitchFamily="34" charset="-122"/>
              <a:cs typeface="+mj-cs"/>
            </a:endParaRPr>
          </a:p>
          <a:p>
            <a:pPr marL="0" marR="0" lvl="0" indent="0" algn="ctr" defTabSz="914400" rtl="0" eaLnBrk="1" fontAlgn="auto" latinLnBrk="0" hangingPunct="1">
              <a:lnSpc>
                <a:spcPct val="100000"/>
              </a:lnSpc>
              <a:spcBef>
                <a:spcPct val="0"/>
              </a:spcBef>
              <a:spcAft>
                <a:spcPts val="0"/>
              </a:spcAft>
              <a:buClrTx/>
              <a:buSzTx/>
              <a:buFontTx/>
              <a:buNone/>
              <a:defRPr/>
            </a:pPr>
            <a:r>
              <a:rPr lang="en-US" altLang="zh-CN" sz="1400" b="1" dirty="0" err="1">
                <a:latin typeface="微软雅黑" panose="020B0503020204020204" pitchFamily="34" charset="-122"/>
                <a:ea typeface="微软雅黑" panose="020B0503020204020204" pitchFamily="34" charset="-122"/>
                <a:cs typeface="+mj-cs"/>
              </a:rPr>
              <a:t>RectTransform</a:t>
            </a:r>
            <a:r>
              <a:rPr lang="zh-CN" altLang="en-US" sz="1400" b="1" dirty="0">
                <a:latin typeface="微软雅黑" panose="020B0503020204020204" pitchFamily="34" charset="-122"/>
                <a:ea typeface="微软雅黑" panose="020B0503020204020204" pitchFamily="34" charset="-122"/>
                <a:cs typeface="+mj-cs"/>
              </a:rPr>
              <a:t>组件重要属性</a:t>
            </a: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marL="285750" indent="-285750">
              <a:spcBef>
                <a:spcPct val="0"/>
              </a:spcBef>
              <a:buFont typeface="Arial" panose="020B0604020202020204" pitchFamily="34" charset="0"/>
              <a:buChar char="•"/>
              <a:defRPr/>
            </a:pPr>
            <a:endParaRPr lang="en-US" altLang="zh-CN" sz="1400" dirty="0">
              <a:latin typeface="微软雅黑" panose="020B0503020204020204" pitchFamily="34" charset="-122"/>
              <a:ea typeface="微软雅黑" panose="020B0503020204020204" pitchFamily="34" charset="-122"/>
            </a:endParaRPr>
          </a:p>
          <a:p>
            <a:pPr marL="0" marR="0" lvl="0" indent="0" defTabSz="914400" rtl="0" eaLnBrk="1" fontAlgn="auto" latinLnBrk="0" hangingPunct="1">
              <a:lnSpc>
                <a:spcPct val="100000"/>
              </a:lnSpc>
              <a:spcBef>
                <a:spcPct val="0"/>
              </a:spcBef>
              <a:spcAft>
                <a:spcPts val="0"/>
              </a:spcAft>
              <a:buClrTx/>
              <a:buSzTx/>
              <a:buFontTx/>
              <a:buNone/>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0" indent="-742950" algn="ctr">
              <a:spcBef>
                <a:spcPct val="0"/>
              </a:spcBef>
              <a:defRPr/>
            </a:pPr>
            <a:r>
              <a:rPr lang="zh-CN" altLang="en-US" sz="4000" dirty="0">
                <a:solidFill>
                  <a:schemeClr val="tx1"/>
                </a:solidFill>
                <a:latin typeface="微软雅黑" panose="020B0503020204020204" pitchFamily="34" charset="-122"/>
                <a:ea typeface="微软雅黑" panose="020B0503020204020204" pitchFamily="34" charset="-122"/>
              </a:rPr>
              <a:t>布局系统</a:t>
            </a:r>
            <a:endParaRPr lang="en-US" altLang="zh-CN" sz="4000" dirty="0">
              <a:solidFill>
                <a:schemeClr val="tx1"/>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43708" y="1052736"/>
            <a:ext cx="5256584" cy="5205749"/>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643602"/>
          </a:xfrm>
          <a:prstGeom prst="rect">
            <a:avLst/>
          </a:prstGeom>
        </p:spPr>
        <p:txBody>
          <a:bodyPr vert="horz" lIns="91440" tIns="45720" rIns="91440" bIns="45720" rtlCol="0" anchor="t">
            <a:noAutofit/>
          </a:bodyPr>
          <a:lstStyle/>
          <a:p>
            <a:pPr>
              <a:spcBef>
                <a:spcPct val="0"/>
              </a:spcBef>
              <a:defRPr/>
            </a:pPr>
            <a:endParaRPr lang="en-US" altLang="zh-CN" sz="1600" b="1" dirty="0">
              <a:solidFill>
                <a:srgbClr val="C00000"/>
              </a:solidFill>
              <a:latin typeface="微软雅黑" panose="020B0503020204020204" pitchFamily="34" charset="-122"/>
              <a:ea typeface="微软雅黑" panose="020B0503020204020204" pitchFamily="34" charset="-122"/>
            </a:endParaRPr>
          </a:p>
          <a:p>
            <a:pPr>
              <a:spcBef>
                <a:spcPct val="0"/>
              </a:spcBef>
              <a:defRPr/>
            </a:pPr>
            <a:endParaRPr lang="en-US" altLang="zh-CN" sz="1600" b="1" dirty="0">
              <a:solidFill>
                <a:srgbClr val="C00000"/>
              </a:solidFill>
              <a:latin typeface="微软雅黑" panose="020B0503020204020204" pitchFamily="34" charset="-122"/>
              <a:ea typeface="微软雅黑" panose="020B0503020204020204" pitchFamily="34" charset="-122"/>
            </a:endParaRPr>
          </a:p>
          <a:p>
            <a:pPr>
              <a:spcBef>
                <a:spcPct val="0"/>
              </a:spcBef>
              <a:defRPr/>
            </a:pPr>
            <a:endParaRPr lang="en-US" altLang="zh-CN" sz="1600" b="1" dirty="0">
              <a:solidFill>
                <a:srgbClr val="C00000"/>
              </a:solidFill>
              <a:latin typeface="微软雅黑" panose="020B0503020204020204" pitchFamily="34" charset="-122"/>
              <a:ea typeface="微软雅黑" panose="020B0503020204020204" pitchFamily="34" charset="-122"/>
            </a:endParaRPr>
          </a:p>
          <a:p>
            <a:pPr>
              <a:spcBef>
                <a:spcPct val="0"/>
              </a:spcBef>
              <a:defRPr/>
            </a:pPr>
            <a:endParaRPr lang="en-US" altLang="zh-CN" sz="1600" dirty="0">
              <a:latin typeface="微软雅黑" panose="020B0503020204020204" pitchFamily="34" charset="-122"/>
              <a:ea typeface="微软雅黑" panose="020B0503020204020204" pitchFamily="34" charset="-122"/>
            </a:endParaRPr>
          </a:p>
          <a:p>
            <a:pPr>
              <a:spcBef>
                <a:spcPct val="0"/>
              </a:spcBef>
              <a:defRPr/>
            </a:pPr>
            <a:r>
              <a:rPr lang="zh-CN" altLang="en-US" sz="1600" dirty="0">
                <a:latin typeface="微软雅黑" panose="020B0503020204020204" pitchFamily="34" charset="-122"/>
                <a:ea typeface="微软雅黑" panose="020B0503020204020204" pitchFamily="34" charset="-122"/>
              </a:rPr>
              <a:t>轴心点就是</a:t>
            </a:r>
            <a:r>
              <a:rPr lang="en-US" altLang="zh-CN" sz="1600" dirty="0">
                <a:latin typeface="微软雅黑" panose="020B0503020204020204" pitchFamily="34" charset="-122"/>
                <a:ea typeface="微软雅黑" panose="020B0503020204020204" pitchFamily="34" charset="-122"/>
              </a:rPr>
              <a:t>UI</a:t>
            </a:r>
            <a:r>
              <a:rPr lang="zh-CN" altLang="en-US" sz="1600" dirty="0">
                <a:latin typeface="微软雅黑" panose="020B0503020204020204" pitchFamily="34" charset="-122"/>
                <a:ea typeface="微软雅黑" panose="020B0503020204020204" pitchFamily="34" charset="-122"/>
              </a:rPr>
              <a:t>元素旋转和缩放的基准点。</a:t>
            </a:r>
            <a:endParaRPr lang="en-US" altLang="zh-CN" sz="1600" b="1" dirty="0">
              <a:latin typeface="微软雅黑" panose="020B0503020204020204" pitchFamily="34" charset="-122"/>
              <a:ea typeface="微软雅黑" panose="020B0503020204020204" pitchFamily="34" charset="-122"/>
            </a:endParaRPr>
          </a:p>
          <a:p>
            <a:pPr>
              <a:spcBef>
                <a:spcPct val="0"/>
              </a:spcBef>
              <a:defRPr/>
            </a:pPr>
            <a:endParaRPr lang="en-US" altLang="zh-CN" sz="1600" b="1" dirty="0">
              <a:latin typeface="微软雅黑" panose="020B0503020204020204" pitchFamily="34" charset="-122"/>
              <a:ea typeface="微软雅黑" panose="020B0503020204020204" pitchFamily="34" charset="-122"/>
            </a:endParaRPr>
          </a:p>
          <a:p>
            <a:pPr>
              <a:spcBef>
                <a:spcPct val="0"/>
              </a:spcBef>
              <a:defRPr/>
            </a:pPr>
            <a:endParaRPr lang="en-US" altLang="zh-CN" sz="1600" b="1" dirty="0">
              <a:latin typeface="微软雅黑" panose="020B0503020204020204" pitchFamily="34" charset="-122"/>
              <a:ea typeface="微软雅黑" panose="020B0503020204020204" pitchFamily="34" charset="-122"/>
            </a:endParaRPr>
          </a:p>
          <a:p>
            <a:pPr>
              <a:spcBef>
                <a:spcPct val="0"/>
              </a:spcBef>
              <a:defRPr/>
            </a:pPr>
            <a:endParaRPr lang="en-US" altLang="zh-CN" sz="1600" b="1" dirty="0">
              <a:latin typeface="微软雅黑" panose="020B0503020204020204" pitchFamily="34" charset="-122"/>
              <a:ea typeface="微软雅黑" panose="020B0503020204020204" pitchFamily="34" charset="-122"/>
            </a:endParaRPr>
          </a:p>
          <a:p>
            <a:pPr>
              <a:spcBef>
                <a:spcPct val="0"/>
              </a:spcBef>
              <a:defRPr/>
            </a:pPr>
            <a:endParaRPr lang="en-US" altLang="zh-CN" sz="1600" b="1" dirty="0">
              <a:latin typeface="微软雅黑" panose="020B0503020204020204" pitchFamily="34" charset="-122"/>
              <a:ea typeface="微软雅黑" panose="020B0503020204020204" pitchFamily="34" charset="-122"/>
            </a:endParaRPr>
          </a:p>
          <a:p>
            <a:pPr>
              <a:spcBef>
                <a:spcPct val="0"/>
              </a:spcBef>
              <a:defRPr/>
            </a:pPr>
            <a:endParaRPr lang="en-US" altLang="zh-CN" sz="1600" b="1" dirty="0">
              <a:latin typeface="微软雅黑" panose="020B0503020204020204" pitchFamily="34" charset="-122"/>
              <a:ea typeface="微软雅黑" panose="020B0503020204020204" pitchFamily="34" charset="-122"/>
            </a:endParaRPr>
          </a:p>
          <a:p>
            <a:pPr>
              <a:spcBef>
                <a:spcPct val="0"/>
              </a:spcBef>
              <a:defRPr/>
            </a:pPr>
            <a:endParaRPr lang="en-US" altLang="zh-CN" sz="1600" b="1" dirty="0">
              <a:latin typeface="微软雅黑" panose="020B0503020204020204" pitchFamily="34" charset="-122"/>
              <a:ea typeface="微软雅黑" panose="020B0503020204020204" pitchFamily="34" charset="-122"/>
            </a:endParaRPr>
          </a:p>
          <a:p>
            <a:pPr>
              <a:spcBef>
                <a:spcPct val="0"/>
              </a:spcBef>
              <a:defRPr/>
            </a:pPr>
            <a:endParaRPr lang="en-US" altLang="zh-CN" sz="1600" b="1" dirty="0">
              <a:latin typeface="微软雅黑" panose="020B0503020204020204" pitchFamily="34" charset="-122"/>
              <a:ea typeface="微软雅黑" panose="020B0503020204020204" pitchFamily="34" charset="-122"/>
            </a:endParaRPr>
          </a:p>
          <a:p>
            <a:pPr>
              <a:spcBef>
                <a:spcPct val="0"/>
              </a:spcBef>
              <a:defRPr/>
            </a:pPr>
            <a:endParaRPr lang="en-US" altLang="zh-CN" sz="1600" dirty="0">
              <a:latin typeface="微软雅黑" panose="020B0503020204020204" pitchFamily="34" charset="-122"/>
              <a:ea typeface="微软雅黑" panose="020B0503020204020204" pitchFamily="34" charset="-122"/>
            </a:endParaRPr>
          </a:p>
          <a:p>
            <a:pPr>
              <a:spcBef>
                <a:spcPct val="0"/>
              </a:spcBef>
              <a:defRPr/>
            </a:pPr>
            <a:r>
              <a:rPr lang="zh-CN" altLang="en-US" sz="1600" dirty="0">
                <a:latin typeface="微软雅黑" panose="020B0503020204020204" pitchFamily="34" charset="-122"/>
                <a:ea typeface="微软雅黑" panose="020B0503020204020204" pitchFamily="34" charset="-122"/>
              </a:rPr>
              <a:t>锚点在代码里是由</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个位置信息组成（对应界面里的</a:t>
            </a:r>
            <a:r>
              <a:rPr lang="en-US" altLang="zh-CN" sz="1600" dirty="0">
                <a:latin typeface="微软雅黑" panose="020B0503020204020204" pitchFamily="34" charset="-122"/>
                <a:ea typeface="微软雅黑" panose="020B0503020204020204" pitchFamily="34" charset="-122"/>
              </a:rPr>
              <a:t>Anchors Min </a:t>
            </a:r>
            <a:r>
              <a:rPr lang="zh-CN" altLang="en-US" sz="1600" dirty="0">
                <a:latin typeface="微软雅黑" panose="020B0503020204020204" pitchFamily="34" charset="-122"/>
                <a:ea typeface="微软雅黑" panose="020B0503020204020204" pitchFamily="34" charset="-122"/>
              </a:rPr>
              <a:t>和 </a:t>
            </a:r>
            <a:r>
              <a:rPr lang="en-US" altLang="zh-CN" sz="1600" dirty="0">
                <a:latin typeface="微软雅黑" panose="020B0503020204020204" pitchFamily="34" charset="-122"/>
                <a:ea typeface="微软雅黑" panose="020B0503020204020204" pitchFamily="34" charset="-122"/>
              </a:rPr>
              <a:t>Anchors Max</a:t>
            </a:r>
            <a:r>
              <a:rPr lang="zh-CN" altLang="en-US" sz="1600" dirty="0">
                <a:latin typeface="微软雅黑" panose="020B0503020204020204" pitchFamily="34" charset="-122"/>
                <a:ea typeface="微软雅黑" panose="020B0503020204020204" pitchFamily="34" charset="-122"/>
              </a:rPr>
              <a:t>），这俩个位置决定里锚框的范围。</a:t>
            </a:r>
            <a:endParaRPr lang="en-US" altLang="zh-CN" sz="1600" dirty="0">
              <a:latin typeface="微软雅黑" panose="020B0503020204020204" pitchFamily="34" charset="-122"/>
              <a:ea typeface="微软雅黑" panose="020B0503020204020204" pitchFamily="34" charset="-122"/>
            </a:endParaRPr>
          </a:p>
          <a:p>
            <a:pPr>
              <a:spcBef>
                <a:spcPct val="0"/>
              </a:spcBef>
              <a:defRPr/>
            </a:pPr>
            <a:endParaRPr lang="en-US" altLang="zh-CN" sz="1600" b="1" dirty="0">
              <a:latin typeface="微软雅黑" panose="020B0503020204020204" pitchFamily="34" charset="-122"/>
              <a:ea typeface="微软雅黑" panose="020B0503020204020204" pitchFamily="34" charset="-122"/>
            </a:endParaRPr>
          </a:p>
          <a:p>
            <a:pPr>
              <a:spcBef>
                <a:spcPct val="0"/>
              </a:spcBef>
              <a:defRPr/>
            </a:pPr>
            <a:endParaRPr lang="en-US" altLang="zh-CN" sz="1600" b="1" dirty="0">
              <a:latin typeface="微软雅黑" panose="020B0503020204020204" pitchFamily="34" charset="-122"/>
              <a:ea typeface="微软雅黑" panose="020B0503020204020204" pitchFamily="34" charset="-122"/>
            </a:endParaRPr>
          </a:p>
          <a:p>
            <a:pPr>
              <a:spcBef>
                <a:spcPct val="0"/>
              </a:spcBef>
              <a:defRPr/>
            </a:pPr>
            <a:endParaRPr lang="en-US" altLang="zh-CN" sz="1600" dirty="0">
              <a:latin typeface="微软雅黑" panose="020B0503020204020204" pitchFamily="34" charset="-122"/>
              <a:ea typeface="微软雅黑" panose="020B0503020204020204" pitchFamily="34" charset="-122"/>
            </a:endParaRPr>
          </a:p>
          <a:p>
            <a:pPr>
              <a:spcBef>
                <a:spcPct val="0"/>
              </a:spcBef>
              <a:defRPr/>
            </a:pPr>
            <a:endParaRPr lang="en-US" altLang="zh-CN" sz="1600" dirty="0">
              <a:latin typeface="微软雅黑" panose="020B0503020204020204" pitchFamily="34" charset="-122"/>
              <a:ea typeface="微软雅黑" panose="020B0503020204020204" pitchFamily="34" charset="-122"/>
            </a:endParaRPr>
          </a:p>
          <a:p>
            <a:pPr>
              <a:spcBef>
                <a:spcPct val="0"/>
              </a:spcBef>
              <a:defRPr/>
            </a:pPr>
            <a:r>
              <a:rPr lang="zh-CN" altLang="en-US" sz="1600" dirty="0">
                <a:latin typeface="微软雅黑" panose="020B0503020204020204" pitchFamily="34" charset="-122"/>
                <a:ea typeface="微软雅黑" panose="020B0503020204020204" pitchFamily="34" charset="-122"/>
              </a:rPr>
              <a:t>计算出来的</a:t>
            </a:r>
            <a:r>
              <a:rPr lang="en-US" altLang="zh-CN" sz="1600" dirty="0">
                <a:latin typeface="微软雅黑" panose="020B0503020204020204" pitchFamily="34" charset="-122"/>
                <a:ea typeface="微软雅黑" panose="020B0503020204020204" pitchFamily="34" charset="-122"/>
              </a:rPr>
              <a:t>UI</a:t>
            </a:r>
            <a:r>
              <a:rPr lang="zh-CN" altLang="en-US" sz="1600" dirty="0">
                <a:latin typeface="微软雅黑" panose="020B0503020204020204" pitchFamily="34" charset="-122"/>
                <a:ea typeface="微软雅黑" panose="020B0503020204020204" pitchFamily="34" charset="-122"/>
              </a:rPr>
              <a:t>元素的最终矩形框，该矩形框也是图片填充的范围。（只读属性）</a:t>
            </a:r>
            <a:endParaRPr lang="en-US" altLang="zh-CN" sz="1600" dirty="0">
              <a:latin typeface="微软雅黑" panose="020B0503020204020204" pitchFamily="34" charset="-122"/>
              <a:ea typeface="微软雅黑" panose="020B0503020204020204" pitchFamily="34" charset="-122"/>
            </a:endParaRPr>
          </a:p>
          <a:p>
            <a:pPr>
              <a:spcBef>
                <a:spcPct val="0"/>
              </a:spcBef>
              <a:defRPr/>
            </a:pPr>
            <a:endParaRPr lang="en-US" altLang="zh-CN" sz="1600" dirty="0">
              <a:latin typeface="微软雅黑" panose="020B0503020204020204" pitchFamily="34" charset="-122"/>
              <a:ea typeface="微软雅黑" panose="020B0503020204020204" pitchFamily="34" charset="-122"/>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0" indent="-742950" algn="ctr">
              <a:spcBef>
                <a:spcPct val="0"/>
              </a:spcBef>
              <a:defRPr/>
            </a:pPr>
            <a:r>
              <a:rPr lang="zh-CN" altLang="en-US" sz="4000" dirty="0">
                <a:solidFill>
                  <a:schemeClr val="tx1"/>
                </a:solidFill>
                <a:latin typeface="微软雅黑" panose="020B0503020204020204" pitchFamily="34" charset="-122"/>
                <a:ea typeface="微软雅黑" panose="020B0503020204020204" pitchFamily="34" charset="-122"/>
              </a:rPr>
              <a:t>布局系统</a:t>
            </a:r>
            <a:endParaRPr lang="en-US" altLang="zh-CN" sz="4000" dirty="0">
              <a:solidFill>
                <a:schemeClr val="tx1"/>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7817" y="1298692"/>
            <a:ext cx="5704164" cy="676313"/>
          </a:xfrm>
          <a:prstGeom prst="rect">
            <a:avLst/>
          </a:prstGeom>
        </p:spPr>
      </p:pic>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1046" y="4945661"/>
            <a:ext cx="5700691" cy="613647"/>
          </a:xfrm>
          <a:prstGeom prst="rect">
            <a:avLst/>
          </a:prstGeom>
        </p:spPr>
      </p:pic>
      <p:pic>
        <p:nvPicPr>
          <p:cNvPr id="11" name="图片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573" y="2569303"/>
            <a:ext cx="5704164" cy="162090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857892"/>
          </a:xfrm>
          <a:prstGeom prst="rect">
            <a:avLst/>
          </a:prstGeom>
        </p:spPr>
        <p:txBody>
          <a:bodyPr vert="horz" lIns="91440" tIns="45720" rIns="91440" bIns="45720" rtlCol="0" anchor="t">
            <a:noAutofit/>
          </a:bodyPr>
          <a:lstStyle/>
          <a:p>
            <a:pPr>
              <a:spcBef>
                <a:spcPct val="0"/>
              </a:spcBef>
              <a:defRPr/>
            </a:pPr>
            <a:endParaRPr lang="en-US" altLang="zh-CN" sz="1400" dirty="0">
              <a:latin typeface="微软雅黑" panose="020B0503020204020204" pitchFamily="34" charset="-122"/>
              <a:ea typeface="微软雅黑" panose="020B0503020204020204" pitchFamily="34" charset="-122"/>
            </a:endParaRPr>
          </a:p>
          <a:p>
            <a:pPr>
              <a:spcBef>
                <a:spcPct val="0"/>
              </a:spcBef>
              <a:defRPr/>
            </a:pPr>
            <a:r>
              <a:rPr lang="en-US" altLang="zh-CN" sz="1600" b="1" smtClean="0">
                <a:solidFill>
                  <a:srgbClr val="2F2F2F"/>
                </a:solidFill>
                <a:latin typeface="微软雅黑" panose="020B0503020204020204" pitchFamily="34" charset="-122"/>
                <a:ea typeface="微软雅黑" panose="020B0503020204020204" pitchFamily="34" charset="-122"/>
              </a:rPr>
              <a:t>rect</a:t>
            </a:r>
            <a:r>
              <a:rPr lang="zh-CN" altLang="en-US" sz="1600" smtClean="0">
                <a:solidFill>
                  <a:srgbClr val="2F2F2F"/>
                </a:solidFill>
                <a:latin typeface="微软雅黑" panose="020B0503020204020204" pitchFamily="34" charset="-122"/>
                <a:ea typeface="微软雅黑" panose="020B0503020204020204" pitchFamily="34" charset="-122"/>
              </a:rPr>
              <a:t>的</a:t>
            </a:r>
            <a:r>
              <a:rPr lang="en-US" altLang="zh-CN" sz="1600" smtClean="0">
                <a:solidFill>
                  <a:srgbClr val="2F2F2F"/>
                </a:solidFill>
                <a:latin typeface="微软雅黑" panose="020B0503020204020204" pitchFamily="34" charset="-122"/>
                <a:ea typeface="微软雅黑" panose="020B0503020204020204" pitchFamily="34" charset="-122"/>
              </a:rPr>
              <a:t>x,y</a:t>
            </a:r>
            <a:r>
              <a:rPr lang="zh-CN" altLang="en-US" sz="1600" smtClean="0">
                <a:solidFill>
                  <a:srgbClr val="2F2F2F"/>
                </a:solidFill>
                <a:latin typeface="微软雅黑" panose="020B0503020204020204" pitchFamily="34" charset="-122"/>
                <a:ea typeface="微软雅黑" panose="020B0503020204020204" pitchFamily="34" charset="-122"/>
              </a:rPr>
              <a:t>为轴心点到矩形框的左下角向量值</a:t>
            </a:r>
            <a:endParaRPr lang="zh-CN" altLang="zh-CN" sz="1600" dirty="0">
              <a:latin typeface="微软雅黑" panose="020B0503020204020204" pitchFamily="34" charset="-122"/>
              <a:ea typeface="微软雅黑" panose="020B0503020204020204" pitchFamily="34" charset="-122"/>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0" indent="-742950" algn="ctr">
              <a:spcBef>
                <a:spcPct val="0"/>
              </a:spcBef>
              <a:defRPr/>
            </a:pPr>
            <a:r>
              <a:rPr lang="zh-CN" altLang="en-US" sz="4000" dirty="0">
                <a:solidFill>
                  <a:schemeClr val="tx1"/>
                </a:solidFill>
                <a:latin typeface="微软雅黑" panose="020B0503020204020204" pitchFamily="34" charset="-122"/>
                <a:ea typeface="微软雅黑" panose="020B0503020204020204" pitchFamily="34" charset="-122"/>
              </a:rPr>
              <a:t>布局系统</a:t>
            </a:r>
            <a:endParaRPr lang="en-US" altLang="zh-CN" sz="4000" dirty="0">
              <a:solidFill>
                <a:schemeClr val="tx1"/>
              </a:solidFill>
              <a:latin typeface="微软雅黑" panose="020B0503020204020204" pitchFamily="34" charset="-122"/>
              <a:ea typeface="微软雅黑" panose="020B0503020204020204" pitchFamily="34" charset="-122"/>
            </a:endParaRPr>
          </a:p>
        </p:txBody>
      </p:sp>
      <p:pic>
        <p:nvPicPr>
          <p:cNvPr id="1026" name="Picture 2" descr="C:\Users\Administrator\Desktop\Anchors12.png"/>
          <p:cNvPicPr>
            <a:picLocks noChangeAspect="1" noChangeArrowheads="1"/>
          </p:cNvPicPr>
          <p:nvPr/>
        </p:nvPicPr>
        <p:blipFill>
          <a:blip r:embed="rId1"/>
          <a:srcRect/>
          <a:stretch>
            <a:fillRect/>
          </a:stretch>
        </p:blipFill>
        <p:spPr bwMode="auto">
          <a:xfrm>
            <a:off x="356841" y="1643050"/>
            <a:ext cx="5000660" cy="4765659"/>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857892"/>
          </a:xfrm>
          <a:prstGeom prst="rect">
            <a:avLst/>
          </a:prstGeom>
        </p:spPr>
        <p:txBody>
          <a:bodyPr vert="horz" lIns="91440" tIns="45720" rIns="91440" bIns="45720" rtlCol="0" anchor="t">
            <a:noAutofit/>
          </a:bodyPr>
          <a:lstStyle/>
          <a:p>
            <a:pPr marL="285750" indent="-285750">
              <a:spcBef>
                <a:spcPct val="0"/>
              </a:spcBef>
              <a:buFont typeface="Arial" panose="020B0604020202020204" pitchFamily="34" charset="0"/>
              <a:buChar char="•"/>
              <a:defRPr/>
            </a:pPr>
            <a:endParaRPr lang="en-US" altLang="zh-CN" sz="1400" dirty="0">
              <a:latin typeface="微软雅黑" panose="020B0503020204020204" pitchFamily="34" charset="-122"/>
              <a:ea typeface="微软雅黑" panose="020B0503020204020204" pitchFamily="34" charset="-122"/>
            </a:endParaRPr>
          </a:p>
          <a:p>
            <a:pPr marL="285750" indent="-285750">
              <a:spcBef>
                <a:spcPct val="0"/>
              </a:spcBef>
              <a:buFont typeface="Arial" panose="020B0604020202020204" pitchFamily="34" charset="0"/>
              <a:buChar char="•"/>
              <a:defRPr/>
            </a:pPr>
            <a:endParaRPr lang="en-US" altLang="zh-CN" sz="1400" dirty="0">
              <a:latin typeface="微软雅黑" panose="020B0503020204020204" pitchFamily="34" charset="-122"/>
              <a:ea typeface="微软雅黑" panose="020B0503020204020204" pitchFamily="34" charset="-122"/>
            </a:endParaRPr>
          </a:p>
          <a:p>
            <a:pPr marL="285750" indent="-285750">
              <a:spcBef>
                <a:spcPct val="0"/>
              </a:spcBef>
              <a:buFont typeface="Arial" panose="020B0604020202020204" pitchFamily="34" charset="0"/>
              <a:buChar char="•"/>
              <a:defRPr/>
            </a:pPr>
            <a:endParaRPr lang="en-US" altLang="zh-CN" sz="1400" dirty="0">
              <a:latin typeface="微软雅黑" panose="020B0503020204020204" pitchFamily="34" charset="-122"/>
              <a:ea typeface="微软雅黑" panose="020B0503020204020204" pitchFamily="34" charset="-122"/>
            </a:endParaRPr>
          </a:p>
          <a:p>
            <a:pPr marL="285750" indent="-285750">
              <a:spcBef>
                <a:spcPct val="0"/>
              </a:spcBef>
              <a:buFont typeface="Arial" panose="020B0604020202020204" pitchFamily="34" charset="0"/>
              <a:buChar char="•"/>
              <a:defRPr/>
            </a:pPr>
            <a:endParaRPr lang="en-US" altLang="zh-CN" sz="1400" dirty="0">
              <a:latin typeface="微软雅黑" panose="020B0503020204020204" pitchFamily="34" charset="-122"/>
              <a:ea typeface="微软雅黑" panose="020B0503020204020204" pitchFamily="34" charset="-122"/>
            </a:endParaRPr>
          </a:p>
          <a:p>
            <a:pPr marL="285750" indent="-285750">
              <a:spcBef>
                <a:spcPct val="0"/>
              </a:spcBef>
              <a:buFont typeface="Arial" panose="020B0604020202020204" pitchFamily="34" charset="0"/>
              <a:buChar char="•"/>
              <a:defRPr/>
            </a:pPr>
            <a:endParaRPr lang="en-US" altLang="zh-CN" sz="1400" dirty="0">
              <a:latin typeface="微软雅黑" panose="020B0503020204020204" pitchFamily="34" charset="-122"/>
              <a:ea typeface="微软雅黑" panose="020B0503020204020204" pitchFamily="34" charset="-122"/>
            </a:endParaRPr>
          </a:p>
          <a:p>
            <a:pPr>
              <a:spcBef>
                <a:spcPct val="0"/>
              </a:spcBef>
              <a:defRPr/>
            </a:pPr>
            <a:endParaRPr lang="en-US" altLang="zh-CN" sz="1400" dirty="0">
              <a:latin typeface="微软雅黑" panose="020B0503020204020204" pitchFamily="34" charset="-122"/>
              <a:ea typeface="微软雅黑" panose="020B0503020204020204" pitchFamily="34" charset="-122"/>
            </a:endParaRPr>
          </a:p>
          <a:p>
            <a:pPr>
              <a:spcBef>
                <a:spcPct val="0"/>
              </a:spcBef>
              <a:defRPr/>
            </a:pPr>
            <a:endParaRPr lang="en-US" altLang="zh-CN" sz="1400" dirty="0">
              <a:latin typeface="微软雅黑" panose="020B0503020204020204" pitchFamily="34" charset="-122"/>
              <a:ea typeface="微软雅黑" panose="020B0503020204020204" pitchFamily="34" charset="-122"/>
            </a:endParaRPr>
          </a:p>
          <a:p>
            <a:pPr>
              <a:spcBef>
                <a:spcPct val="0"/>
              </a:spcBef>
              <a:defRPr/>
            </a:pPr>
            <a:endParaRPr lang="en-US" altLang="zh-CN" sz="1400" dirty="0">
              <a:latin typeface="微软雅黑" panose="020B0503020204020204" pitchFamily="34" charset="-122"/>
              <a:ea typeface="微软雅黑" panose="020B0503020204020204" pitchFamily="34" charset="-122"/>
            </a:endParaRPr>
          </a:p>
          <a:p>
            <a:pPr>
              <a:spcBef>
                <a:spcPct val="0"/>
              </a:spcBef>
              <a:defRPr/>
            </a:pPr>
            <a:r>
              <a:rPr lang="zh-CN" altLang="en-US" sz="1400" dirty="0">
                <a:latin typeface="微软雅黑" panose="020B0503020204020204" pitchFamily="34" charset="-122"/>
                <a:ea typeface="微软雅黑" panose="020B0503020204020204" pitchFamily="34" charset="-122"/>
              </a:rPr>
              <a:t>如下图，最终得到的都是一个指向</a:t>
            </a:r>
            <a:r>
              <a:rPr lang="en-US" altLang="zh-CN" sz="1400" dirty="0">
                <a:latin typeface="微软雅黑" panose="020B0503020204020204" pitchFamily="34" charset="-122"/>
                <a:ea typeface="微软雅黑" panose="020B0503020204020204" pitchFamily="34" charset="-122"/>
              </a:rPr>
              <a:t>UI</a:t>
            </a:r>
            <a:r>
              <a:rPr lang="zh-CN" altLang="en-US" sz="1400" dirty="0">
                <a:latin typeface="微软雅黑" panose="020B0503020204020204" pitchFamily="34" charset="-122"/>
                <a:ea typeface="微软雅黑" panose="020B0503020204020204" pitchFamily="34" charset="-122"/>
              </a:rPr>
              <a:t>元素的</a:t>
            </a:r>
            <a:r>
              <a:rPr lang="en-US" altLang="zh-CN" sz="1400" dirty="0">
                <a:latin typeface="微软雅黑" panose="020B0503020204020204" pitchFamily="34" charset="-122"/>
                <a:ea typeface="微软雅黑" panose="020B0503020204020204" pitchFamily="34" charset="-122"/>
              </a:rPr>
              <a:t>vector2</a:t>
            </a:r>
            <a:r>
              <a:rPr lang="zh-CN" altLang="en-US" sz="1400" dirty="0">
                <a:latin typeface="微软雅黑" panose="020B0503020204020204" pitchFamily="34" charset="-122"/>
                <a:ea typeface="微软雅黑" panose="020B0503020204020204" pitchFamily="34" charset="-122"/>
              </a:rPr>
              <a:t>向量。</a:t>
            </a:r>
            <a:r>
              <a:rPr lang="zh-CN" altLang="zh-CN" sz="1400" dirty="0">
                <a:solidFill>
                  <a:srgbClr val="2F2F2F"/>
                </a:solidFill>
                <a:latin typeface="微软雅黑" panose="020B0503020204020204" pitchFamily="34" charset="-122"/>
                <a:ea typeface="微软雅黑" panose="020B0503020204020204" pitchFamily="34" charset="-122"/>
              </a:rPr>
              <a:t>在</a:t>
            </a:r>
            <a:r>
              <a:rPr lang="zh-CN" altLang="zh-CN" sz="1400" dirty="0">
                <a:latin typeface="微软雅黑" panose="020B0503020204020204" pitchFamily="34" charset="-122"/>
                <a:ea typeface="微软雅黑" panose="020B0503020204020204" pitchFamily="34" charset="-122"/>
              </a:rPr>
              <a:t>锚框</a:t>
            </a:r>
            <a:r>
              <a:rPr lang="zh-CN" altLang="en-US" sz="1400" dirty="0">
                <a:latin typeface="微软雅黑" panose="020B0503020204020204" pitchFamily="34" charset="-122"/>
                <a:ea typeface="微软雅黑" panose="020B0503020204020204" pitchFamily="34" charset="-122"/>
              </a:rPr>
              <a:t>形态</a:t>
            </a:r>
            <a:r>
              <a:rPr lang="zh-CN" altLang="zh-CN" sz="1400" dirty="0">
                <a:solidFill>
                  <a:srgbClr val="2F2F2F"/>
                </a:solidFill>
                <a:latin typeface="微软雅黑" panose="020B0503020204020204" pitchFamily="34" charset="-122"/>
                <a:ea typeface="微软雅黑" panose="020B0503020204020204" pitchFamily="34" charset="-122"/>
              </a:rPr>
              <a:t>下我们可以在代码里面动态的去调整UI元素相对</a:t>
            </a:r>
            <a:r>
              <a:rPr lang="zh-CN" altLang="en-US" sz="1400" dirty="0">
                <a:solidFill>
                  <a:srgbClr val="2F2F2F"/>
                </a:solidFill>
                <a:latin typeface="微软雅黑" panose="020B0503020204020204" pitchFamily="34" charset="-122"/>
                <a:ea typeface="微软雅黑" panose="020B0503020204020204" pitchFamily="34" charset="-122"/>
              </a:rPr>
              <a:t>锚框</a:t>
            </a:r>
            <a:r>
              <a:rPr lang="zh-CN" altLang="zh-CN" sz="1400" dirty="0">
                <a:solidFill>
                  <a:srgbClr val="2F2F2F"/>
                </a:solidFill>
                <a:latin typeface="微软雅黑" panose="020B0503020204020204" pitchFamily="34" charset="-122"/>
                <a:ea typeface="微软雅黑" panose="020B0503020204020204" pitchFamily="34" charset="-122"/>
              </a:rPr>
              <a:t>边界的距离</a:t>
            </a:r>
            <a:r>
              <a:rPr lang="zh-CN" altLang="en-US" sz="1400" dirty="0">
                <a:solidFill>
                  <a:srgbClr val="2F2F2F"/>
                </a:solidFill>
                <a:latin typeface="微软雅黑" panose="020B0503020204020204" pitchFamily="34" charset="-122"/>
                <a:ea typeface="微软雅黑" panose="020B0503020204020204" pitchFamily="34" charset="-122"/>
              </a:rPr>
              <a:t>。</a:t>
            </a:r>
            <a:endParaRPr lang="zh-CN" altLang="zh-CN" sz="1400" dirty="0">
              <a:latin typeface="微软雅黑" panose="020B0503020204020204" pitchFamily="34" charset="-122"/>
              <a:ea typeface="微软雅黑" panose="020B0503020204020204" pitchFamily="34" charset="-122"/>
            </a:endParaRPr>
          </a:p>
          <a:p>
            <a:pPr>
              <a:spcBef>
                <a:spcPct val="0"/>
              </a:spcBef>
              <a:defRPr/>
            </a:pPr>
            <a:endParaRPr lang="en-US" altLang="zh-CN" sz="1400" dirty="0">
              <a:latin typeface="微软雅黑" panose="020B0503020204020204" pitchFamily="34" charset="-122"/>
              <a:ea typeface="微软雅黑" panose="020B0503020204020204" pitchFamily="34" charset="-122"/>
            </a:endParaRPr>
          </a:p>
          <a:p>
            <a:pPr lvl="0">
              <a:spcBef>
                <a:spcPct val="0"/>
              </a:spcBef>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lvl="0">
              <a:spcBef>
                <a:spcPct val="0"/>
              </a:spcBef>
              <a:defRPr/>
            </a:pPr>
            <a:endParaRPr lang="en-US" altLang="zh-CN" sz="1400" b="1" dirty="0">
              <a:latin typeface="微软雅黑" panose="020B0503020204020204" pitchFamily="34" charset="-122"/>
              <a:ea typeface="微软雅黑" panose="020B0503020204020204" pitchFamily="34" charset="-122"/>
              <a:cs typeface="+mj-cs"/>
            </a:endParaRPr>
          </a:p>
          <a:p>
            <a:pPr lvl="0">
              <a:spcBef>
                <a:spcPct val="0"/>
              </a:spcBef>
              <a:defRPr/>
            </a:pPr>
            <a:endParaRPr lang="en-US" altLang="zh-CN" sz="1400" b="1" dirty="0">
              <a:latin typeface="微软雅黑" panose="020B0503020204020204" pitchFamily="34" charset="-122"/>
              <a:ea typeface="微软雅黑" panose="020B0503020204020204" pitchFamily="34" charset="-122"/>
              <a:cs typeface="+mj-cs"/>
            </a:endParaRPr>
          </a:p>
          <a:p>
            <a:pPr lvl="0">
              <a:spcBef>
                <a:spcPct val="0"/>
              </a:spcBef>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lvl="0">
              <a:spcBef>
                <a:spcPct val="0"/>
              </a:spcBef>
              <a:defRPr/>
            </a:pPr>
            <a:endParaRPr lang="en-US" altLang="zh-CN" sz="1400" b="1" dirty="0">
              <a:latin typeface="微软雅黑" panose="020B0503020204020204" pitchFamily="34" charset="-122"/>
              <a:ea typeface="微软雅黑" panose="020B0503020204020204" pitchFamily="34" charset="-122"/>
              <a:cs typeface="+mj-cs"/>
            </a:endParaRPr>
          </a:p>
          <a:p>
            <a:pPr lvl="0">
              <a:spcBef>
                <a:spcPct val="0"/>
              </a:spcBef>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lvl="0">
              <a:spcBef>
                <a:spcPct val="0"/>
              </a:spcBef>
              <a:defRPr/>
            </a:pPr>
            <a:endParaRPr lang="en-US" altLang="zh-CN" sz="1400" b="1" dirty="0">
              <a:latin typeface="微软雅黑" panose="020B0503020204020204" pitchFamily="34" charset="-122"/>
              <a:ea typeface="微软雅黑" panose="020B0503020204020204" pitchFamily="34" charset="-122"/>
              <a:cs typeface="+mj-cs"/>
            </a:endParaRPr>
          </a:p>
          <a:p>
            <a:pPr lvl="0">
              <a:spcBef>
                <a:spcPct val="0"/>
              </a:spcBef>
              <a:defRPr/>
            </a:pPr>
            <a:r>
              <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rPr>
              <a:t>  </a:t>
            </a: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lvl="0">
              <a:spcBef>
                <a:spcPct val="0"/>
              </a:spcBef>
              <a:defRPr/>
            </a:pPr>
            <a:endParaRPr lang="en-US" altLang="zh-CN" sz="1400" b="1" dirty="0">
              <a:latin typeface="微软雅黑" panose="020B0503020204020204" pitchFamily="34" charset="-122"/>
              <a:ea typeface="微软雅黑" panose="020B0503020204020204" pitchFamily="34" charset="-122"/>
              <a:cs typeface="+mj-cs"/>
            </a:endParaRPr>
          </a:p>
          <a:p>
            <a:pPr lvl="0">
              <a:spcBef>
                <a:spcPct val="0"/>
              </a:spcBef>
              <a:defRPr/>
            </a:pPr>
            <a:r>
              <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rPr>
              <a:t>              </a:t>
            </a: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lvl="0">
              <a:spcBef>
                <a:spcPct val="0"/>
              </a:spcBef>
              <a:defRPr/>
            </a:pPr>
            <a:endParaRPr lang="en-US" altLang="zh-CN" sz="1400" b="1" dirty="0">
              <a:latin typeface="微软雅黑" panose="020B0503020204020204" pitchFamily="34" charset="-122"/>
              <a:ea typeface="微软雅黑" panose="020B0503020204020204" pitchFamily="34" charset="-122"/>
              <a:cs typeface="+mj-cs"/>
            </a:endParaRPr>
          </a:p>
          <a:p>
            <a:pPr lvl="0">
              <a:spcBef>
                <a:spcPct val="0"/>
              </a:spcBef>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lvl="0">
              <a:spcBef>
                <a:spcPct val="0"/>
              </a:spcBef>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lvl="0">
              <a:spcBef>
                <a:spcPct val="0"/>
              </a:spcBef>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lvl="0">
              <a:spcBef>
                <a:spcPct val="0"/>
              </a:spcBef>
              <a:defRPr/>
            </a:pPr>
            <a:endParaRPr lang="en-US" altLang="zh-CN" sz="1400" b="1" dirty="0">
              <a:latin typeface="微软雅黑" panose="020B0503020204020204" pitchFamily="34" charset="-122"/>
              <a:ea typeface="微软雅黑" panose="020B0503020204020204" pitchFamily="34" charset="-122"/>
              <a:cs typeface="+mj-cs"/>
            </a:endParaRPr>
          </a:p>
          <a:p>
            <a:pPr lvl="0">
              <a:spcBef>
                <a:spcPct val="0"/>
              </a:spcBef>
              <a:defRPr/>
            </a:pPr>
            <a:r>
              <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rPr>
              <a:t>                                       </a:t>
            </a:r>
            <a:r>
              <a:rPr kumimoji="0" lang="zh-CN" altLang="en-US"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rPr>
              <a:t>锚点形态                                                 锚框形态</a:t>
            </a:r>
            <a:endParaRPr kumimoji="0" lang="zh-CN" altLang="en-US"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0" indent="-742950" algn="ctr">
              <a:spcBef>
                <a:spcPct val="0"/>
              </a:spcBef>
              <a:defRPr/>
            </a:pPr>
            <a:r>
              <a:rPr lang="zh-CN" altLang="en-US" sz="4000" dirty="0">
                <a:solidFill>
                  <a:schemeClr val="tx1"/>
                </a:solidFill>
                <a:latin typeface="微软雅黑" panose="020B0503020204020204" pitchFamily="34" charset="-122"/>
                <a:ea typeface="微软雅黑" panose="020B0503020204020204" pitchFamily="34" charset="-122"/>
              </a:rPr>
              <a:t>布局系统</a:t>
            </a:r>
            <a:endParaRPr lang="en-US" altLang="zh-CN" sz="4000" dirty="0">
              <a:solidFill>
                <a:schemeClr val="tx1"/>
              </a:solidFill>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66864" y="3194376"/>
            <a:ext cx="2472510" cy="3389352"/>
          </a:xfrm>
          <a:prstGeom prst="rect">
            <a:avLst/>
          </a:prstGeom>
        </p:spPr>
      </p:pic>
      <p:pic>
        <p:nvPicPr>
          <p:cNvPr id="14" name="图片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9812" y="3254358"/>
            <a:ext cx="2344083" cy="3329370"/>
          </a:xfrm>
          <a:prstGeom prst="rect">
            <a:avLst/>
          </a:prstGeom>
        </p:spPr>
      </p:pic>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492" y="935169"/>
            <a:ext cx="5534372" cy="1178616"/>
          </a:xfrm>
          <a:prstGeom prst="rect">
            <a:avLst/>
          </a:prstGeom>
        </p:spPr>
      </p:pic>
      <p:pic>
        <p:nvPicPr>
          <p:cNvPr id="7"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7492" y="2144348"/>
            <a:ext cx="4314825" cy="56197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643602"/>
          </a:xfrm>
          <a:prstGeom prst="rect">
            <a:avLst/>
          </a:prstGeom>
        </p:spPr>
        <p:txBody>
          <a:bodyPr vert="horz" lIns="91440" tIns="45720" rIns="91440" bIns="45720" rtlCol="0" anchor="t">
            <a:normAutofit/>
          </a:bodyPr>
          <a:lstStyle/>
          <a:p>
            <a:pPr>
              <a:spcBef>
                <a:spcPct val="0"/>
              </a:spcBef>
              <a:defRPr/>
            </a:pPr>
            <a:endParaRPr lang="en-US" altLang="zh-CN" sz="1600" b="1" dirty="0">
              <a:latin typeface="微软雅黑" panose="020B0503020204020204" pitchFamily="34" charset="-122"/>
              <a:ea typeface="微软雅黑" panose="020B0503020204020204" pitchFamily="34" charset="-122"/>
            </a:endParaRPr>
          </a:p>
          <a:p>
            <a:pPr>
              <a:spcBef>
                <a:spcPct val="0"/>
              </a:spcBef>
              <a:defRPr/>
            </a:pPr>
            <a:endParaRPr lang="en-US" altLang="zh-CN" sz="1600" b="1" dirty="0">
              <a:latin typeface="微软雅黑" panose="020B0503020204020204" pitchFamily="34" charset="-122"/>
              <a:ea typeface="微软雅黑" panose="020B0503020204020204" pitchFamily="34" charset="-122"/>
            </a:endParaRPr>
          </a:p>
          <a:p>
            <a:pPr>
              <a:spcBef>
                <a:spcPct val="0"/>
              </a:spcBef>
              <a:defRPr/>
            </a:pPr>
            <a:endParaRPr lang="en-US" altLang="zh-CN" sz="1600" b="1" dirty="0">
              <a:latin typeface="微软雅黑" panose="020B0503020204020204" pitchFamily="34" charset="-122"/>
              <a:ea typeface="微软雅黑" panose="020B0503020204020204" pitchFamily="34" charset="-122"/>
            </a:endParaRPr>
          </a:p>
          <a:p>
            <a:pPr>
              <a:spcBef>
                <a:spcPct val="0"/>
              </a:spcBef>
              <a:defRPr/>
            </a:pPr>
            <a:endParaRPr lang="en-US" altLang="zh-CN" sz="1600" b="1" dirty="0">
              <a:latin typeface="微软雅黑" panose="020B0503020204020204" pitchFamily="34" charset="-122"/>
              <a:ea typeface="微软雅黑" panose="020B0503020204020204" pitchFamily="34" charset="-122"/>
            </a:endParaRPr>
          </a:p>
          <a:p>
            <a:pPr>
              <a:spcBef>
                <a:spcPct val="0"/>
              </a:spcBef>
              <a:defRPr/>
            </a:pPr>
            <a:endParaRPr lang="en-US" altLang="zh-CN" sz="1600" dirty="0">
              <a:latin typeface="微软雅黑" panose="020B0503020204020204" pitchFamily="34" charset="-122"/>
              <a:ea typeface="微软雅黑" panose="020B0503020204020204" pitchFamily="34" charset="-122"/>
            </a:endParaRPr>
          </a:p>
          <a:p>
            <a:pPr>
              <a:spcBef>
                <a:spcPct val="0"/>
              </a:spcBef>
              <a:defRPr/>
            </a:pPr>
            <a:r>
              <a:rPr lang="zh-CN" altLang="en-US" sz="1600" dirty="0">
                <a:latin typeface="微软雅黑" panose="020B0503020204020204" pitchFamily="34" charset="-122"/>
                <a:ea typeface="微软雅黑" panose="020B0503020204020204" pitchFamily="34" charset="-122"/>
              </a:rPr>
              <a:t>锚点形态下表示的是</a:t>
            </a:r>
            <a:r>
              <a:rPr lang="en-US" altLang="zh-CN" sz="1600" dirty="0">
                <a:latin typeface="微软雅黑" panose="020B0503020204020204" pitchFamily="34" charset="-122"/>
                <a:ea typeface="微软雅黑" panose="020B0503020204020204" pitchFamily="34" charset="-122"/>
              </a:rPr>
              <a:t>UI</a:t>
            </a:r>
            <a:r>
              <a:rPr lang="zh-CN" altLang="en-US" sz="1600" dirty="0">
                <a:latin typeface="微软雅黑" panose="020B0503020204020204" pitchFamily="34" charset="-122"/>
                <a:ea typeface="微软雅黑" panose="020B0503020204020204" pitchFamily="34" charset="-122"/>
              </a:rPr>
              <a:t>元素的尺寸（</a:t>
            </a:r>
            <a:r>
              <a:rPr lang="en-US" altLang="zh-CN" sz="1600" dirty="0">
                <a:latin typeface="微软雅黑" panose="020B0503020204020204" pitchFamily="34" charset="-122"/>
                <a:ea typeface="微软雅黑" panose="020B0503020204020204" pitchFamily="34" charset="-122"/>
              </a:rPr>
              <a:t> size </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a:spcBef>
                <a:spcPct val="0"/>
              </a:spcBef>
              <a:defRPr/>
            </a:pPr>
            <a:r>
              <a:rPr lang="zh-CN" altLang="en-US" sz="1600" dirty="0">
                <a:latin typeface="微软雅黑" panose="020B0503020204020204" pitchFamily="34" charset="-122"/>
                <a:ea typeface="微软雅黑" panose="020B0503020204020204" pitchFamily="34" charset="-122"/>
              </a:rPr>
              <a:t>锚框形态下表示的是</a:t>
            </a:r>
            <a:r>
              <a:rPr lang="en-US" altLang="zh-CN" sz="1600" dirty="0">
                <a:latin typeface="微软雅黑" panose="020B0503020204020204" pitchFamily="34" charset="-122"/>
                <a:ea typeface="微软雅黑" panose="020B0503020204020204" pitchFamily="34" charset="-122"/>
              </a:rPr>
              <a:t>UI</a:t>
            </a:r>
            <a:r>
              <a:rPr lang="zh-CN" altLang="en-US" sz="1600" dirty="0">
                <a:latin typeface="微软雅黑" panose="020B0503020204020204" pitchFamily="34" charset="-122"/>
                <a:ea typeface="微软雅黑" panose="020B0503020204020204" pitchFamily="34" charset="-122"/>
              </a:rPr>
              <a:t>元素和锚框的尺寸差（</a:t>
            </a:r>
            <a:r>
              <a:rPr lang="en-US" altLang="zh-CN" sz="1600" dirty="0">
                <a:latin typeface="微软雅黑" panose="020B0503020204020204" pitchFamily="34" charset="-122"/>
                <a:ea typeface="微软雅黑" panose="020B0503020204020204" pitchFamily="34" charset="-122"/>
              </a:rPr>
              <a:t> delta </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a:spcBef>
                <a:spcPct val="0"/>
              </a:spcBef>
              <a:defRPr/>
            </a:pPr>
            <a:r>
              <a:rPr lang="zh-CN" altLang="en-US" sz="1600" dirty="0">
                <a:latin typeface="微软雅黑" panose="020B0503020204020204" pitchFamily="34" charset="-122"/>
                <a:ea typeface="微软雅黑" panose="020B0503020204020204" pitchFamily="34" charset="-122"/>
              </a:rPr>
              <a:t>所以这个变量被起名为</a:t>
            </a:r>
            <a:r>
              <a:rPr lang="en-US" altLang="zh-CN" sz="1600" dirty="0" err="1">
                <a:solidFill>
                  <a:srgbClr val="FF0000"/>
                </a:solidFill>
                <a:latin typeface="微软雅黑" panose="020B0503020204020204" pitchFamily="34" charset="-122"/>
                <a:ea typeface="微软雅黑" panose="020B0503020204020204" pitchFamily="34" charset="-122"/>
              </a:rPr>
              <a:t>sizeDelta</a:t>
            </a:r>
            <a:endParaRPr lang="en-US" altLang="zh-CN" sz="1600" dirty="0">
              <a:solidFill>
                <a:srgbClr val="FF0000"/>
              </a:solidFill>
              <a:latin typeface="微软雅黑" panose="020B0503020204020204" pitchFamily="34" charset="-122"/>
              <a:ea typeface="微软雅黑" panose="020B0503020204020204" pitchFamily="34" charset="-122"/>
            </a:endParaRPr>
          </a:p>
          <a:p>
            <a:pPr>
              <a:spcBef>
                <a:spcPct val="0"/>
              </a:spcBef>
              <a:defRPr/>
            </a:pPr>
            <a:endParaRPr lang="en-US" altLang="zh-CN" sz="1600" dirty="0">
              <a:solidFill>
                <a:srgbClr val="FF0000"/>
              </a:solidFill>
              <a:latin typeface="微软雅黑" panose="020B0503020204020204" pitchFamily="34" charset="-122"/>
              <a:ea typeface="微软雅黑" panose="020B0503020204020204" pitchFamily="34" charset="-122"/>
            </a:endParaRPr>
          </a:p>
          <a:p>
            <a:pPr>
              <a:spcBef>
                <a:spcPct val="0"/>
              </a:spcBef>
              <a:defRPr/>
            </a:pPr>
            <a:r>
              <a:rPr lang="en-US" altLang="zh-CN" sz="1600" b="1" dirty="0">
                <a:latin typeface="微软雅黑" panose="020B0503020204020204" pitchFamily="34" charset="-122"/>
                <a:ea typeface="微软雅黑" panose="020B0503020204020204" pitchFamily="34" charset="-122"/>
              </a:rPr>
              <a:t>Question</a:t>
            </a:r>
            <a:r>
              <a:rPr lang="zh-CN" altLang="en-US" sz="1600" dirty="0">
                <a:latin typeface="微软雅黑" panose="020B0503020204020204" pitchFamily="34" charset="-122"/>
                <a:ea typeface="微软雅黑" panose="020B0503020204020204" pitchFamily="34" charset="-122"/>
              </a:rPr>
              <a:t>：在锚框形态下要怎么样才能获得</a:t>
            </a:r>
            <a:r>
              <a:rPr lang="en-US" altLang="zh-CN" sz="1600" dirty="0">
                <a:latin typeface="微软雅黑" panose="020B0503020204020204" pitchFamily="34" charset="-122"/>
                <a:ea typeface="微软雅黑" panose="020B0503020204020204" pitchFamily="34" charset="-122"/>
              </a:rPr>
              <a:t>UI</a:t>
            </a:r>
            <a:r>
              <a:rPr lang="zh-CN" altLang="en-US" sz="1600" dirty="0">
                <a:latin typeface="微软雅黑" panose="020B0503020204020204" pitchFamily="34" charset="-122"/>
                <a:ea typeface="微软雅黑" panose="020B0503020204020204" pitchFamily="34" charset="-122"/>
              </a:rPr>
              <a:t>元素的尺寸？</a:t>
            </a:r>
            <a:endParaRPr lang="en-US" altLang="zh-CN" sz="1600" dirty="0">
              <a:latin typeface="微软雅黑" panose="020B0503020204020204" pitchFamily="34" charset="-122"/>
              <a:ea typeface="微软雅黑" panose="020B0503020204020204" pitchFamily="34" charset="-122"/>
            </a:endParaRPr>
          </a:p>
          <a:p>
            <a:pPr>
              <a:spcBef>
                <a:spcPct val="0"/>
              </a:spcBef>
              <a:defRPr/>
            </a:pPr>
            <a:endParaRPr lang="en-US" altLang="zh-CN" sz="1600" dirty="0">
              <a:solidFill>
                <a:srgbClr val="FF0000"/>
              </a:solidFill>
              <a:latin typeface="微软雅黑" panose="020B0503020204020204" pitchFamily="34" charset="-122"/>
              <a:ea typeface="微软雅黑" panose="020B0503020204020204" pitchFamily="34" charset="-122"/>
            </a:endParaRPr>
          </a:p>
          <a:p>
            <a:pPr>
              <a:spcBef>
                <a:spcPct val="0"/>
              </a:spcBef>
              <a:defRPr/>
            </a:pPr>
            <a:endParaRPr lang="en-US" altLang="zh-CN" sz="1600" dirty="0">
              <a:solidFill>
                <a:srgbClr val="FF0000"/>
              </a:solidFill>
              <a:latin typeface="微软雅黑" panose="020B0503020204020204" pitchFamily="34" charset="-122"/>
              <a:ea typeface="微软雅黑" panose="020B0503020204020204" pitchFamily="34" charset="-122"/>
            </a:endParaRPr>
          </a:p>
          <a:p>
            <a:pPr>
              <a:spcBef>
                <a:spcPct val="0"/>
              </a:spcBef>
              <a:defRPr/>
            </a:pPr>
            <a:endParaRPr lang="en-US" altLang="zh-CN" sz="1600" dirty="0">
              <a:solidFill>
                <a:srgbClr val="FF0000"/>
              </a:solidFill>
              <a:latin typeface="微软雅黑" panose="020B0503020204020204" pitchFamily="34" charset="-122"/>
              <a:ea typeface="微软雅黑" panose="020B0503020204020204" pitchFamily="34" charset="-122"/>
            </a:endParaRPr>
          </a:p>
          <a:p>
            <a:pPr>
              <a:spcBef>
                <a:spcPct val="0"/>
              </a:spcBef>
              <a:defRPr/>
            </a:pPr>
            <a:endParaRPr lang="en-US" altLang="zh-CN" sz="1600" dirty="0">
              <a:solidFill>
                <a:srgbClr val="FF0000"/>
              </a:solidFill>
              <a:latin typeface="微软雅黑" panose="020B0503020204020204" pitchFamily="34" charset="-122"/>
              <a:ea typeface="微软雅黑" panose="020B0503020204020204" pitchFamily="34" charset="-122"/>
            </a:endParaRPr>
          </a:p>
          <a:p>
            <a:pPr>
              <a:spcBef>
                <a:spcPct val="0"/>
              </a:spcBef>
              <a:defRPr/>
            </a:pPr>
            <a:r>
              <a:rPr lang="en-US" altLang="zh-CN" sz="1600" b="1" dirty="0">
                <a:latin typeface="微软雅黑" panose="020B0503020204020204" pitchFamily="34" charset="-122"/>
                <a:ea typeface="微软雅黑" panose="020B0503020204020204" pitchFamily="34" charset="-122"/>
              </a:rPr>
              <a:t>Question</a:t>
            </a:r>
            <a:r>
              <a:rPr lang="zh-CN" altLang="en-US" sz="1600" dirty="0">
                <a:latin typeface="微软雅黑" panose="020B0503020204020204" pitchFamily="34" charset="-122"/>
                <a:ea typeface="微软雅黑" panose="020B0503020204020204" pitchFamily="34" charset="-122"/>
              </a:rPr>
              <a:t>：在锚框形态下又怎么样去设置</a:t>
            </a:r>
            <a:r>
              <a:rPr lang="en-US" altLang="zh-CN" sz="1600" dirty="0">
                <a:latin typeface="微软雅黑" panose="020B0503020204020204" pitchFamily="34" charset="-122"/>
                <a:ea typeface="微软雅黑" panose="020B0503020204020204" pitchFamily="34" charset="-122"/>
              </a:rPr>
              <a:t>UI</a:t>
            </a:r>
            <a:r>
              <a:rPr lang="zh-CN" altLang="en-US" sz="1600" dirty="0">
                <a:latin typeface="微软雅黑" panose="020B0503020204020204" pitchFamily="34" charset="-122"/>
                <a:ea typeface="微软雅黑" panose="020B0503020204020204" pitchFamily="34" charset="-122"/>
              </a:rPr>
              <a:t>元素的尺寸？</a:t>
            </a:r>
            <a:endParaRPr lang="en-US" altLang="zh-CN" sz="1600" dirty="0">
              <a:latin typeface="微软雅黑" panose="020B0503020204020204" pitchFamily="34" charset="-122"/>
              <a:ea typeface="微软雅黑" panose="020B0503020204020204" pitchFamily="34" charset="-122"/>
            </a:endParaRPr>
          </a:p>
          <a:p>
            <a:br>
              <a:rPr lang="en-US" altLang="zh-CN" sz="1600" dirty="0">
                <a:latin typeface="微软雅黑" panose="020B0503020204020204" pitchFamily="34" charset="-122"/>
                <a:ea typeface="微软雅黑" panose="020B0503020204020204" pitchFamily="34" charset="-122"/>
              </a:rPr>
            </a:br>
            <a:endParaRPr lang="en-US" altLang="zh-CN" sz="1600" b="1" dirty="0">
              <a:latin typeface="微软雅黑" panose="020B0503020204020204" pitchFamily="34" charset="-122"/>
              <a:ea typeface="微软雅黑" panose="020B0503020204020204" pitchFamily="34" charset="-122"/>
            </a:endParaRPr>
          </a:p>
          <a:p>
            <a:pPr>
              <a:spcBef>
                <a:spcPct val="0"/>
              </a:spcBef>
              <a:defRPr/>
            </a:pPr>
            <a:endParaRPr lang="zh-CN" altLang="en-US" sz="1600" dirty="0">
              <a:latin typeface="微软雅黑" panose="020B0503020204020204" pitchFamily="34" charset="-122"/>
              <a:ea typeface="微软雅黑" panose="020B0503020204020204" pitchFamily="34" charset="-122"/>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0" indent="-742950" algn="ctr">
              <a:spcBef>
                <a:spcPct val="0"/>
              </a:spcBef>
              <a:defRPr/>
            </a:pPr>
            <a:r>
              <a:rPr lang="zh-CN" altLang="en-US" sz="4000" dirty="0">
                <a:solidFill>
                  <a:schemeClr val="tx1"/>
                </a:solidFill>
                <a:latin typeface="微软雅黑" panose="020B0503020204020204" pitchFamily="34" charset="-122"/>
                <a:ea typeface="微软雅黑" panose="020B0503020204020204" pitchFamily="34" charset="-122"/>
              </a:rPr>
              <a:t>布局系统</a:t>
            </a:r>
            <a:endParaRPr lang="en-US" altLang="zh-CN" sz="4000" dirty="0">
              <a:solidFill>
                <a:schemeClr val="tx1"/>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59260" y="1088371"/>
            <a:ext cx="5831457" cy="619985"/>
          </a:xfrm>
          <a:prstGeom prst="rect">
            <a:avLst/>
          </a:prstGeom>
        </p:spPr>
      </p:pic>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260" y="1739380"/>
            <a:ext cx="3476625" cy="495300"/>
          </a:xfrm>
          <a:prstGeom prst="rect">
            <a:avLst/>
          </a:prstGeom>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8735" y="3545304"/>
            <a:ext cx="3168377" cy="553209"/>
          </a:xfrm>
          <a:prstGeom prst="rect">
            <a:avLst/>
          </a:prstGeom>
        </p:spPr>
      </p:pic>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8735" y="4725144"/>
            <a:ext cx="6550371" cy="54042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643602"/>
          </a:xfrm>
          <a:prstGeom prst="rect">
            <a:avLst/>
          </a:prstGeom>
        </p:spPr>
        <p:txBody>
          <a:bodyPr vert="horz" lIns="91440" tIns="45720" rIns="91440" bIns="45720" rtlCol="0" anchor="t">
            <a:normAutofit/>
          </a:bodyPr>
          <a:lstStyle/>
          <a:p>
            <a:pPr>
              <a:spcBef>
                <a:spcPct val="0"/>
              </a:spcBef>
              <a:defRPr/>
            </a:pPr>
            <a:endParaRPr lang="en-US" altLang="zh-CN" sz="1400" b="1" dirty="0">
              <a:latin typeface="微软雅黑" panose="020B0503020204020204" pitchFamily="34" charset="-122"/>
              <a:ea typeface="微软雅黑" panose="020B0503020204020204" pitchFamily="34" charset="-122"/>
            </a:endParaRPr>
          </a:p>
          <a:p>
            <a:pPr>
              <a:spcBef>
                <a:spcPct val="0"/>
              </a:spcBef>
              <a:defRPr/>
            </a:pPr>
            <a:endParaRPr lang="en-US" altLang="zh-CN" sz="1400" b="1" dirty="0">
              <a:latin typeface="微软雅黑" panose="020B0503020204020204" pitchFamily="34" charset="-122"/>
              <a:ea typeface="微软雅黑" panose="020B0503020204020204" pitchFamily="34" charset="-122"/>
            </a:endParaRPr>
          </a:p>
          <a:p>
            <a:pPr>
              <a:spcBef>
                <a:spcPct val="0"/>
              </a:spcBef>
              <a:defRPr/>
            </a:pPr>
            <a:endParaRPr lang="en-US" altLang="zh-CN" sz="1400" dirty="0">
              <a:latin typeface="微软雅黑" panose="020B0503020204020204" pitchFamily="34" charset="-122"/>
              <a:ea typeface="微软雅黑" panose="020B0503020204020204" pitchFamily="34" charset="-122"/>
            </a:endParaRPr>
          </a:p>
          <a:p>
            <a:pPr>
              <a:spcBef>
                <a:spcPct val="0"/>
              </a:spcBef>
              <a:defRPr/>
            </a:pPr>
            <a:endParaRPr lang="en-US" altLang="zh-CN" sz="1400" dirty="0">
              <a:latin typeface="微软雅黑" panose="020B0503020204020204" pitchFamily="34" charset="-122"/>
              <a:ea typeface="微软雅黑" panose="020B0503020204020204" pitchFamily="34" charset="-122"/>
            </a:endParaRPr>
          </a:p>
          <a:p>
            <a:pPr marL="285750" indent="-285750">
              <a:spcBef>
                <a:spcPct val="0"/>
              </a:spcBef>
              <a:buFont typeface="Arial" panose="020B0604020202020204" pitchFamily="34" charset="0"/>
              <a:buChar char="•"/>
              <a:defRPr/>
            </a:pPr>
            <a:r>
              <a:rPr lang="zh-CN" altLang="en-US" sz="1400" dirty="0">
                <a:latin typeface="微软雅黑" panose="020B0503020204020204" pitchFamily="34" charset="-122"/>
                <a:ea typeface="微软雅黑" panose="020B0503020204020204" pitchFamily="34" charset="-122"/>
              </a:rPr>
              <a:t>通俗讲，在锚点形态下，该值就是表示锚点到</a:t>
            </a:r>
            <a:r>
              <a:rPr lang="en-US" altLang="zh-CN" sz="1400" dirty="0">
                <a:latin typeface="微软雅黑" panose="020B0503020204020204" pitchFamily="34" charset="-122"/>
                <a:ea typeface="微软雅黑" panose="020B0503020204020204" pitchFamily="34" charset="-122"/>
              </a:rPr>
              <a:t>UI</a:t>
            </a:r>
            <a:r>
              <a:rPr lang="zh-CN" altLang="en-US" sz="1400" dirty="0">
                <a:latin typeface="微软雅黑" panose="020B0503020204020204" pitchFamily="34" charset="-122"/>
                <a:ea typeface="微软雅黑" panose="020B0503020204020204" pitchFamily="34" charset="-122"/>
              </a:rPr>
              <a:t>轴心的矢量值。</a:t>
            </a:r>
            <a:endParaRPr lang="en-US" altLang="zh-CN" sz="1400" dirty="0">
              <a:latin typeface="微软雅黑" panose="020B0503020204020204" pitchFamily="34" charset="-122"/>
              <a:ea typeface="微软雅黑" panose="020B0503020204020204" pitchFamily="34" charset="-122"/>
            </a:endParaRPr>
          </a:p>
          <a:p>
            <a:pPr marL="285750" indent="-285750">
              <a:spcBef>
                <a:spcPct val="0"/>
              </a:spcBef>
              <a:buFont typeface="Arial" panose="020B0604020202020204" pitchFamily="34" charset="0"/>
              <a:buChar char="•"/>
              <a:defRPr/>
            </a:pPr>
            <a:r>
              <a:rPr lang="zh-CN" altLang="en-US" sz="1400" dirty="0">
                <a:latin typeface="微软雅黑" panose="020B0503020204020204" pitchFamily="34" charset="-122"/>
                <a:ea typeface="微软雅黑" panose="020B0503020204020204" pitchFamily="34" charset="-122"/>
              </a:rPr>
              <a:t>通俗讲，在锚框形态下，该值就是表示锚框里某一个点到</a:t>
            </a:r>
            <a:r>
              <a:rPr lang="en-US" altLang="zh-CN" sz="1400" dirty="0">
                <a:latin typeface="微软雅黑" panose="020B0503020204020204" pitchFamily="34" charset="-122"/>
                <a:ea typeface="微软雅黑" panose="020B0503020204020204" pitchFamily="34" charset="-122"/>
              </a:rPr>
              <a:t>UI</a:t>
            </a:r>
            <a:r>
              <a:rPr lang="zh-CN" altLang="en-US" sz="1400" dirty="0">
                <a:latin typeface="微软雅黑" panose="020B0503020204020204" pitchFamily="34" charset="-122"/>
                <a:ea typeface="微软雅黑" panose="020B0503020204020204" pitchFamily="34" charset="-122"/>
              </a:rPr>
              <a:t>轴心的矢量值。</a:t>
            </a:r>
            <a:endParaRPr lang="en-US" altLang="zh-CN" sz="1400" dirty="0">
              <a:latin typeface="微软雅黑" panose="020B0503020204020204" pitchFamily="34" charset="-122"/>
              <a:ea typeface="微软雅黑" panose="020B0503020204020204" pitchFamily="34" charset="-122"/>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0" indent="-742950" algn="ctr">
              <a:spcBef>
                <a:spcPct val="0"/>
              </a:spcBef>
              <a:defRPr/>
            </a:pPr>
            <a:r>
              <a:rPr lang="zh-CN" altLang="en-US" sz="4000" dirty="0">
                <a:solidFill>
                  <a:schemeClr val="tx1"/>
                </a:solidFill>
                <a:latin typeface="微软雅黑" panose="020B0503020204020204" pitchFamily="34" charset="-122"/>
                <a:ea typeface="微软雅黑" panose="020B0503020204020204" pitchFamily="34" charset="-122"/>
              </a:rPr>
              <a:t>布局系统</a:t>
            </a:r>
            <a:endParaRPr lang="en-US" altLang="zh-CN" sz="4000" dirty="0">
              <a:solidFill>
                <a:schemeClr val="tx1"/>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55576" y="1079027"/>
            <a:ext cx="6272589" cy="689370"/>
          </a:xfrm>
          <a:prstGeom prst="rect">
            <a:avLst/>
          </a:prstGeom>
        </p:spPr>
      </p:pic>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7704" y="2394748"/>
            <a:ext cx="4923953" cy="431772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643602"/>
          </a:xfrm>
          <a:prstGeom prst="rect">
            <a:avLst/>
          </a:prstGeom>
        </p:spPr>
        <p:txBody>
          <a:bodyPr vert="horz" lIns="91440" tIns="45720" rIns="91440" bIns="45720" rtlCol="0" anchor="t">
            <a:normAutofit/>
          </a:bodyPr>
          <a:lstStyle/>
          <a:p>
            <a:r>
              <a:rPr lang="zh-CN" altLang="en-US" sz="1400" b="1" smtClean="0">
                <a:solidFill>
                  <a:srgbClr val="C00000"/>
                </a:solidFill>
                <a:latin typeface="微软雅黑" panose="020B0503020204020204" pitchFamily="34" charset="-122"/>
                <a:ea typeface="微软雅黑" panose="020B0503020204020204" pitchFamily="34" charset="-122"/>
              </a:rPr>
              <a:t>重要概念</a:t>
            </a:r>
            <a:endParaRPr lang="en-US" sz="1400" b="1" smtClean="0">
              <a:solidFill>
                <a:srgbClr val="C00000"/>
              </a:solidFill>
              <a:latin typeface="微软雅黑" panose="020B0503020204020204" pitchFamily="34" charset="-122"/>
              <a:ea typeface="微软雅黑" panose="020B0503020204020204" pitchFamily="34" charset="-122"/>
            </a:endParaRPr>
          </a:p>
          <a:p>
            <a:endParaRPr lang="en-US" sz="1400" b="1" smtClean="0">
              <a:latin typeface="微软雅黑" panose="020B0503020204020204" pitchFamily="34" charset="-122"/>
              <a:ea typeface="微软雅黑" panose="020B0503020204020204" pitchFamily="34" charset="-122"/>
            </a:endParaRPr>
          </a:p>
          <a:p>
            <a:r>
              <a:rPr lang="en-US" sz="1400" b="1" smtClean="0">
                <a:latin typeface="微软雅黑" panose="020B0503020204020204" pitchFamily="34" charset="-122"/>
                <a:ea typeface="微软雅黑" panose="020B0503020204020204" pitchFamily="34" charset="-122"/>
              </a:rPr>
              <a:t>Canvas Batch</a:t>
            </a:r>
            <a:r>
              <a:rPr lang="zh-CN" altLang="en-US" sz="1400" smtClean="0">
                <a:latin typeface="微软雅黑" panose="020B0503020204020204" pitchFamily="34" charset="-122"/>
                <a:ea typeface="微软雅黑" panose="020B0503020204020204" pitchFamily="34" charset="-122"/>
              </a:rPr>
              <a:t>：</a:t>
            </a:r>
            <a:r>
              <a:rPr lang="en-US" sz="1400" smtClean="0">
                <a:latin typeface="微软雅黑" panose="020B0503020204020204" pitchFamily="34" charset="-122"/>
                <a:ea typeface="微软雅黑" panose="020B0503020204020204" pitchFamily="34" charset="-122"/>
              </a:rPr>
              <a:t>Canvas</a:t>
            </a:r>
            <a:r>
              <a:rPr lang="zh-CN" altLang="en-US" sz="1400" smtClean="0">
                <a:latin typeface="微软雅黑" panose="020B0503020204020204" pitchFamily="34" charset="-122"/>
                <a:ea typeface="微软雅黑" panose="020B0503020204020204" pitchFamily="34" charset="-122"/>
              </a:rPr>
              <a:t>下的</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元素最终都会被</a:t>
            </a:r>
            <a:r>
              <a:rPr lang="en-US" sz="1400" smtClean="0">
                <a:latin typeface="微软雅黑" panose="020B0503020204020204" pitchFamily="34" charset="-122"/>
                <a:ea typeface="微软雅黑" panose="020B0503020204020204" pitchFamily="34" charset="-122"/>
              </a:rPr>
              <a:t>Batch</a:t>
            </a:r>
            <a:r>
              <a:rPr lang="zh-CN" altLang="en-US" sz="1400" smtClean="0">
                <a:latin typeface="微软雅黑" panose="020B0503020204020204" pitchFamily="34" charset="-122"/>
                <a:ea typeface="微软雅黑" panose="020B0503020204020204" pitchFamily="34" charset="-122"/>
              </a:rPr>
              <a:t>到同一个</a:t>
            </a:r>
            <a:r>
              <a:rPr lang="en-US" sz="1400" smtClean="0">
                <a:latin typeface="微软雅黑" panose="020B0503020204020204" pitchFamily="34" charset="-122"/>
                <a:ea typeface="微软雅黑" panose="020B0503020204020204" pitchFamily="34" charset="-122"/>
              </a:rPr>
              <a:t>Mesh</a:t>
            </a:r>
            <a:r>
              <a:rPr lang="zh-CN" altLang="en-US" sz="1400" smtClean="0">
                <a:latin typeface="微软雅黑" panose="020B0503020204020204" pitchFamily="34" charset="-122"/>
                <a:ea typeface="微软雅黑" panose="020B0503020204020204" pitchFamily="34" charset="-122"/>
              </a:rPr>
              <a:t>中，而在</a:t>
            </a:r>
            <a:r>
              <a:rPr lang="en-US" sz="1400" smtClean="0">
                <a:latin typeface="微软雅黑" panose="020B0503020204020204" pitchFamily="34" charset="-122"/>
                <a:ea typeface="微软雅黑" panose="020B0503020204020204" pitchFamily="34" charset="-122"/>
              </a:rPr>
              <a:t>Batch</a:t>
            </a:r>
            <a:r>
              <a:rPr lang="zh-CN" altLang="en-US" sz="1400" smtClean="0">
                <a:latin typeface="微软雅黑" panose="020B0503020204020204" pitchFamily="34" charset="-122"/>
                <a:ea typeface="微软雅黑" panose="020B0503020204020204" pitchFamily="34" charset="-122"/>
              </a:rPr>
              <a:t>前，会根据这些</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元素的材质（通常就是</a:t>
            </a:r>
            <a:r>
              <a:rPr lang="en-US" sz="1400" smtClean="0">
                <a:latin typeface="微软雅黑" panose="020B0503020204020204" pitchFamily="34" charset="-122"/>
                <a:ea typeface="微软雅黑" panose="020B0503020204020204" pitchFamily="34" charset="-122"/>
              </a:rPr>
              <a:t>Atlas）</a:t>
            </a:r>
            <a:r>
              <a:rPr lang="zh-CN" altLang="en-US" sz="1400" smtClean="0">
                <a:latin typeface="微软雅黑" panose="020B0503020204020204" pitchFamily="34" charset="-122"/>
                <a:ea typeface="微软雅黑" panose="020B0503020204020204" pitchFamily="34" charset="-122"/>
              </a:rPr>
              <a:t>以及渲染顺序进行重排，在不改变渲染结果的前提下，尽可能将相同材质的</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元素合并在同一个</a:t>
            </a:r>
            <a:r>
              <a:rPr lang="en-US" sz="1400" smtClean="0">
                <a:latin typeface="微软雅黑" panose="020B0503020204020204" pitchFamily="34" charset="-122"/>
                <a:ea typeface="微软雅黑" panose="020B0503020204020204" pitchFamily="34" charset="-122"/>
              </a:rPr>
              <a:t>SubMesh</a:t>
            </a:r>
            <a:r>
              <a:rPr lang="zh-CN" altLang="en-US" sz="1400" smtClean="0">
                <a:latin typeface="微软雅黑" panose="020B0503020204020204" pitchFamily="34" charset="-122"/>
                <a:ea typeface="微软雅黑" panose="020B0503020204020204" pitchFamily="34" charset="-122"/>
              </a:rPr>
              <a:t>中，从而把</a:t>
            </a:r>
            <a:r>
              <a:rPr lang="en-US" sz="1400" smtClean="0">
                <a:latin typeface="微软雅黑" panose="020B0503020204020204" pitchFamily="34" charset="-122"/>
                <a:ea typeface="微软雅黑" panose="020B0503020204020204" pitchFamily="34" charset="-122"/>
              </a:rPr>
              <a:t>DrawCall</a:t>
            </a:r>
            <a:r>
              <a:rPr lang="zh-CN" altLang="en-US" sz="1400" smtClean="0">
                <a:latin typeface="微软雅黑" panose="020B0503020204020204" pitchFamily="34" charset="-122"/>
                <a:ea typeface="微软雅黑" panose="020B0503020204020204" pitchFamily="34" charset="-122"/>
              </a:rPr>
              <a:t>降到最低。</a:t>
            </a:r>
            <a:r>
              <a:rPr lang="en-US" altLang="zh-CN" sz="1400" smtClean="0">
                <a:latin typeface="微软雅黑" panose="020B0503020204020204" pitchFamily="34" charset="-122"/>
                <a:ea typeface="微软雅黑" panose="020B0503020204020204" pitchFamily="34" charset="-122"/>
              </a:rPr>
              <a:t>Batch</a:t>
            </a:r>
            <a:r>
              <a:rPr lang="zh-CN" altLang="en-US" sz="1400" smtClean="0">
                <a:latin typeface="微软雅黑" panose="020B0503020204020204" pitchFamily="34" charset="-122"/>
                <a:ea typeface="微软雅黑" panose="020B0503020204020204" pitchFamily="34" charset="-122"/>
              </a:rPr>
              <a:t>的结果会被缓存复用，直到这个</a:t>
            </a:r>
            <a:r>
              <a:rPr lang="en-US" altLang="zh-CN" sz="1400" smtClean="0">
                <a:latin typeface="微软雅黑" panose="020B0503020204020204" pitchFamily="34" charset="-122"/>
                <a:ea typeface="微软雅黑" panose="020B0503020204020204" pitchFamily="34" charset="-122"/>
              </a:rPr>
              <a:t>Canvas</a:t>
            </a:r>
            <a:r>
              <a:rPr lang="zh-CN" altLang="en-US" sz="1400" smtClean="0">
                <a:latin typeface="微软雅黑" panose="020B0503020204020204" pitchFamily="34" charset="-122"/>
                <a:ea typeface="微软雅黑" panose="020B0503020204020204" pitchFamily="34" charset="-122"/>
              </a:rPr>
              <a:t>被标记为</a:t>
            </a:r>
            <a:r>
              <a:rPr lang="en-US" altLang="zh-CN" sz="1400" smtClean="0">
                <a:latin typeface="微软雅黑" panose="020B0503020204020204" pitchFamily="34" charset="-122"/>
                <a:ea typeface="微软雅黑" panose="020B0503020204020204" pitchFamily="34" charset="-122"/>
              </a:rPr>
              <a:t>dirty</a:t>
            </a:r>
            <a:r>
              <a:rPr lang="zh-CN" altLang="en-US" sz="1400" smtClean="0">
                <a:latin typeface="微软雅黑" panose="020B0503020204020204" pitchFamily="34" charset="-122"/>
                <a:ea typeface="微软雅黑" panose="020B0503020204020204" pitchFamily="34" charset="-122"/>
              </a:rPr>
              <a:t>。</a:t>
            </a:r>
            <a:endParaRPr lang="en-US" altLang="zh-CN" sz="1400" smtClean="0">
              <a:latin typeface="微软雅黑" panose="020B0503020204020204" pitchFamily="34" charset="-122"/>
              <a:ea typeface="微软雅黑" panose="020B0503020204020204" pitchFamily="34" charset="-122"/>
            </a:endParaRPr>
          </a:p>
          <a:p>
            <a:endParaRPr lang="en-US" altLang="zh-CN" sz="1400" smtClean="0">
              <a:latin typeface="微软雅黑" panose="020B0503020204020204" pitchFamily="34" charset="-122"/>
              <a:ea typeface="微软雅黑" panose="020B0503020204020204" pitchFamily="34" charset="-122"/>
            </a:endParaRPr>
          </a:p>
          <a:p>
            <a:r>
              <a:rPr lang="en-US" altLang="zh-CN" sz="1400" b="1" smtClean="0">
                <a:latin typeface="微软雅黑" panose="020B0503020204020204" pitchFamily="34" charset="-122"/>
                <a:ea typeface="微软雅黑" panose="020B0503020204020204" pitchFamily="34" charset="-122"/>
              </a:rPr>
              <a:t>Unity</a:t>
            </a:r>
            <a:r>
              <a:rPr lang="zh-CN" altLang="en-US" sz="1400" b="1" smtClean="0">
                <a:latin typeface="微软雅黑" panose="020B0503020204020204" pitchFamily="34" charset="-122"/>
                <a:ea typeface="微软雅黑" panose="020B0503020204020204" pitchFamily="34" charset="-122"/>
              </a:rPr>
              <a:t>官方的重要提示</a:t>
            </a:r>
            <a:r>
              <a:rPr lang="zh-CN" altLang="en-US" sz="1400" smtClean="0">
                <a:latin typeface="微软雅黑" panose="020B0503020204020204" pitchFamily="34" charset="-122"/>
                <a:ea typeface="微软雅黑" panose="020B0503020204020204" pitchFamily="34" charset="-122"/>
              </a:rPr>
              <a:t>：当给定</a:t>
            </a:r>
            <a:r>
              <a:rPr lang="en-US" sz="1400" smtClean="0">
                <a:latin typeface="微软雅黑" panose="020B0503020204020204" pitchFamily="34" charset="-122"/>
                <a:ea typeface="微软雅黑" panose="020B0503020204020204" pitchFamily="34" charset="-122"/>
              </a:rPr>
              <a:t>Canvas</a:t>
            </a:r>
            <a:r>
              <a:rPr lang="zh-CN" altLang="en-US" sz="1400" smtClean="0">
                <a:latin typeface="微软雅黑" panose="020B0503020204020204" pitchFamily="34" charset="-122"/>
                <a:ea typeface="微软雅黑" panose="020B0503020204020204" pitchFamily="34" charset="-122"/>
              </a:rPr>
              <a:t>上的任何可绘制</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元素发生更改时，</a:t>
            </a:r>
            <a:r>
              <a:rPr lang="en-US" sz="1400" smtClean="0">
                <a:latin typeface="微软雅黑" panose="020B0503020204020204" pitchFamily="34" charset="-122"/>
                <a:ea typeface="微软雅黑" panose="020B0503020204020204" pitchFamily="34" charset="-122"/>
              </a:rPr>
              <a:t>Canvas</a:t>
            </a:r>
            <a:r>
              <a:rPr lang="zh-CN" altLang="en-US" sz="1400" smtClean="0">
                <a:latin typeface="微软雅黑" panose="020B0503020204020204" pitchFamily="34" charset="-122"/>
                <a:ea typeface="微软雅黑" panose="020B0503020204020204" pitchFamily="34" charset="-122"/>
              </a:rPr>
              <a:t>必须重新执行合批过程。此过程重新分析</a:t>
            </a:r>
            <a:r>
              <a:rPr lang="en-US" sz="1400" smtClean="0">
                <a:latin typeface="微软雅黑" panose="020B0503020204020204" pitchFamily="34" charset="-122"/>
                <a:ea typeface="微软雅黑" panose="020B0503020204020204" pitchFamily="34" charset="-122"/>
              </a:rPr>
              <a:t>Canvas</a:t>
            </a:r>
            <a:r>
              <a:rPr lang="zh-CN" altLang="en-US" sz="1400" smtClean="0">
                <a:latin typeface="微软雅黑" panose="020B0503020204020204" pitchFamily="34" charset="-122"/>
                <a:ea typeface="微软雅黑" panose="020B0503020204020204" pitchFamily="34" charset="-122"/>
              </a:rPr>
              <a:t>上的每个可绘制</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元素，不管它是否被修改。注意，“更改”是指影响</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元素外观的任何变动，包括修改</a:t>
            </a:r>
            <a:r>
              <a:rPr lang="en-US" sz="1400" smtClean="0">
                <a:latin typeface="微软雅黑" panose="020B0503020204020204" pitchFamily="34" charset="-122"/>
                <a:ea typeface="微软雅黑" panose="020B0503020204020204" pitchFamily="34" charset="-122"/>
              </a:rPr>
              <a:t>sprite renderer</a:t>
            </a:r>
            <a:r>
              <a:rPr lang="zh-CN" altLang="en-US" sz="1400" smtClean="0">
                <a:latin typeface="微软雅黑" panose="020B0503020204020204" pitchFamily="34" charset="-122"/>
                <a:ea typeface="微软雅黑" panose="020B0503020204020204" pitchFamily="34" charset="-122"/>
              </a:rPr>
              <a:t>的</a:t>
            </a:r>
            <a:r>
              <a:rPr lang="en-US" sz="1400" smtClean="0">
                <a:latin typeface="微软雅黑" panose="020B0503020204020204" pitchFamily="34" charset="-122"/>
                <a:ea typeface="微软雅黑" panose="020B0503020204020204" pitchFamily="34" charset="-122"/>
              </a:rPr>
              <a:t>sprite、transform</a:t>
            </a:r>
            <a:r>
              <a:rPr lang="zh-CN" altLang="en-US" sz="1400" smtClean="0">
                <a:latin typeface="微软雅黑" panose="020B0503020204020204" pitchFamily="34" charset="-122"/>
                <a:ea typeface="微软雅黑" panose="020B0503020204020204" pitchFamily="34" charset="-122"/>
              </a:rPr>
              <a:t>的</a:t>
            </a:r>
            <a:r>
              <a:rPr lang="en-US" sz="1400" smtClean="0">
                <a:latin typeface="微软雅黑" panose="020B0503020204020204" pitchFamily="34" charset="-122"/>
                <a:ea typeface="微软雅黑" panose="020B0503020204020204" pitchFamily="34" charset="-122"/>
              </a:rPr>
              <a:t>position</a:t>
            </a:r>
            <a:r>
              <a:rPr lang="zh-CN" altLang="en-US" sz="1400" smtClean="0">
                <a:latin typeface="微软雅黑" panose="020B0503020204020204" pitchFamily="34" charset="-122"/>
                <a:ea typeface="微软雅黑" panose="020B0503020204020204" pitchFamily="34" charset="-122"/>
              </a:rPr>
              <a:t>和</a:t>
            </a:r>
            <a:r>
              <a:rPr lang="en-US" sz="1400" smtClean="0">
                <a:latin typeface="微软雅黑" panose="020B0503020204020204" pitchFamily="34" charset="-122"/>
                <a:ea typeface="微软雅黑" panose="020B0503020204020204" pitchFamily="34" charset="-122"/>
              </a:rPr>
              <a:t>scale、</a:t>
            </a:r>
            <a:r>
              <a:rPr lang="zh-CN" altLang="en-US" sz="1400" smtClean="0">
                <a:latin typeface="微软雅黑" panose="020B0503020204020204" pitchFamily="34" charset="-122"/>
                <a:ea typeface="微软雅黑" panose="020B0503020204020204" pitchFamily="34" charset="-122"/>
              </a:rPr>
              <a:t>文本网格的</a:t>
            </a:r>
            <a:r>
              <a:rPr lang="en-US" sz="1400" smtClean="0">
                <a:latin typeface="微软雅黑" panose="020B0503020204020204" pitchFamily="34" charset="-122"/>
                <a:ea typeface="微软雅黑" panose="020B0503020204020204" pitchFamily="34" charset="-122"/>
              </a:rPr>
              <a:t>text</a:t>
            </a:r>
            <a:r>
              <a:rPr lang="zh-CN" altLang="en-US" sz="1400" smtClean="0">
                <a:latin typeface="微软雅黑" panose="020B0503020204020204" pitchFamily="34" charset="-122"/>
                <a:ea typeface="微软雅黑" panose="020B0503020204020204" pitchFamily="34" charset="-122"/>
              </a:rPr>
              <a:t>等。</a:t>
            </a:r>
            <a:endParaRPr lang="zh-CN" altLang="en-US" sz="1400" smtClean="0">
              <a:latin typeface="微软雅黑" panose="020B0503020204020204" pitchFamily="34" charset="-122"/>
              <a:ea typeface="微软雅黑" panose="020B0503020204020204" pitchFamily="34" charset="-122"/>
            </a:endParaRPr>
          </a:p>
          <a:p>
            <a:br>
              <a:rPr lang="zh-CN" altLang="en-US" sz="1400" smtClean="0"/>
            </a:br>
            <a:r>
              <a:rPr lang="en-US" altLang="zh-CN" sz="1400" b="1" smtClean="0">
                <a:latin typeface="微软雅黑" panose="020B0503020204020204" pitchFamily="34" charset="-122"/>
                <a:ea typeface="微软雅黑" panose="020B0503020204020204" pitchFamily="34" charset="-122"/>
              </a:rPr>
              <a:t>Canvas</a:t>
            </a:r>
            <a:r>
              <a:rPr lang="zh-CN" altLang="en-US" sz="1400" b="1" smtClean="0">
                <a:latin typeface="微软雅黑" panose="020B0503020204020204" pitchFamily="34" charset="-122"/>
                <a:ea typeface="微软雅黑" panose="020B0503020204020204" pitchFamily="34" charset="-122"/>
              </a:rPr>
              <a:t>嵌套</a:t>
            </a:r>
            <a:r>
              <a:rPr lang="zh-CN" altLang="en-US" sz="1400" smtClean="0">
                <a:latin typeface="微软雅黑" panose="020B0503020204020204" pitchFamily="34" charset="-122"/>
                <a:ea typeface="微软雅黑" panose="020B0503020204020204" pitchFamily="34" charset="-122"/>
              </a:rPr>
              <a:t>：</a:t>
            </a:r>
            <a:r>
              <a:rPr lang="en-US" altLang="zh-CN" sz="1400" smtClean="0">
                <a:latin typeface="微软雅黑" panose="020B0503020204020204" pitchFamily="34" charset="-122"/>
                <a:ea typeface="微软雅黑" panose="020B0503020204020204" pitchFamily="34" charset="-122"/>
              </a:rPr>
              <a:t>Canvas</a:t>
            </a:r>
            <a:r>
              <a:rPr lang="zh-CN" altLang="en-US" sz="1400" smtClean="0">
                <a:latin typeface="微软雅黑" panose="020B0503020204020204" pitchFamily="34" charset="-122"/>
                <a:ea typeface="微软雅黑" panose="020B0503020204020204" pitchFamily="34" charset="-122"/>
              </a:rPr>
              <a:t>可以嵌套使用，一个子</a:t>
            </a:r>
            <a:r>
              <a:rPr lang="en-US" sz="1400" smtClean="0">
                <a:latin typeface="微软雅黑" panose="020B0503020204020204" pitchFamily="34" charset="-122"/>
                <a:ea typeface="微软雅黑" panose="020B0503020204020204" pitchFamily="34" charset="-122"/>
              </a:rPr>
              <a:t>Canvas</a:t>
            </a:r>
            <a:r>
              <a:rPr lang="zh-CN" altLang="en-US" sz="1400" smtClean="0">
                <a:latin typeface="微软雅黑" panose="020B0503020204020204" pitchFamily="34" charset="-122"/>
                <a:ea typeface="微软雅黑" panose="020B0503020204020204" pitchFamily="34" charset="-122"/>
              </a:rPr>
              <a:t>下</a:t>
            </a:r>
            <a:r>
              <a:rPr lang="en-US" sz="1400" smtClean="0">
                <a:latin typeface="微软雅黑" panose="020B0503020204020204" pitchFamily="34" charset="-122"/>
                <a:ea typeface="微软雅黑" panose="020B0503020204020204" pitchFamily="34" charset="-122"/>
              </a:rPr>
              <a:t>dirty</a:t>
            </a:r>
            <a:r>
              <a:rPr lang="zh-CN" altLang="en-US" sz="1400" smtClean="0">
                <a:latin typeface="微软雅黑" panose="020B0503020204020204" pitchFamily="34" charset="-122"/>
                <a:ea typeface="微软雅黑" panose="020B0503020204020204" pitchFamily="34" charset="-122"/>
              </a:rPr>
              <a:t>的子物体不会触发父</a:t>
            </a:r>
            <a:r>
              <a:rPr lang="en-US" sz="1400" smtClean="0">
                <a:latin typeface="微软雅黑" panose="020B0503020204020204" pitchFamily="34" charset="-122"/>
                <a:ea typeface="微软雅黑" panose="020B0503020204020204" pitchFamily="34" charset="-122"/>
              </a:rPr>
              <a:t>Canvas</a:t>
            </a:r>
            <a:r>
              <a:rPr lang="zh-CN" altLang="en-US" sz="1400" smtClean="0">
                <a:latin typeface="微软雅黑" panose="020B0503020204020204" pitchFamily="34" charset="-122"/>
                <a:ea typeface="微软雅黑" panose="020B0503020204020204" pitchFamily="34" charset="-122"/>
              </a:rPr>
              <a:t>的</a:t>
            </a:r>
            <a:r>
              <a:rPr lang="en-US" sz="1400" smtClean="0">
                <a:latin typeface="微软雅黑" panose="020B0503020204020204" pitchFamily="34" charset="-122"/>
                <a:ea typeface="微软雅黑" panose="020B0503020204020204" pitchFamily="34" charset="-122"/>
              </a:rPr>
              <a:t>rebuild</a:t>
            </a:r>
            <a:r>
              <a:rPr lang="zh-CN" altLang="en-US" sz="1400" smtClean="0">
                <a:latin typeface="微软雅黑" panose="020B0503020204020204" pitchFamily="34" charset="-122"/>
                <a:ea typeface="微软雅黑" panose="020B0503020204020204" pitchFamily="34" charset="-122"/>
              </a:rPr>
              <a:t>。</a:t>
            </a:r>
            <a:endParaRPr lang="zh-CN" altLang="en-US" sz="1400" smtClean="0">
              <a:latin typeface="微软雅黑" panose="020B0503020204020204" pitchFamily="34" charset="-122"/>
              <a:ea typeface="微软雅黑" panose="020B0503020204020204" pitchFamily="34" charset="-122"/>
            </a:endParaRPr>
          </a:p>
          <a:p>
            <a:endParaRPr lang="zh-CN" altLang="en-US" sz="1400" smtClean="0">
              <a:latin typeface="微软雅黑" panose="020B0503020204020204" pitchFamily="34" charset="-122"/>
              <a:ea typeface="微软雅黑" panose="020B0503020204020204" pitchFamily="34" charset="-122"/>
            </a:endParaRPr>
          </a:p>
          <a:p>
            <a:endParaRPr lang="zh-CN" altLang="en-US" sz="1400" smtClean="0">
              <a:latin typeface="微软雅黑" panose="020B0503020204020204" pitchFamily="34" charset="-122"/>
              <a:ea typeface="微软雅黑" panose="020B0503020204020204" pitchFamily="34" charset="-122"/>
            </a:endParaRPr>
          </a:p>
          <a:p>
            <a:endParaRPr lang="zh-CN" altLang="en-US" sz="1400" smtClean="0">
              <a:latin typeface="微软雅黑" panose="020B0503020204020204" pitchFamily="34" charset="-122"/>
              <a:ea typeface="微软雅黑" panose="020B0503020204020204" pitchFamily="34" charset="-122"/>
            </a:endParaRPr>
          </a:p>
          <a:p>
            <a:endParaRPr lang="zh-CN" altLang="en-US" sz="1400" smtClean="0">
              <a:latin typeface="微软雅黑" panose="020B0503020204020204" pitchFamily="34" charset="-122"/>
              <a:ea typeface="微软雅黑" panose="020B0503020204020204" pitchFamily="34" charset="-122"/>
            </a:endParaRPr>
          </a:p>
          <a:p>
            <a:pPr marL="0" marR="0" lvl="0" indent="0" defTabSz="914400" rtl="0" eaLnBrk="1" fontAlgn="auto" latinLnBrk="0" hangingPunct="1">
              <a:lnSpc>
                <a:spcPct val="100000"/>
              </a:lnSpc>
              <a:spcBef>
                <a:spcPct val="0"/>
              </a:spcBef>
              <a:spcAft>
                <a:spcPts val="0"/>
              </a:spcAft>
              <a:buClrTx/>
              <a:buSzTx/>
              <a:buFontTx/>
              <a:buNone/>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lvl="0">
              <a:spcBef>
                <a:spcPct val="0"/>
              </a:spcBef>
              <a:defRPr/>
            </a:pPr>
            <a:endParaRPr lang="en-US" altLang="zh-CN" sz="1400" dirty="0">
              <a:latin typeface="微软雅黑" panose="020B0503020204020204" pitchFamily="34" charset="-122"/>
              <a:ea typeface="微软雅黑" panose="020B0503020204020204" pitchFamily="34" charset="-122"/>
            </a:endParaRPr>
          </a:p>
          <a:p>
            <a:pPr lvl="0">
              <a:spcBef>
                <a:spcPct val="0"/>
              </a:spcBef>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0" indent="-742950" algn="ctr">
              <a:spcBef>
                <a:spcPct val="0"/>
              </a:spcBef>
              <a:defRPr/>
            </a:pPr>
            <a:r>
              <a:rPr lang="en-US" altLang="zh-CN" sz="4000" dirty="0">
                <a:solidFill>
                  <a:schemeClr val="tx1"/>
                </a:solidFill>
                <a:latin typeface="微软雅黑" panose="020B0503020204020204" pitchFamily="34" charset="-122"/>
                <a:ea typeface="微软雅黑" panose="020B0503020204020204" pitchFamily="34" charset="-122"/>
              </a:rPr>
              <a:t>UGUI</a:t>
            </a:r>
            <a:r>
              <a:rPr lang="zh-CN" altLang="en-US" sz="4000" dirty="0">
                <a:solidFill>
                  <a:schemeClr val="tx1"/>
                </a:solidFill>
                <a:latin typeface="微软雅黑" panose="020B0503020204020204" pitchFamily="34" charset="-122"/>
                <a:ea typeface="微软雅黑" panose="020B0503020204020204" pitchFamily="34" charset="-122"/>
              </a:rPr>
              <a:t>原理</a:t>
            </a:r>
            <a:endParaRPr lang="en-US" altLang="zh-CN" sz="4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643602"/>
          </a:xfrm>
          <a:prstGeom prst="rect">
            <a:avLst/>
          </a:prstGeom>
        </p:spPr>
        <p:txBody>
          <a:bodyPr vert="horz" lIns="91440" tIns="45720" rIns="91440" bIns="45720" rtlCol="0" anchor="t">
            <a:normAutofit/>
          </a:bodyPr>
          <a:lstStyle/>
          <a:p>
            <a:pPr marL="0" marR="0" lvl="0" indent="0" defTabSz="914400" rtl="0" eaLnBrk="1" fontAlgn="auto" latinLnBrk="0" hangingPunct="1">
              <a:lnSpc>
                <a:spcPct val="100000"/>
              </a:lnSpc>
              <a:spcBef>
                <a:spcPct val="0"/>
              </a:spcBef>
              <a:spcAft>
                <a:spcPts val="0"/>
              </a:spcAft>
              <a:buClrTx/>
              <a:buSzTx/>
              <a:buFontTx/>
              <a:buNone/>
              <a:defRPr/>
            </a:pPr>
            <a:r>
              <a:rPr lang="zh-CN" altLang="en-US" sz="1400" b="1" smtClean="0">
                <a:solidFill>
                  <a:srgbClr val="C00000"/>
                </a:solidFill>
                <a:latin typeface="微软雅黑" panose="020B0503020204020204" pitchFamily="34" charset="-122"/>
                <a:ea typeface="微软雅黑" panose="020B0503020204020204" pitchFamily="34" charset="-122"/>
                <a:cs typeface="+mj-cs"/>
              </a:rPr>
              <a:t>网格重建因素</a:t>
            </a:r>
            <a:endParaRPr lang="en-US" altLang="zh-CN" sz="1400" b="1" smtClean="0">
              <a:solidFill>
                <a:srgbClr val="C00000"/>
              </a:solidFill>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lang="en-US" altLang="zh-CN" sz="1400" b="1" smtClean="0">
              <a:latin typeface="微软雅黑" panose="020B0503020204020204" pitchFamily="34" charset="-122"/>
              <a:ea typeface="微软雅黑" panose="020B0503020204020204" pitchFamily="34" charset="-122"/>
              <a:cs typeface="+mj-cs"/>
            </a:endParaRPr>
          </a:p>
          <a:p>
            <a:pPr marL="342900" lvl="0" indent="-342900">
              <a:spcBef>
                <a:spcPct val="0"/>
              </a:spcBef>
              <a:defRPr/>
            </a:pPr>
            <a:r>
              <a:rPr lang="en-US" altLang="zh-CN" sz="1400" b="1" smtClean="0">
                <a:latin typeface="微软雅黑" panose="020B0503020204020204" pitchFamily="34" charset="-122"/>
                <a:ea typeface="微软雅黑" panose="020B0503020204020204" pitchFamily="34" charset="-122"/>
                <a:cs typeface="+mj-cs"/>
              </a:rPr>
              <a:t>UI</a:t>
            </a:r>
            <a:r>
              <a:rPr lang="zh-CN" altLang="en-US" sz="1400" b="1" smtClean="0">
                <a:latin typeface="微软雅黑" panose="020B0503020204020204" pitchFamily="34" charset="-122"/>
                <a:ea typeface="微软雅黑" panose="020B0503020204020204" pitchFamily="34" charset="-122"/>
                <a:cs typeface="+mj-cs"/>
              </a:rPr>
              <a:t>顶点属性变化</a:t>
            </a:r>
            <a:r>
              <a:rPr lang="zh-CN" altLang="en-US" sz="1400" b="1" smtClean="0">
                <a:latin typeface="微软雅黑" panose="020B0503020204020204" pitchFamily="34" charset="-122"/>
                <a:ea typeface="微软雅黑" panose="020B0503020204020204" pitchFamily="34" charset="-122"/>
              </a:rPr>
              <a:t>会引发网格更新</a:t>
            </a:r>
            <a:endParaRPr lang="en-US" altLang="zh-CN" sz="1400" b="1" smtClean="0">
              <a:latin typeface="微软雅黑" panose="020B0503020204020204" pitchFamily="34" charset="-122"/>
              <a:ea typeface="微软雅黑" panose="020B0503020204020204" pitchFamily="34" charset="-122"/>
              <a:cs typeface="+mj-cs"/>
            </a:endParaRPr>
          </a:p>
          <a:p>
            <a:pPr marL="342900" indent="-342900">
              <a:spcBef>
                <a:spcPct val="0"/>
              </a:spcBef>
              <a:buFont typeface="Arial" panose="020B0604020202020204" pitchFamily="34" charset="0"/>
              <a:buChar char="•"/>
              <a:defRPr/>
            </a:pPr>
            <a:r>
              <a:rPr lang="zh-CN" altLang="en-US" sz="1400" smtClean="0">
                <a:latin typeface="微软雅黑" panose="020B0503020204020204" pitchFamily="34" charset="-122"/>
                <a:ea typeface="微软雅黑" panose="020B0503020204020204" pitchFamily="34" charset="-122"/>
              </a:rPr>
              <a:t>修改</a:t>
            </a:r>
            <a:r>
              <a:rPr lang="en-US" sz="1400" smtClean="0">
                <a:latin typeface="微软雅黑" panose="020B0503020204020204" pitchFamily="34" charset="-122"/>
                <a:ea typeface="微软雅黑" panose="020B0503020204020204" pitchFamily="34" charset="-122"/>
              </a:rPr>
              <a:t>Image、Text</a:t>
            </a:r>
            <a:r>
              <a:rPr lang="zh-CN" altLang="en-US" sz="1400" smtClean="0">
                <a:latin typeface="微软雅黑" panose="020B0503020204020204" pitchFamily="34" charset="-122"/>
                <a:ea typeface="微软雅黑" panose="020B0503020204020204" pitchFamily="34" charset="-122"/>
              </a:rPr>
              <a:t>的</a:t>
            </a:r>
            <a:r>
              <a:rPr lang="en-US" sz="1400" smtClean="0">
                <a:latin typeface="微软雅黑" panose="020B0503020204020204" pitchFamily="34" charset="-122"/>
                <a:ea typeface="微软雅黑" panose="020B0503020204020204" pitchFamily="34" charset="-122"/>
              </a:rPr>
              <a:t>color</a:t>
            </a:r>
            <a:r>
              <a:rPr lang="zh-CN" altLang="en-US" sz="1400" smtClean="0">
                <a:latin typeface="微软雅黑" panose="020B0503020204020204" pitchFamily="34" charset="-122"/>
                <a:ea typeface="微软雅黑" panose="020B0503020204020204" pitchFamily="34" charset="-122"/>
              </a:rPr>
              <a:t>属性，会改变</a:t>
            </a:r>
            <a:r>
              <a:rPr lang="en-US" sz="1400" smtClean="0">
                <a:latin typeface="微软雅黑" panose="020B0503020204020204" pitchFamily="34" charset="-122"/>
                <a:ea typeface="微软雅黑" panose="020B0503020204020204" pitchFamily="34" charset="-122"/>
              </a:rPr>
              <a:t>UIVertex.color</a:t>
            </a:r>
            <a:endParaRPr lang="en-US" sz="1400" smtClean="0">
              <a:latin typeface="微软雅黑" panose="020B0503020204020204" pitchFamily="34" charset="-122"/>
              <a:ea typeface="微软雅黑" panose="020B0503020204020204" pitchFamily="34" charset="-122"/>
            </a:endParaRPr>
          </a:p>
          <a:p>
            <a:pPr marL="342900" indent="-342900">
              <a:spcBef>
                <a:spcPct val="0"/>
              </a:spcBef>
              <a:buFont typeface="Arial" panose="020B0604020202020204" pitchFamily="34" charset="0"/>
              <a:buChar char="•"/>
              <a:defRPr/>
            </a:pPr>
            <a:r>
              <a:rPr lang="zh-CN" altLang="en-US" sz="1400" smtClean="0">
                <a:latin typeface="微软雅黑" panose="020B0503020204020204" pitchFamily="34" charset="-122"/>
                <a:ea typeface="微软雅黑" panose="020B0503020204020204" pitchFamily="34" charset="-122"/>
              </a:rPr>
              <a:t>修改</a:t>
            </a:r>
            <a:r>
              <a:rPr lang="en-US" sz="1400" smtClean="0">
                <a:latin typeface="微软雅黑" panose="020B0503020204020204" pitchFamily="34" charset="-122"/>
                <a:ea typeface="微软雅黑" panose="020B0503020204020204" pitchFamily="34" charset="-122"/>
              </a:rPr>
              <a:t>RectTransform</a:t>
            </a:r>
            <a:r>
              <a:rPr lang="zh-CN" altLang="en-US" sz="1400" smtClean="0">
                <a:latin typeface="微软雅黑" panose="020B0503020204020204" pitchFamily="34" charset="-122"/>
                <a:ea typeface="微软雅黑" panose="020B0503020204020204" pitchFamily="34" charset="-122"/>
              </a:rPr>
              <a:t>的</a:t>
            </a:r>
            <a:r>
              <a:rPr lang="en-US" sz="1400" smtClean="0">
                <a:latin typeface="微软雅黑" panose="020B0503020204020204" pitchFamily="34" charset="-122"/>
                <a:ea typeface="微软雅黑" panose="020B0503020204020204" pitchFamily="34" charset="-122"/>
              </a:rPr>
              <a:t>Size、Anchors、Pivot</a:t>
            </a:r>
            <a:r>
              <a:rPr lang="zh-CN" altLang="en-US" sz="1400" smtClean="0">
                <a:latin typeface="微软雅黑" panose="020B0503020204020204" pitchFamily="34" charset="-122"/>
                <a:ea typeface="微软雅黑" panose="020B0503020204020204" pitchFamily="34" charset="-122"/>
              </a:rPr>
              <a:t>等，会改变</a:t>
            </a:r>
            <a:r>
              <a:rPr lang="en-US" sz="1400" smtClean="0">
                <a:latin typeface="微软雅黑" panose="020B0503020204020204" pitchFamily="34" charset="-122"/>
                <a:ea typeface="微软雅黑" panose="020B0503020204020204" pitchFamily="34" charset="-122"/>
              </a:rPr>
              <a:t>UIVertex.position</a:t>
            </a:r>
            <a:endParaRPr lang="en-US" altLang="zh-CN" sz="1400" smtClean="0">
              <a:latin typeface="微软雅黑" panose="020B0503020204020204" pitchFamily="34" charset="-122"/>
              <a:ea typeface="微软雅黑" panose="020B0503020204020204" pitchFamily="34" charset="-122"/>
            </a:endParaRPr>
          </a:p>
          <a:p>
            <a:pPr marL="342900" indent="-342900">
              <a:spcBef>
                <a:spcPct val="0"/>
              </a:spcBef>
              <a:buFont typeface="Arial" panose="020B0604020202020204" pitchFamily="34" charset="0"/>
              <a:buChar char="•"/>
              <a:defRPr/>
            </a:pPr>
            <a:r>
              <a:rPr lang="zh-CN" altLang="en-US" sz="1400" smtClean="0">
                <a:latin typeface="微软雅黑" panose="020B0503020204020204" pitchFamily="34" charset="-122"/>
                <a:ea typeface="微软雅黑" panose="020B0503020204020204" pitchFamily="34" charset="-122"/>
              </a:rPr>
              <a:t>注意：在</a:t>
            </a:r>
            <a:r>
              <a:rPr lang="en-US" sz="1400" smtClean="0">
                <a:latin typeface="微软雅黑" panose="020B0503020204020204" pitchFamily="34" charset="-122"/>
                <a:ea typeface="微软雅黑" panose="020B0503020204020204" pitchFamily="34" charset="-122"/>
              </a:rPr>
              <a:t>UGUI</a:t>
            </a:r>
            <a:r>
              <a:rPr lang="zh-CN" altLang="en-US" sz="1400" smtClean="0">
                <a:latin typeface="微软雅黑" panose="020B0503020204020204" pitchFamily="34" charset="-122"/>
                <a:ea typeface="微软雅黑" panose="020B0503020204020204" pitchFamily="34" charset="-122"/>
              </a:rPr>
              <a:t>中颜色的变化是通过修改顶点色实现的，避免生成了新的</a:t>
            </a:r>
            <a:r>
              <a:rPr lang="en-US" altLang="zh-CN" sz="1400" smtClean="0">
                <a:latin typeface="微软雅黑" panose="020B0503020204020204" pitchFamily="34" charset="-122"/>
                <a:ea typeface="微软雅黑" panose="020B0503020204020204" pitchFamily="34" charset="-122"/>
              </a:rPr>
              <a:t>DrawCall</a:t>
            </a:r>
            <a:endParaRPr lang="en-US" altLang="zh-CN" sz="1400" b="1" smtClean="0">
              <a:latin typeface="微软雅黑" panose="020B0503020204020204" pitchFamily="34" charset="-122"/>
              <a:ea typeface="微软雅黑" panose="020B0503020204020204" pitchFamily="34" charset="-122"/>
              <a:cs typeface="+mj-cs"/>
            </a:endParaRPr>
          </a:p>
          <a:p>
            <a:pPr marL="342900" lvl="0" indent="-342900">
              <a:spcBef>
                <a:spcPct val="0"/>
              </a:spcBef>
              <a:buFont typeface="Arial" panose="020B0604020202020204" pitchFamily="34" charset="0"/>
              <a:buChar char="•"/>
              <a:defRPr/>
            </a:pPr>
            <a:r>
              <a:rPr lang="zh-CN" altLang="en-US" sz="1400" smtClean="0">
                <a:latin typeface="微软雅黑" panose="020B0503020204020204" pitchFamily="34" charset="-122"/>
                <a:ea typeface="微软雅黑" panose="020B0503020204020204" pitchFamily="34" charset="-122"/>
              </a:rPr>
              <a:t>注意：</a:t>
            </a:r>
            <a:r>
              <a:rPr lang="en-US" sz="1400" smtClean="0">
                <a:latin typeface="微软雅黑" panose="020B0503020204020204" pitchFamily="34" charset="-122"/>
                <a:ea typeface="微软雅黑" panose="020B0503020204020204" pitchFamily="34" charset="-122"/>
              </a:rPr>
              <a:t>UIVertex.position</a:t>
            </a:r>
            <a:r>
              <a:rPr lang="zh-CN" altLang="en-US" sz="1400" smtClean="0">
                <a:latin typeface="微软雅黑" panose="020B0503020204020204" pitchFamily="34" charset="-122"/>
                <a:ea typeface="微软雅黑" panose="020B0503020204020204" pitchFamily="34" charset="-122"/>
              </a:rPr>
              <a:t>记录的是本地空间下的坐标</a:t>
            </a:r>
            <a:endParaRPr lang="en-US" altLang="zh-CN" sz="1400" b="1" smtClean="0">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kumimoji="0" lang="en-US" altLang="zh-CN" sz="1400" b="1" i="0" u="none" strike="noStrike" kern="1200" cap="none" spc="0" normalizeH="0" baseline="0" noProof="0" smtClean="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0" indent="-742950" algn="ctr">
              <a:spcBef>
                <a:spcPct val="0"/>
              </a:spcBef>
              <a:defRPr/>
            </a:pPr>
            <a:r>
              <a:rPr lang="en-US" altLang="zh-CN" sz="4000" dirty="0">
                <a:solidFill>
                  <a:schemeClr val="tx1"/>
                </a:solidFill>
                <a:latin typeface="微软雅黑" panose="020B0503020204020204" pitchFamily="34" charset="-122"/>
                <a:ea typeface="微软雅黑" panose="020B0503020204020204" pitchFamily="34" charset="-122"/>
              </a:rPr>
              <a:t>UGUI</a:t>
            </a:r>
            <a:r>
              <a:rPr lang="zh-CN" altLang="en-US" sz="4000" dirty="0">
                <a:solidFill>
                  <a:schemeClr val="tx1"/>
                </a:solidFill>
                <a:latin typeface="微软雅黑" panose="020B0503020204020204" pitchFamily="34" charset="-122"/>
                <a:ea typeface="微软雅黑" panose="020B0503020204020204" pitchFamily="34" charset="-122"/>
              </a:rPr>
              <a:t>原理</a:t>
            </a:r>
            <a:endParaRPr lang="en-US" altLang="zh-CN" sz="4000" dirty="0">
              <a:solidFill>
                <a:schemeClr val="tx1"/>
              </a:solidFill>
              <a:latin typeface="微软雅黑" panose="020B0503020204020204" pitchFamily="34" charset="-122"/>
              <a:ea typeface="微软雅黑" panose="020B0503020204020204" pitchFamily="34" charset="-122"/>
            </a:endParaRPr>
          </a:p>
        </p:txBody>
      </p:sp>
      <p:pic>
        <p:nvPicPr>
          <p:cNvPr id="3074" name="Picture 2" descr="C:\Users\Administrator\Desktop\QQ截图20190514172144.png"/>
          <p:cNvPicPr>
            <a:picLocks noChangeAspect="1" noChangeArrowheads="1"/>
          </p:cNvPicPr>
          <p:nvPr/>
        </p:nvPicPr>
        <p:blipFill>
          <a:blip r:embed="rId1"/>
          <a:srcRect/>
          <a:stretch>
            <a:fillRect/>
          </a:stretch>
        </p:blipFill>
        <p:spPr bwMode="auto">
          <a:xfrm>
            <a:off x="500034" y="2714620"/>
            <a:ext cx="5972175" cy="249555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643602"/>
          </a:xfrm>
          <a:prstGeom prst="rect">
            <a:avLst/>
          </a:prstGeom>
        </p:spPr>
        <p:txBody>
          <a:bodyPr vert="horz" lIns="91440" tIns="45720" rIns="91440" bIns="45720" rtlCol="0" anchor="t">
            <a:normAutofit/>
          </a:bodyPr>
          <a:lstStyle/>
          <a:p>
            <a:pPr marL="0" marR="0" lvl="0" indent="0" defTabSz="914400" rtl="0" eaLnBrk="1" fontAlgn="auto" latinLnBrk="0" hangingPunct="1">
              <a:lnSpc>
                <a:spcPct val="100000"/>
              </a:lnSpc>
              <a:spcBef>
                <a:spcPct val="0"/>
              </a:spcBef>
              <a:spcAft>
                <a:spcPts val="0"/>
              </a:spcAft>
              <a:buClrTx/>
              <a:buSzTx/>
              <a:buFontTx/>
              <a:buNone/>
              <a:defRPr/>
            </a:pPr>
            <a:r>
              <a:rPr kumimoji="0" lang="en-US" altLang="zh-CN" sz="1400" b="1" i="0" u="none" strike="noStrike" kern="1200" cap="none" spc="0" normalizeH="0" baseline="0" noProof="0" smtClean="0">
                <a:ln>
                  <a:noFill/>
                </a:ln>
                <a:solidFill>
                  <a:schemeClr val="tx1"/>
                </a:solidFill>
                <a:effectLst/>
                <a:uLnTx/>
                <a:uFillTx/>
                <a:latin typeface="微软雅黑" panose="020B0503020204020204" pitchFamily="34" charset="-122"/>
                <a:ea typeface="微软雅黑" panose="020B0503020204020204" pitchFamily="34" charset="-122"/>
                <a:cs typeface="+mj-cs"/>
              </a:rPr>
              <a:t>Rebuild</a:t>
            </a:r>
            <a:r>
              <a:rPr kumimoji="0" lang="zh-CN" altLang="en-US" sz="1400" b="1" i="0" u="none" strike="noStrike" kern="1200" cap="none" spc="0" normalizeH="0" baseline="0" noProof="0" smtClean="0">
                <a:ln>
                  <a:noFill/>
                </a:ln>
                <a:solidFill>
                  <a:schemeClr val="tx1"/>
                </a:solidFill>
                <a:effectLst/>
                <a:uLnTx/>
                <a:uFillTx/>
                <a:latin typeface="微软雅黑" panose="020B0503020204020204" pitchFamily="34" charset="-122"/>
                <a:ea typeface="微软雅黑" panose="020B0503020204020204" pitchFamily="34" charset="-122"/>
                <a:cs typeface="+mj-cs"/>
              </a:rPr>
              <a:t>流</a:t>
            </a:r>
            <a:r>
              <a:rPr kumimoji="0" lang="zh-CN" altLang="en-US"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rPr>
              <a:t>程图</a:t>
            </a: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0" indent="-742950" algn="ctr">
              <a:spcBef>
                <a:spcPct val="0"/>
              </a:spcBef>
              <a:defRPr/>
            </a:pPr>
            <a:r>
              <a:rPr lang="en-US" altLang="zh-CN" sz="4000" dirty="0">
                <a:solidFill>
                  <a:schemeClr val="tx1"/>
                </a:solidFill>
                <a:latin typeface="微软雅黑" panose="020B0503020204020204" pitchFamily="34" charset="-122"/>
                <a:ea typeface="微软雅黑" panose="020B0503020204020204" pitchFamily="34" charset="-122"/>
              </a:rPr>
              <a:t>UGUI</a:t>
            </a:r>
            <a:r>
              <a:rPr lang="zh-CN" altLang="en-US" sz="4000" dirty="0">
                <a:solidFill>
                  <a:schemeClr val="tx1"/>
                </a:solidFill>
                <a:latin typeface="微软雅黑" panose="020B0503020204020204" pitchFamily="34" charset="-122"/>
                <a:ea typeface="微软雅黑" panose="020B0503020204020204" pitchFamily="34" charset="-122"/>
              </a:rPr>
              <a:t>原理</a:t>
            </a:r>
            <a:endParaRPr lang="en-US" altLang="zh-CN" sz="4000" dirty="0">
              <a:solidFill>
                <a:schemeClr val="tx1"/>
              </a:solidFill>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14414" y="1428736"/>
            <a:ext cx="6599656" cy="52352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643602"/>
          </a:xfrm>
          <a:prstGeom prst="rect">
            <a:avLst/>
          </a:prstGeom>
        </p:spPr>
        <p:txBody>
          <a:bodyPr vert="horz" lIns="91440" tIns="45720" rIns="91440" bIns="45720" rtlCol="0" anchor="t">
            <a:normAutofit/>
          </a:bodyPr>
          <a:lstStyle/>
          <a:p>
            <a:pPr lvl="0">
              <a:spcBef>
                <a:spcPct val="0"/>
              </a:spcBef>
              <a:defRPr/>
            </a:pPr>
            <a:r>
              <a:rPr lang="zh-CN" altLang="en-US" sz="1400" b="1" smtClean="0">
                <a:latin typeface="微软雅黑" panose="020B0503020204020204" pitchFamily="34" charset="-122"/>
                <a:ea typeface="微软雅黑" panose="020B0503020204020204" pitchFamily="34" charset="-122"/>
              </a:rPr>
              <a:t>流程图说明：</a:t>
            </a:r>
            <a:endParaRPr lang="en-US" altLang="zh-CN" sz="1400" b="1" smtClean="0">
              <a:latin typeface="微软雅黑" panose="020B0503020204020204" pitchFamily="34" charset="-122"/>
              <a:ea typeface="微软雅黑" panose="020B0503020204020204" pitchFamily="34" charset="-122"/>
            </a:endParaRPr>
          </a:p>
          <a:p>
            <a:pPr lvl="0">
              <a:spcBef>
                <a:spcPct val="0"/>
              </a:spcBef>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该过程由</a:t>
            </a:r>
            <a:r>
              <a:rPr lang="en-US" altLang="zh-CN" sz="1400" dirty="0" err="1">
                <a:latin typeface="微软雅黑" panose="020B0503020204020204" pitchFamily="34" charset="-122"/>
                <a:ea typeface="微软雅黑" panose="020B0503020204020204" pitchFamily="34" charset="-122"/>
              </a:rPr>
              <a:t>CanvasUpdateRegistry</a:t>
            </a:r>
            <a:r>
              <a:rPr lang="zh-CN" altLang="en-US" sz="1400" dirty="0">
                <a:latin typeface="微软雅黑" panose="020B0503020204020204" pitchFamily="34" charset="-122"/>
                <a:ea typeface="微软雅黑" panose="020B0503020204020204" pitchFamily="34" charset="-122"/>
              </a:rPr>
              <a:t>监听</a:t>
            </a:r>
            <a:r>
              <a:rPr lang="en-US" altLang="zh-CN" sz="1400" dirty="0">
                <a:latin typeface="微软雅黑" panose="020B0503020204020204" pitchFamily="34" charset="-122"/>
                <a:ea typeface="微软雅黑" panose="020B0503020204020204" pitchFamily="34" charset="-122"/>
              </a:rPr>
              <a:t>Canvas</a:t>
            </a:r>
            <a:r>
              <a:rPr lang="zh-CN" altLang="en-US" sz="1400" dirty="0">
                <a:latin typeface="微软雅黑" panose="020B0503020204020204" pitchFamily="34" charset="-122"/>
                <a:ea typeface="微软雅黑" panose="020B0503020204020204" pitchFamily="34" charset="-122"/>
              </a:rPr>
              <a:t>的</a:t>
            </a:r>
            <a:r>
              <a:rPr lang="en-US" altLang="zh-CN" sz="1400" dirty="0" err="1">
                <a:latin typeface="微软雅黑" panose="020B0503020204020204" pitchFamily="34" charset="-122"/>
                <a:ea typeface="微软雅黑" panose="020B0503020204020204" pitchFamily="34" charset="-122"/>
              </a:rPr>
              <a:t>WillRenderCanvases</a:t>
            </a:r>
            <a:r>
              <a:rPr lang="zh-CN" altLang="en-US" sz="1400" dirty="0">
                <a:latin typeface="微软雅黑" panose="020B0503020204020204" pitchFamily="34" charset="-122"/>
                <a:ea typeface="微软雅黑" panose="020B0503020204020204" pitchFamily="34" charset="-122"/>
              </a:rPr>
              <a:t>（上图中</a:t>
            </a:r>
            <a:r>
              <a:rPr lang="en-US" altLang="zh-CN" sz="1400" dirty="0">
                <a:latin typeface="微软雅黑" panose="020B0503020204020204" pitchFamily="34" charset="-122"/>
                <a:ea typeface="微软雅黑" panose="020B0503020204020204" pitchFamily="34" charset="-122"/>
              </a:rPr>
              <a:t>1</a:t>
            </a:r>
            <a:r>
              <a:rPr lang="zh-CN" altLang="en-US" sz="1400" dirty="0">
                <a:latin typeface="微软雅黑" panose="020B0503020204020204" pitchFamily="34" charset="-122"/>
                <a:ea typeface="微软雅黑" panose="020B0503020204020204" pitchFamily="34" charset="-122"/>
              </a:rPr>
              <a:t>）而执行</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主要</a:t>
            </a:r>
            <a:r>
              <a:rPr lang="zh-CN" altLang="en-US" sz="1400">
                <a:latin typeface="微软雅黑" panose="020B0503020204020204" pitchFamily="34" charset="-122"/>
                <a:ea typeface="微软雅黑" panose="020B0503020204020204" pitchFamily="34" charset="-122"/>
              </a:rPr>
              <a:t>是</a:t>
            </a:r>
            <a:r>
              <a:rPr lang="zh-CN" altLang="en-US" sz="1400" smtClean="0">
                <a:latin typeface="微软雅黑" panose="020B0503020204020204" pitchFamily="34" charset="-122"/>
                <a:ea typeface="微软雅黑" panose="020B0503020204020204" pitchFamily="34" charset="-122"/>
              </a:rPr>
              <a:t>对当前</a:t>
            </a:r>
            <a:r>
              <a:rPr lang="zh-CN" altLang="en-US" sz="1400" dirty="0">
                <a:latin typeface="微软雅黑" panose="020B0503020204020204" pitchFamily="34" charset="-122"/>
                <a:ea typeface="微软雅黑" panose="020B0503020204020204" pitchFamily="34" charset="-122"/>
              </a:rPr>
              <a:t>标记为</a:t>
            </a:r>
            <a:r>
              <a:rPr lang="en-US" altLang="zh-CN" sz="1400" dirty="0">
                <a:latin typeface="微软雅黑" panose="020B0503020204020204" pitchFamily="34" charset="-122"/>
                <a:ea typeface="微软雅黑" panose="020B0503020204020204" pitchFamily="34" charset="-122"/>
              </a:rPr>
              <a:t>dirty</a:t>
            </a:r>
            <a:r>
              <a:rPr lang="zh-CN" altLang="en-US" sz="1400" dirty="0">
                <a:latin typeface="微软雅黑" panose="020B0503020204020204" pitchFamily="34" charset="-122"/>
                <a:ea typeface="微软雅黑" panose="020B0503020204020204" pitchFamily="34" charset="-122"/>
              </a:rPr>
              <a:t>的</a:t>
            </a:r>
            <a:r>
              <a:rPr lang="en-US" altLang="zh-CN" sz="1400" dirty="0">
                <a:latin typeface="微软雅黑" panose="020B0503020204020204" pitchFamily="34" charset="-122"/>
                <a:ea typeface="微软雅黑" panose="020B0503020204020204" pitchFamily="34" charset="-122"/>
              </a:rPr>
              <a:t>layout</a:t>
            </a:r>
            <a:r>
              <a:rPr lang="zh-CN" altLang="en-US" sz="1400" dirty="0">
                <a:latin typeface="微软雅黑" panose="020B0503020204020204" pitchFamily="34" charset="-122"/>
                <a:ea typeface="微软雅黑" panose="020B0503020204020204" pitchFamily="34" charset="-122"/>
              </a:rPr>
              <a:t>和</a:t>
            </a:r>
            <a:r>
              <a:rPr lang="en-US" altLang="zh-CN" sz="1400" dirty="0">
                <a:latin typeface="微软雅黑" panose="020B0503020204020204" pitchFamily="34" charset="-122"/>
                <a:ea typeface="微软雅黑" panose="020B0503020204020204" pitchFamily="34" charset="-122"/>
              </a:rPr>
              <a:t>graphic</a:t>
            </a:r>
            <a:r>
              <a:rPr lang="zh-CN" altLang="en-US" sz="1400" dirty="0">
                <a:latin typeface="微软雅黑" panose="020B0503020204020204" pitchFamily="34" charset="-122"/>
                <a:ea typeface="微软雅黑" panose="020B0503020204020204" pitchFamily="34" charset="-122"/>
              </a:rPr>
              <a:t>执</a:t>
            </a:r>
            <a:r>
              <a:rPr lang="zh-CN" altLang="en-US" sz="1400">
                <a:latin typeface="微软雅黑" panose="020B0503020204020204" pitchFamily="34" charset="-122"/>
                <a:ea typeface="微软雅黑" panose="020B0503020204020204" pitchFamily="34" charset="-122"/>
              </a:rPr>
              <a:t>行</a:t>
            </a:r>
            <a:r>
              <a:rPr lang="en-US" altLang="zh-CN" sz="1400" smtClean="0">
                <a:latin typeface="微软雅黑" panose="020B0503020204020204" pitchFamily="34" charset="-122"/>
                <a:ea typeface="微软雅黑" panose="020B0503020204020204" pitchFamily="34" charset="-122"/>
              </a:rPr>
              <a:t>rebuild</a:t>
            </a:r>
            <a:r>
              <a:rPr lang="zh-CN" altLang="en-US" sz="1400" smtClean="0">
                <a:latin typeface="微软雅黑" panose="020B0503020204020204" pitchFamily="34" charset="-122"/>
                <a:ea typeface="微软雅黑" panose="020B0503020204020204" pitchFamily="34" charset="-122"/>
              </a:rPr>
              <a:t>。</a:t>
            </a:r>
            <a:endParaRPr lang="en-US" altLang="zh-CN" sz="1400" dirty="0">
              <a:latin typeface="微软雅黑" panose="020B0503020204020204" pitchFamily="34" charset="-122"/>
              <a:ea typeface="微软雅黑" panose="020B0503020204020204" pitchFamily="34" charset="-122"/>
            </a:endParaRPr>
          </a:p>
          <a:p>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dirty="0">
                <a:latin typeface="微软雅黑" panose="020B0503020204020204" pitchFamily="34" charset="-122"/>
                <a:ea typeface="微软雅黑" panose="020B0503020204020204" pitchFamily="34" charset="-122"/>
              </a:rPr>
              <a:t>在</a:t>
            </a:r>
            <a:r>
              <a:rPr lang="en-US" altLang="zh-CN" sz="1400" dirty="0">
                <a:latin typeface="微软雅黑" panose="020B0503020204020204" pitchFamily="34" charset="-122"/>
                <a:ea typeface="微软雅黑" panose="020B0503020204020204" pitchFamily="34" charset="-122"/>
              </a:rPr>
              <a:t>rebuild layout</a:t>
            </a:r>
            <a:r>
              <a:rPr lang="zh-CN" altLang="en-US" sz="1400" dirty="0">
                <a:latin typeface="微软雅黑" panose="020B0503020204020204" pitchFamily="34" charset="-122"/>
                <a:ea typeface="微软雅黑" panose="020B0503020204020204" pitchFamily="34" charset="-122"/>
              </a:rPr>
              <a:t>之前会对</a:t>
            </a:r>
            <a:r>
              <a:rPr lang="en-US" altLang="zh-CN" sz="1400" dirty="0">
                <a:latin typeface="微软雅黑" panose="020B0503020204020204" pitchFamily="34" charset="-122"/>
                <a:ea typeface="微软雅黑" panose="020B0503020204020204" pitchFamily="34" charset="-122"/>
              </a:rPr>
              <a:t>Layout rebuild queue</a:t>
            </a:r>
            <a:r>
              <a:rPr lang="zh-CN" altLang="en-US" sz="1400" dirty="0">
                <a:latin typeface="微软雅黑" panose="020B0503020204020204" pitchFamily="34" charset="-122"/>
                <a:ea typeface="微软雅黑" panose="020B0503020204020204" pitchFamily="34" charset="-122"/>
              </a:rPr>
              <a:t>中的元素依据它们在</a:t>
            </a:r>
            <a:r>
              <a:rPr lang="en-US" altLang="zh-CN" sz="1400" dirty="0" err="1">
                <a:latin typeface="微软雅黑" panose="020B0503020204020204" pitchFamily="34" charset="-122"/>
                <a:ea typeface="微软雅黑" panose="020B0503020204020204" pitchFamily="34" charset="-122"/>
              </a:rPr>
              <a:t>heiarchy</a:t>
            </a:r>
            <a:r>
              <a:rPr lang="zh-CN" altLang="en-US" sz="1400" dirty="0">
                <a:latin typeface="微软雅黑" panose="020B0503020204020204" pitchFamily="34" charset="-122"/>
                <a:ea typeface="微软雅黑" panose="020B0503020204020204" pitchFamily="34" charset="-122"/>
              </a:rPr>
              <a:t>中的</a:t>
            </a:r>
            <a:r>
              <a:rPr lang="zh-CN" altLang="en-US" sz="1400">
                <a:latin typeface="微软雅黑" panose="020B0503020204020204" pitchFamily="34" charset="-122"/>
                <a:ea typeface="微软雅黑" panose="020B0503020204020204" pitchFamily="34" charset="-122"/>
              </a:rPr>
              <a:t>层</a:t>
            </a:r>
            <a:r>
              <a:rPr lang="zh-CN" altLang="en-US" sz="1400" smtClean="0">
                <a:latin typeface="微软雅黑" panose="020B0503020204020204" pitchFamily="34" charset="-122"/>
                <a:ea typeface="微软雅黑" panose="020B0503020204020204" pitchFamily="34" charset="-122"/>
              </a:rPr>
              <a:t>次进</a:t>
            </a:r>
            <a:r>
              <a:rPr lang="zh-CN" altLang="en-US" sz="1400" dirty="0">
                <a:latin typeface="微软雅黑" panose="020B0503020204020204" pitchFamily="34" charset="-122"/>
                <a:ea typeface="微软雅黑" panose="020B0503020204020204" pitchFamily="34" charset="-122"/>
              </a:rPr>
              <a:t>行排序（上图中的</a:t>
            </a:r>
            <a:r>
              <a:rPr lang="en-US" altLang="zh-CN" sz="1400" dirty="0">
                <a:latin typeface="微软雅黑" panose="020B0503020204020204" pitchFamily="34" charset="-122"/>
                <a:ea typeface="微软雅黑" panose="020B0503020204020204" pitchFamily="34" charset="-122"/>
              </a:rPr>
              <a:t>2</a:t>
            </a:r>
            <a:r>
              <a:rPr lang="zh-CN" altLang="en-US" sz="1400" dirty="0">
                <a:latin typeface="微软雅黑" panose="020B0503020204020204" pitchFamily="34" charset="-122"/>
                <a:ea typeface="微软雅黑" panose="020B0503020204020204" pitchFamily="34" charset="-122"/>
              </a:rPr>
              <a:t>），排列的结果是越靠近根的节点越会被优先处理。</a:t>
            </a:r>
            <a:endParaRPr lang="en-US" altLang="zh-CN"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sz="1400" dirty="0">
                <a:latin typeface="微软雅黑" panose="020B0503020204020204" pitchFamily="34" charset="-122"/>
                <a:ea typeface="微软雅黑" panose="020B0503020204020204" pitchFamily="34" charset="-122"/>
              </a:rPr>
              <a:t>rebuild layout</a:t>
            </a:r>
            <a:r>
              <a:rPr lang="zh-CN" altLang="en-US" sz="1400" dirty="0">
                <a:latin typeface="微软雅黑" panose="020B0503020204020204" pitchFamily="34" charset="-122"/>
                <a:ea typeface="微软雅黑" panose="020B0503020204020204" pitchFamily="34" charset="-122"/>
              </a:rPr>
              <a:t>（上图中的</a:t>
            </a:r>
            <a:r>
              <a:rPr lang="en-US" altLang="zh-CN" sz="1400" dirty="0">
                <a:latin typeface="微软雅黑" panose="020B0503020204020204" pitchFamily="34" charset="-122"/>
                <a:ea typeface="微软雅黑" panose="020B0503020204020204" pitchFamily="34" charset="-122"/>
              </a:rPr>
              <a:t>3</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主要是执行</a:t>
            </a:r>
            <a:r>
              <a:rPr lang="en-US" altLang="zh-CN" sz="1400" dirty="0" err="1">
                <a:latin typeface="微软雅黑" panose="020B0503020204020204" pitchFamily="34" charset="-122"/>
                <a:ea typeface="微软雅黑" panose="020B0503020204020204" pitchFamily="34" charset="-122"/>
              </a:rPr>
              <a:t>ILayoutElement</a:t>
            </a:r>
            <a:r>
              <a:rPr lang="zh-CN" altLang="en-US" sz="1400" dirty="0">
                <a:latin typeface="微软雅黑" panose="020B0503020204020204" pitchFamily="34" charset="-122"/>
                <a:ea typeface="微软雅黑" panose="020B0503020204020204" pitchFamily="34" charset="-122"/>
              </a:rPr>
              <a:t>和</a:t>
            </a:r>
            <a:r>
              <a:rPr lang="en-US" altLang="zh-CN" sz="1400" dirty="0" err="1">
                <a:latin typeface="微软雅黑" panose="020B0503020204020204" pitchFamily="34" charset="-122"/>
                <a:ea typeface="微软雅黑" panose="020B0503020204020204" pitchFamily="34" charset="-122"/>
              </a:rPr>
              <a:t>ILayoutController</a:t>
            </a:r>
            <a:r>
              <a:rPr lang="zh-CN" altLang="en-US" sz="1400" dirty="0">
                <a:latin typeface="微软雅黑" panose="020B0503020204020204" pitchFamily="34" charset="-122"/>
                <a:ea typeface="微软雅黑" panose="020B0503020204020204" pitchFamily="34" charset="-122"/>
              </a:rPr>
              <a:t>接口中的方法来计算位置，</a:t>
            </a:r>
            <a:r>
              <a:rPr lang="en-US" altLang="zh-CN" sz="1400" dirty="0" err="1">
                <a:latin typeface="微软雅黑" panose="020B0503020204020204" pitchFamily="34" charset="-122"/>
                <a:ea typeface="微软雅黑" panose="020B0503020204020204" pitchFamily="34" charset="-122"/>
              </a:rPr>
              <a:t>Rect</a:t>
            </a:r>
            <a:r>
              <a:rPr lang="zh-CN" altLang="en-US" sz="1400" dirty="0">
                <a:latin typeface="微软雅黑" panose="020B0503020204020204" pitchFamily="34" charset="-122"/>
                <a:ea typeface="微软雅黑" panose="020B0503020204020204" pitchFamily="34" charset="-122"/>
              </a:rPr>
              <a:t>的大小等布局信息。</a:t>
            </a:r>
            <a:endParaRPr lang="en-US" altLang="zh-CN" sz="1400" dirty="0">
              <a:latin typeface="微软雅黑" panose="020B0503020204020204" pitchFamily="34" charset="-122"/>
              <a:ea typeface="微软雅黑" panose="020B0503020204020204" pitchFamily="34" charset="-122"/>
            </a:endParaRPr>
          </a:p>
          <a:p>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sz="1400" dirty="0" err="1">
                <a:latin typeface="微软雅黑" panose="020B0503020204020204" pitchFamily="34" charset="-122"/>
                <a:ea typeface="微软雅黑" panose="020B0503020204020204" pitchFamily="34" charset="-122"/>
              </a:rPr>
              <a:t>rebulid</a:t>
            </a:r>
            <a:r>
              <a:rPr lang="en-US" altLang="zh-CN" sz="1400" dirty="0">
                <a:latin typeface="微软雅黑" panose="020B0503020204020204" pitchFamily="34" charset="-122"/>
                <a:ea typeface="微软雅黑" panose="020B0503020204020204" pitchFamily="34" charset="-122"/>
              </a:rPr>
              <a:t> graphic</a:t>
            </a:r>
            <a:r>
              <a:rPr lang="zh-CN" altLang="en-US" sz="1400" dirty="0">
                <a:latin typeface="微软雅黑" panose="020B0503020204020204" pitchFamily="34" charset="-122"/>
                <a:ea typeface="微软雅黑" panose="020B0503020204020204" pitchFamily="34" charset="-122"/>
              </a:rPr>
              <a:t>（上图中的</a:t>
            </a:r>
            <a:r>
              <a:rPr lang="en-US" altLang="zh-CN" sz="1400" dirty="0">
                <a:latin typeface="微软雅黑" panose="020B0503020204020204" pitchFamily="34" charset="-122"/>
                <a:ea typeface="微软雅黑" panose="020B0503020204020204" pitchFamily="34" charset="-122"/>
              </a:rPr>
              <a:t>4</a:t>
            </a:r>
            <a:r>
              <a:rPr lang="zh-CN" altLang="en-US" sz="1400" dirty="0">
                <a:latin typeface="微软雅黑" panose="020B0503020204020204" pitchFamily="34" charset="-122"/>
                <a:ea typeface="微软雅黑" panose="020B0503020204020204" pitchFamily="34" charset="-122"/>
              </a:rPr>
              <a:t>）</a:t>
            </a:r>
            <a:r>
              <a:rPr lang="en-US" altLang="zh-CN" sz="1400" dirty="0">
                <a:latin typeface="微软雅黑" panose="020B0503020204020204" pitchFamily="34" charset="-122"/>
                <a:ea typeface="微软雅黑" panose="020B0503020204020204" pitchFamily="34" charset="-122"/>
              </a:rPr>
              <a:t>,</a:t>
            </a:r>
            <a:r>
              <a:rPr lang="zh-CN" altLang="en-US" sz="1400" dirty="0">
                <a:latin typeface="微软雅黑" panose="020B0503020204020204" pitchFamily="34" charset="-122"/>
                <a:ea typeface="微软雅黑" panose="020B0503020204020204" pitchFamily="34" charset="-122"/>
              </a:rPr>
              <a:t>主要是调用</a:t>
            </a:r>
            <a:r>
              <a:rPr lang="en-US" altLang="zh-CN" sz="1400" dirty="0" err="1">
                <a:latin typeface="微软雅黑" panose="020B0503020204020204" pitchFamily="34" charset="-122"/>
                <a:ea typeface="微软雅黑" panose="020B0503020204020204" pitchFamily="34" charset="-122"/>
              </a:rPr>
              <a:t>UpdateGeometry</a:t>
            </a:r>
            <a:r>
              <a:rPr lang="zh-CN" altLang="en-US" sz="1400" dirty="0">
                <a:latin typeface="微软雅黑" panose="020B0503020204020204" pitchFamily="34" charset="-122"/>
                <a:ea typeface="微软雅黑" panose="020B0503020204020204" pitchFamily="34" charset="-122"/>
              </a:rPr>
              <a:t>重建网格的顶点数据（上图中</a:t>
            </a:r>
            <a:r>
              <a:rPr lang="en-US" altLang="zh-CN" sz="1400" dirty="0">
                <a:latin typeface="微软雅黑" panose="020B0503020204020204" pitchFamily="34" charset="-122"/>
                <a:ea typeface="微软雅黑" panose="020B0503020204020204" pitchFamily="34" charset="-122"/>
              </a:rPr>
              <a:t>5</a:t>
            </a:r>
            <a:r>
              <a:rPr lang="zh-CN" altLang="en-US" sz="1400" dirty="0">
                <a:latin typeface="微软雅黑" panose="020B0503020204020204" pitchFamily="34" charset="-122"/>
                <a:ea typeface="微软雅黑" panose="020B0503020204020204" pitchFamily="34" charset="-122"/>
              </a:rPr>
              <a:t>）以及调用</a:t>
            </a:r>
            <a:r>
              <a:rPr lang="en-US" altLang="zh-CN" sz="1400" dirty="0" err="1">
                <a:latin typeface="微软雅黑" panose="020B0503020204020204" pitchFamily="34" charset="-122"/>
                <a:ea typeface="微软雅黑" panose="020B0503020204020204" pitchFamily="34" charset="-122"/>
              </a:rPr>
              <a:t>UpdateMeterial</a:t>
            </a:r>
            <a:r>
              <a:rPr lang="zh-CN" altLang="en-US" sz="1400" dirty="0">
                <a:latin typeface="微软雅黑" panose="020B0503020204020204" pitchFamily="34" charset="-122"/>
                <a:ea typeface="微软雅黑" panose="020B0503020204020204" pitchFamily="34" charset="-122"/>
              </a:rPr>
              <a:t>更新</a:t>
            </a:r>
            <a:r>
              <a:rPr lang="en-US" altLang="zh-CN" sz="1400" dirty="0" err="1">
                <a:latin typeface="微软雅黑" panose="020B0503020204020204" pitchFamily="34" charset="-122"/>
                <a:ea typeface="微软雅黑" panose="020B0503020204020204" pitchFamily="34" charset="-122"/>
              </a:rPr>
              <a:t>CanvasRender</a:t>
            </a:r>
            <a:r>
              <a:rPr lang="zh-CN" altLang="en-US" sz="1400" dirty="0">
                <a:latin typeface="微软雅黑" panose="020B0503020204020204" pitchFamily="34" charset="-122"/>
                <a:ea typeface="微软雅黑" panose="020B0503020204020204" pitchFamily="34" charset="-122"/>
              </a:rPr>
              <a:t>的材质信息（上图中</a:t>
            </a:r>
            <a:r>
              <a:rPr lang="en-US" altLang="zh-CN" sz="1400">
                <a:latin typeface="微软雅黑" panose="020B0503020204020204" pitchFamily="34" charset="-122"/>
                <a:ea typeface="微软雅黑" panose="020B0503020204020204" pitchFamily="34" charset="-122"/>
              </a:rPr>
              <a:t>6</a:t>
            </a:r>
            <a:r>
              <a:rPr lang="zh-CN" altLang="en-US" sz="1400" smtClean="0">
                <a:latin typeface="微软雅黑" panose="020B0503020204020204" pitchFamily="34" charset="-122"/>
                <a:ea typeface="微软雅黑" panose="020B0503020204020204" pitchFamily="34" charset="-122"/>
              </a:rPr>
              <a:t>）。</a:t>
            </a: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1400" smtClean="0">
              <a:latin typeface="微软雅黑" panose="020B0503020204020204" pitchFamily="34" charset="-122"/>
              <a:ea typeface="微软雅黑" panose="020B0503020204020204" pitchFamily="34" charset="-122"/>
            </a:endParaRPr>
          </a:p>
          <a:p>
            <a:pPr marL="285750" indent="-285750"/>
            <a:r>
              <a:rPr lang="en-US" altLang="zh-CN" sz="1400" b="1" smtClean="0">
                <a:latin typeface="微软雅黑" panose="020B0503020204020204" pitchFamily="34" charset="-122"/>
                <a:ea typeface="微软雅黑" panose="020B0503020204020204" pitchFamily="34" charset="-122"/>
              </a:rPr>
              <a:t>Question</a:t>
            </a:r>
            <a:r>
              <a:rPr lang="zh-CN" altLang="en-US" sz="1400" smtClean="0">
                <a:latin typeface="微软雅黑" panose="020B0503020204020204" pitchFamily="34" charset="-122"/>
                <a:ea typeface="微软雅黑" panose="020B0503020204020204" pitchFamily="34" charset="-122"/>
              </a:rPr>
              <a:t>：为什么在</a:t>
            </a:r>
            <a:r>
              <a:rPr lang="en-US" altLang="zh-CN" sz="1400" smtClean="0">
                <a:latin typeface="微软雅黑" panose="020B0503020204020204" pitchFamily="34" charset="-122"/>
                <a:ea typeface="微软雅黑" panose="020B0503020204020204" pitchFamily="34" charset="-122"/>
              </a:rPr>
              <a:t>rebuild layout</a:t>
            </a:r>
            <a:r>
              <a:rPr lang="zh-CN" altLang="en-US" sz="1400" smtClean="0">
                <a:latin typeface="微软雅黑" panose="020B0503020204020204" pitchFamily="34" charset="-122"/>
                <a:ea typeface="微软雅黑" panose="020B0503020204020204" pitchFamily="34" charset="-122"/>
              </a:rPr>
              <a:t>的时候，要优先处理根节点的元素？</a:t>
            </a:r>
            <a:endParaRPr lang="zh-CN" altLang="en-US" sz="1400" dirty="0">
              <a:latin typeface="微软雅黑" panose="020B0503020204020204" pitchFamily="34" charset="-122"/>
              <a:ea typeface="微软雅黑" panose="020B0503020204020204" pitchFamily="34" charset="-122"/>
            </a:endParaRPr>
          </a:p>
          <a:p>
            <a:pPr lvl="0">
              <a:spcBef>
                <a:spcPct val="0"/>
              </a:spcBef>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a:p>
            <a:pPr marL="0" marR="0" lvl="0" indent="0" defTabSz="914400" rtl="0" eaLnBrk="1" fontAlgn="auto" latinLnBrk="0" hangingPunct="1">
              <a:lnSpc>
                <a:spcPct val="100000"/>
              </a:lnSpc>
              <a:spcBef>
                <a:spcPct val="0"/>
              </a:spcBef>
              <a:spcAft>
                <a:spcPts val="0"/>
              </a:spcAft>
              <a:buClrTx/>
              <a:buSzTx/>
              <a:buFontTx/>
              <a:buNone/>
              <a:defRPr/>
            </a:pPr>
            <a:endParaRPr kumimoji="0" lang="en-US" altLang="zh-CN" sz="1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0" indent="-742950" algn="ctr">
              <a:spcBef>
                <a:spcPct val="0"/>
              </a:spcBef>
              <a:defRPr/>
            </a:pPr>
            <a:r>
              <a:rPr lang="en-US" altLang="zh-CN" sz="4000" dirty="0">
                <a:solidFill>
                  <a:schemeClr val="tx1"/>
                </a:solidFill>
                <a:latin typeface="微软雅黑" panose="020B0503020204020204" pitchFamily="34" charset="-122"/>
                <a:ea typeface="微软雅黑" panose="020B0503020204020204" pitchFamily="34" charset="-122"/>
              </a:rPr>
              <a:t>UGUI</a:t>
            </a:r>
            <a:r>
              <a:rPr lang="zh-CN" altLang="en-US" sz="4000" dirty="0">
                <a:solidFill>
                  <a:schemeClr val="tx1"/>
                </a:solidFill>
                <a:latin typeface="微软雅黑" panose="020B0503020204020204" pitchFamily="34" charset="-122"/>
                <a:ea typeface="微软雅黑" panose="020B0503020204020204" pitchFamily="34" charset="-122"/>
              </a:rPr>
              <a:t>原理</a:t>
            </a:r>
            <a:endParaRPr lang="en-US" altLang="zh-CN" sz="4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643602"/>
          </a:xfrm>
          <a:prstGeom prst="rect">
            <a:avLst/>
          </a:prstGeom>
        </p:spPr>
        <p:txBody>
          <a:bodyPr vert="horz" lIns="91440" tIns="45720" rIns="91440" bIns="45720" rtlCol="0" anchor="t">
            <a:normAutofit/>
          </a:bodyPr>
          <a:lstStyle/>
          <a:p>
            <a:pPr lvl="0">
              <a:spcBef>
                <a:spcPct val="0"/>
              </a:spcBef>
              <a:defRPr/>
            </a:pPr>
            <a:r>
              <a:rPr lang="zh-CN" altLang="en-US" sz="1400" b="1" smtClean="0">
                <a:latin typeface="微软雅黑" panose="020B0503020204020204" pitchFamily="34" charset="-122"/>
                <a:ea typeface="微软雅黑" panose="020B0503020204020204" pitchFamily="34" charset="-122"/>
              </a:rPr>
              <a:t>合批原理：</a:t>
            </a:r>
            <a:r>
              <a:rPr lang="en-US" sz="1400" smtClean="0">
                <a:latin typeface="微软雅黑" panose="020B0503020204020204" pitchFamily="34" charset="-122"/>
                <a:ea typeface="微软雅黑" panose="020B0503020204020204" pitchFamily="34" charset="-122"/>
              </a:rPr>
              <a:t> UGUI</a:t>
            </a:r>
            <a:r>
              <a:rPr lang="zh-CN" altLang="en-US" sz="1400" smtClean="0">
                <a:latin typeface="微软雅黑" panose="020B0503020204020204" pitchFamily="34" charset="-122"/>
                <a:ea typeface="微软雅黑" panose="020B0503020204020204" pitchFamily="34" charset="-122"/>
              </a:rPr>
              <a:t>的合批规则是进行重叠检测，然后分层合并。</a:t>
            </a:r>
            <a:endParaRPr lang="en-US" altLang="zh-CN" sz="1400" smtClean="0">
              <a:latin typeface="微软雅黑" panose="020B0503020204020204" pitchFamily="34" charset="-122"/>
              <a:ea typeface="微软雅黑" panose="020B0503020204020204" pitchFamily="34" charset="-122"/>
            </a:endParaRPr>
          </a:p>
          <a:p>
            <a:pPr lvl="0">
              <a:spcBef>
                <a:spcPct val="0"/>
              </a:spcBef>
              <a:defRPr/>
            </a:pPr>
            <a:endParaRPr lang="en-US" altLang="zh-CN" sz="1400" smtClean="0">
              <a:latin typeface="微软雅黑" panose="020B0503020204020204" pitchFamily="34" charset="-122"/>
              <a:ea typeface="微软雅黑" panose="020B0503020204020204" pitchFamily="34" charset="-122"/>
            </a:endParaRPr>
          </a:p>
          <a:p>
            <a:pPr lvl="0">
              <a:spcBef>
                <a:spcPct val="0"/>
              </a:spcBef>
              <a:defRPr/>
            </a:pPr>
            <a:r>
              <a:rPr lang="zh-CN" altLang="en-US" sz="1400" b="1" smtClean="0">
                <a:latin typeface="微软雅黑" panose="020B0503020204020204" pitchFamily="34" charset="-122"/>
                <a:ea typeface="微软雅黑" panose="020B0503020204020204" pitchFamily="34" charset="-122"/>
              </a:rPr>
              <a:t>第一步计算每个</a:t>
            </a:r>
            <a:r>
              <a:rPr lang="en-US" sz="1400" b="1" smtClean="0">
                <a:latin typeface="微软雅黑" panose="020B0503020204020204" pitchFamily="34" charset="-122"/>
                <a:ea typeface="微软雅黑" panose="020B0503020204020204" pitchFamily="34" charset="-122"/>
              </a:rPr>
              <a:t>UI</a:t>
            </a:r>
            <a:r>
              <a:rPr lang="zh-CN" altLang="en-US" sz="1400" b="1" smtClean="0">
                <a:latin typeface="微软雅黑" panose="020B0503020204020204" pitchFamily="34" charset="-122"/>
                <a:ea typeface="微软雅黑" panose="020B0503020204020204" pitchFamily="34" charset="-122"/>
              </a:rPr>
              <a:t>元素的层级号</a:t>
            </a:r>
            <a:r>
              <a:rPr lang="zh-CN" altLang="en-US" sz="1400" smtClean="0">
                <a:latin typeface="微软雅黑" panose="020B0503020204020204" pitchFamily="34" charset="-122"/>
                <a:ea typeface="微软雅黑" panose="020B0503020204020204" pitchFamily="34" charset="-122"/>
              </a:rPr>
              <a:t>：如果有一个</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元素，它所占的矩形范围内，如果没有任何</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在它的底下，那么它的层级号就是</a:t>
            </a:r>
            <a:r>
              <a:rPr lang="en-US" altLang="zh-CN" sz="1400" smtClean="0">
                <a:latin typeface="微软雅黑" panose="020B0503020204020204" pitchFamily="34" charset="-122"/>
                <a:ea typeface="微软雅黑" panose="020B0503020204020204" pitchFamily="34" charset="-122"/>
              </a:rPr>
              <a:t>0</a:t>
            </a:r>
            <a:r>
              <a:rPr lang="zh-CN" altLang="en-US" sz="1400" smtClean="0">
                <a:latin typeface="微软雅黑" panose="020B0503020204020204" pitchFamily="34" charset="-122"/>
                <a:ea typeface="微软雅黑" panose="020B0503020204020204" pitchFamily="34" charset="-122"/>
              </a:rPr>
              <a:t>（最底下）；如果有一个</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在其底下且该</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可以和它</a:t>
            </a:r>
            <a:r>
              <a:rPr lang="en-US" sz="1400" smtClean="0">
                <a:latin typeface="微软雅黑" panose="020B0503020204020204" pitchFamily="34" charset="-122"/>
                <a:ea typeface="微软雅黑" panose="020B0503020204020204" pitchFamily="34" charset="-122"/>
              </a:rPr>
              <a:t>Batch，</a:t>
            </a:r>
            <a:r>
              <a:rPr lang="zh-CN" altLang="en-US" sz="1400" smtClean="0">
                <a:latin typeface="微软雅黑" panose="020B0503020204020204" pitchFamily="34" charset="-122"/>
                <a:ea typeface="微软雅黑" panose="020B0503020204020204" pitchFamily="34" charset="-122"/>
              </a:rPr>
              <a:t>那它的层级号与底下的</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层级一样；如果有一个</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在其底下但是无法与它</a:t>
            </a:r>
            <a:r>
              <a:rPr lang="en-US" sz="1400" smtClean="0">
                <a:latin typeface="微软雅黑" panose="020B0503020204020204" pitchFamily="34" charset="-122"/>
                <a:ea typeface="微软雅黑" panose="020B0503020204020204" pitchFamily="34" charset="-122"/>
              </a:rPr>
              <a:t>Batch，</a:t>
            </a:r>
            <a:r>
              <a:rPr lang="zh-CN" altLang="en-US" sz="1400" smtClean="0">
                <a:latin typeface="微软雅黑" panose="020B0503020204020204" pitchFamily="34" charset="-122"/>
                <a:ea typeface="微软雅黑" panose="020B0503020204020204" pitchFamily="34" charset="-122"/>
              </a:rPr>
              <a:t>那它的层级号为底下的</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的层级</a:t>
            </a:r>
            <a:r>
              <a:rPr lang="en-US" altLang="zh-CN" sz="1400" smtClean="0">
                <a:latin typeface="微软雅黑" panose="020B0503020204020204" pitchFamily="34" charset="-122"/>
                <a:ea typeface="微软雅黑" panose="020B0503020204020204" pitchFamily="34" charset="-122"/>
              </a:rPr>
              <a:t>+1</a:t>
            </a:r>
            <a:r>
              <a:rPr lang="zh-CN" altLang="en-US" sz="1400" smtClean="0">
                <a:latin typeface="微软雅黑" panose="020B0503020204020204" pitchFamily="34" charset="-122"/>
                <a:ea typeface="微软雅黑" panose="020B0503020204020204" pitchFamily="34" charset="-122"/>
              </a:rPr>
              <a:t>；如果有多个</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都在其下面，那么按前两种方式遍历计算所有的层级号，其中最大的那个作为自己的层级号。</a:t>
            </a:r>
            <a:endParaRPr lang="en-US" altLang="zh-CN" sz="1400" smtClean="0">
              <a:latin typeface="微软雅黑" panose="020B0503020204020204" pitchFamily="34" charset="-122"/>
              <a:ea typeface="微软雅黑" panose="020B0503020204020204" pitchFamily="34" charset="-122"/>
            </a:endParaRPr>
          </a:p>
          <a:p>
            <a:pPr lvl="0">
              <a:spcBef>
                <a:spcPct val="0"/>
              </a:spcBef>
              <a:defRPr/>
            </a:pPr>
            <a:endParaRPr lang="en-US" altLang="zh-CN" sz="1400" smtClean="0">
              <a:latin typeface="微软雅黑" panose="020B0503020204020204" pitchFamily="34" charset="-122"/>
              <a:ea typeface="微软雅黑" panose="020B0503020204020204" pitchFamily="34" charset="-122"/>
            </a:endParaRPr>
          </a:p>
          <a:p>
            <a:pPr lvl="0">
              <a:spcBef>
                <a:spcPct val="0"/>
              </a:spcBef>
              <a:defRPr/>
            </a:pPr>
            <a:r>
              <a:rPr lang="zh-CN" altLang="en-US" sz="1400" b="1" smtClean="0">
                <a:latin typeface="微软雅黑" panose="020B0503020204020204" pitchFamily="34" charset="-122"/>
                <a:ea typeface="微软雅黑" panose="020B0503020204020204" pitchFamily="34" charset="-122"/>
              </a:rPr>
              <a:t>第二步合并相同层级中可以</a:t>
            </a:r>
            <a:r>
              <a:rPr lang="en-US" sz="1400" b="1" smtClean="0">
                <a:latin typeface="微软雅黑" panose="020B0503020204020204" pitchFamily="34" charset="-122"/>
                <a:ea typeface="微软雅黑" panose="020B0503020204020204" pitchFamily="34" charset="-122"/>
              </a:rPr>
              <a:t>Batch</a:t>
            </a:r>
            <a:r>
              <a:rPr lang="zh-CN" altLang="en-US" sz="1400" b="1" smtClean="0">
                <a:latin typeface="微软雅黑" panose="020B0503020204020204" pitchFamily="34" charset="-122"/>
                <a:ea typeface="微软雅黑" panose="020B0503020204020204" pitchFamily="34" charset="-122"/>
              </a:rPr>
              <a:t>的元素作为一个批次，并对批次进行排序 ：</a:t>
            </a:r>
            <a:r>
              <a:rPr lang="zh-CN" altLang="en-US" sz="1400" smtClean="0">
                <a:latin typeface="微软雅黑" panose="020B0503020204020204" pitchFamily="34" charset="-122"/>
                <a:ea typeface="微软雅黑" panose="020B0503020204020204" pitchFamily="34" charset="-122"/>
              </a:rPr>
              <a:t>有了层级号之后，</a:t>
            </a:r>
            <a:r>
              <a:rPr lang="en-US" sz="1400" smtClean="0">
                <a:latin typeface="微软雅黑" panose="020B0503020204020204" pitchFamily="34" charset="-122"/>
                <a:ea typeface="微软雅黑" panose="020B0503020204020204" pitchFamily="34" charset="-122"/>
              </a:rPr>
              <a:t>Unity</a:t>
            </a:r>
            <a:r>
              <a:rPr lang="zh-CN" altLang="en-US" sz="1400" smtClean="0">
                <a:latin typeface="微软雅黑" panose="020B0503020204020204" pitchFamily="34" charset="-122"/>
                <a:ea typeface="微软雅黑" panose="020B0503020204020204" pitchFamily="34" charset="-122"/>
              </a:rPr>
              <a:t>会将每一层的所有元素进行一个排序（按照材质、纹理等信息），合并掉可以</a:t>
            </a:r>
            <a:r>
              <a:rPr lang="en-US" sz="1400" smtClean="0">
                <a:latin typeface="微软雅黑" panose="020B0503020204020204" pitchFamily="34" charset="-122"/>
                <a:ea typeface="微软雅黑" panose="020B0503020204020204" pitchFamily="34" charset="-122"/>
              </a:rPr>
              <a:t>Batch</a:t>
            </a:r>
            <a:r>
              <a:rPr lang="zh-CN" altLang="en-US" sz="1400" smtClean="0">
                <a:latin typeface="微软雅黑" panose="020B0503020204020204" pitchFamily="34" charset="-122"/>
                <a:ea typeface="微软雅黑" panose="020B0503020204020204" pitchFamily="34" charset="-122"/>
              </a:rPr>
              <a:t>的元素成为一个批次。经过以上排序，就可以得到一个有序的批次序列了。这时</a:t>
            </a:r>
            <a:r>
              <a:rPr lang="en-US" sz="1400" smtClean="0">
                <a:latin typeface="微软雅黑" panose="020B0503020204020204" pitchFamily="34" charset="-122"/>
                <a:ea typeface="微软雅黑" panose="020B0503020204020204" pitchFamily="34" charset="-122"/>
              </a:rPr>
              <a:t>Unity</a:t>
            </a:r>
            <a:r>
              <a:rPr lang="zh-CN" altLang="en-US" sz="1400" smtClean="0">
                <a:latin typeface="微软雅黑" panose="020B0503020204020204" pitchFamily="34" charset="-122"/>
                <a:ea typeface="微软雅黑" panose="020B0503020204020204" pitchFamily="34" charset="-122"/>
              </a:rPr>
              <a:t>会再做一个优化，即如果相邻间的两个批次正好可以</a:t>
            </a:r>
            <a:r>
              <a:rPr lang="en-US" sz="1400" smtClean="0">
                <a:latin typeface="微软雅黑" panose="020B0503020204020204" pitchFamily="34" charset="-122"/>
                <a:ea typeface="微软雅黑" panose="020B0503020204020204" pitchFamily="34" charset="-122"/>
              </a:rPr>
              <a:t>Batch</a:t>
            </a:r>
            <a:r>
              <a:rPr lang="zh-CN" altLang="en-US" sz="1400" smtClean="0">
                <a:latin typeface="微软雅黑" panose="020B0503020204020204" pitchFamily="34" charset="-122"/>
                <a:ea typeface="微软雅黑" panose="020B0503020204020204" pitchFamily="34" charset="-122"/>
              </a:rPr>
              <a:t>的话就会进行</a:t>
            </a:r>
            <a:r>
              <a:rPr lang="en-US" sz="1400" smtClean="0">
                <a:latin typeface="微软雅黑" panose="020B0503020204020204" pitchFamily="34" charset="-122"/>
                <a:ea typeface="微软雅黑" panose="020B0503020204020204" pitchFamily="34" charset="-122"/>
              </a:rPr>
              <a:t>Batch。</a:t>
            </a:r>
            <a:r>
              <a:rPr lang="zh-CN" altLang="en-US" sz="1400" smtClean="0">
                <a:latin typeface="微软雅黑" panose="020B0503020204020204" pitchFamily="34" charset="-122"/>
                <a:ea typeface="微软雅黑" panose="020B0503020204020204" pitchFamily="34" charset="-122"/>
              </a:rPr>
              <a:t>合批的</a:t>
            </a:r>
            <a:r>
              <a:rPr lang="en-US" altLang="zh-CN" sz="1400" smtClean="0">
                <a:latin typeface="微软雅黑" panose="020B0503020204020204" pitchFamily="34" charset="-122"/>
                <a:ea typeface="微软雅黑" panose="020B0503020204020204" pitchFamily="34" charset="-122"/>
              </a:rPr>
              <a:t>Batch</a:t>
            </a:r>
            <a:r>
              <a:rPr lang="zh-CN" altLang="en-US" sz="1400" smtClean="0">
                <a:latin typeface="微软雅黑" panose="020B0503020204020204" pitchFamily="34" charset="-122"/>
                <a:ea typeface="微软雅黑" panose="020B0503020204020204" pitchFamily="34" charset="-122"/>
              </a:rPr>
              <a:t>数据，最后会分别放在</a:t>
            </a:r>
            <a:r>
              <a:rPr lang="en-US" altLang="zh-CN" sz="1400" smtClean="0">
                <a:latin typeface="微软雅黑" panose="020B0503020204020204" pitchFamily="34" charset="-122"/>
                <a:ea typeface="微软雅黑" panose="020B0503020204020204" pitchFamily="34" charset="-122"/>
              </a:rPr>
              <a:t>CanvasMesh</a:t>
            </a:r>
            <a:r>
              <a:rPr lang="zh-CN" altLang="en-US" sz="1400" smtClean="0">
                <a:latin typeface="微软雅黑" panose="020B0503020204020204" pitchFamily="34" charset="-122"/>
                <a:ea typeface="微软雅黑" panose="020B0503020204020204" pitchFamily="34" charset="-122"/>
              </a:rPr>
              <a:t>的</a:t>
            </a:r>
            <a:r>
              <a:rPr lang="en-US" altLang="zh-CN" sz="1400" smtClean="0">
                <a:latin typeface="微软雅黑" panose="020B0503020204020204" pitchFamily="34" charset="-122"/>
                <a:ea typeface="微软雅黑" panose="020B0503020204020204" pitchFamily="34" charset="-122"/>
              </a:rPr>
              <a:t>SubMesh</a:t>
            </a:r>
            <a:r>
              <a:rPr lang="zh-CN" altLang="en-US" sz="1400" smtClean="0">
                <a:latin typeface="微软雅黑" panose="020B0503020204020204" pitchFamily="34" charset="-122"/>
                <a:ea typeface="微软雅黑" panose="020B0503020204020204" pitchFamily="34" charset="-122"/>
              </a:rPr>
              <a:t>里。</a:t>
            </a:r>
            <a:endParaRPr lang="en-US" altLang="zh-CN" sz="1400" b="1" smtClean="0">
              <a:latin typeface="微软雅黑" panose="020B0503020204020204" pitchFamily="34" charset="-122"/>
              <a:ea typeface="微软雅黑" panose="020B0503020204020204" pitchFamily="34" charset="-122"/>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0" indent="-742950" algn="ctr">
              <a:spcBef>
                <a:spcPct val="0"/>
              </a:spcBef>
              <a:defRPr/>
            </a:pPr>
            <a:r>
              <a:rPr lang="en-US" altLang="zh-CN" sz="4000" dirty="0">
                <a:solidFill>
                  <a:schemeClr val="tx1"/>
                </a:solidFill>
                <a:latin typeface="微软雅黑" panose="020B0503020204020204" pitchFamily="34" charset="-122"/>
                <a:ea typeface="微软雅黑" panose="020B0503020204020204" pitchFamily="34" charset="-122"/>
              </a:rPr>
              <a:t>UGUI</a:t>
            </a:r>
            <a:r>
              <a:rPr lang="zh-CN" altLang="en-US" sz="4000" dirty="0">
                <a:solidFill>
                  <a:schemeClr val="tx1"/>
                </a:solidFill>
                <a:latin typeface="微软雅黑" panose="020B0503020204020204" pitchFamily="34" charset="-122"/>
                <a:ea typeface="微软雅黑" panose="020B0503020204020204" pitchFamily="34" charset="-122"/>
              </a:rPr>
              <a:t>原理</a:t>
            </a:r>
            <a:endParaRPr lang="en-US" altLang="zh-CN" sz="4000" dirty="0">
              <a:solidFill>
                <a:schemeClr val="tx1"/>
              </a:solidFill>
              <a:latin typeface="微软雅黑" panose="020B0503020204020204" pitchFamily="34" charset="-122"/>
              <a:ea typeface="微软雅黑" panose="020B0503020204020204" pitchFamily="34" charset="-122"/>
            </a:endParaRPr>
          </a:p>
        </p:txBody>
      </p:sp>
      <p:pic>
        <p:nvPicPr>
          <p:cNvPr id="1026" name="Picture 2" descr="C:\Users\Administrator\Desktop\QQ截图20190515185935.png"/>
          <p:cNvPicPr>
            <a:picLocks noChangeAspect="1" noChangeArrowheads="1"/>
          </p:cNvPicPr>
          <p:nvPr/>
        </p:nvPicPr>
        <p:blipFill>
          <a:blip r:embed="rId1"/>
          <a:srcRect/>
          <a:stretch>
            <a:fillRect/>
          </a:stretch>
        </p:blipFill>
        <p:spPr bwMode="auto">
          <a:xfrm>
            <a:off x="642910" y="4500570"/>
            <a:ext cx="4786347" cy="1935273"/>
          </a:xfrm>
          <a:prstGeom prst="rect">
            <a:avLst/>
          </a:prstGeom>
          <a:noFill/>
        </p:spPr>
      </p:pic>
      <p:pic>
        <p:nvPicPr>
          <p:cNvPr id="1027" name="Picture 3" descr="C:\Users\Administrator\Desktop\QQ截图20190515190132.png"/>
          <p:cNvPicPr>
            <a:picLocks noChangeAspect="1" noChangeArrowheads="1"/>
          </p:cNvPicPr>
          <p:nvPr/>
        </p:nvPicPr>
        <p:blipFill>
          <a:blip r:embed="rId2"/>
          <a:srcRect/>
          <a:stretch>
            <a:fillRect/>
          </a:stretch>
        </p:blipFill>
        <p:spPr bwMode="auto">
          <a:xfrm>
            <a:off x="5643570" y="4286256"/>
            <a:ext cx="2500330" cy="2254899"/>
          </a:xfrm>
          <a:prstGeom prst="rect">
            <a:avLst/>
          </a:prstGeom>
          <a:noFill/>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643602"/>
          </a:xfrm>
          <a:prstGeom prst="rect">
            <a:avLst/>
          </a:prstGeom>
        </p:spPr>
        <p:txBody>
          <a:bodyPr vert="horz" lIns="91440" tIns="45720" rIns="91440" bIns="45720" rtlCol="0" anchor="t">
            <a:normAutofit/>
          </a:bodyPr>
          <a:lstStyle/>
          <a:p>
            <a:r>
              <a:rPr lang="zh-CN" altLang="en-US" sz="1400" smtClean="0">
                <a:latin typeface="微软雅黑" panose="020B0503020204020204" pitchFamily="34" charset="-122"/>
                <a:ea typeface="微软雅黑" panose="020B0503020204020204" pitchFamily="34" charset="-122"/>
              </a:rPr>
              <a:t>优</a:t>
            </a:r>
            <a:r>
              <a:rPr lang="zh-CN" altLang="en-US" sz="1400" dirty="0">
                <a:latin typeface="微软雅黑" panose="020B0503020204020204" pitchFamily="34" charset="-122"/>
                <a:ea typeface="微软雅黑" panose="020B0503020204020204" pitchFamily="34" charset="-122"/>
              </a:rPr>
              <a:t>化</a:t>
            </a:r>
            <a:r>
              <a:rPr lang="en-US" altLang="zh-CN" sz="1400" dirty="0">
                <a:latin typeface="微软雅黑" panose="020B0503020204020204" pitchFamily="34" charset="-122"/>
                <a:ea typeface="微软雅黑" panose="020B0503020204020204" pitchFamily="34" charset="-122"/>
              </a:rPr>
              <a:t>Unity UI</a:t>
            </a:r>
            <a:r>
              <a:rPr lang="zh-CN" altLang="en-US" sz="1400" dirty="0">
                <a:latin typeface="微软雅黑" panose="020B0503020204020204" pitchFamily="34" charset="-122"/>
                <a:ea typeface="微软雅黑" panose="020B0503020204020204" pitchFamily="34" charset="-122"/>
              </a:rPr>
              <a:t>系统的首要任务是找到性能问题的准确原因。</a:t>
            </a:r>
            <a:endParaRPr lang="en-US" altLang="zh-CN" sz="1400" dirty="0">
              <a:latin typeface="微软雅黑" panose="020B0503020204020204" pitchFamily="34" charset="-122"/>
              <a:ea typeface="微软雅黑" panose="020B0503020204020204" pitchFamily="34" charset="-122"/>
            </a:endParaRPr>
          </a:p>
          <a:p>
            <a:endParaRPr lang="en-US" altLang="zh-CN" sz="1400" dirty="0">
              <a:latin typeface="微软雅黑" panose="020B0503020204020204" pitchFamily="34" charset="-122"/>
              <a:ea typeface="微软雅黑" panose="020B0503020204020204" pitchFamily="34" charset="-122"/>
            </a:endParaRPr>
          </a:p>
          <a:p>
            <a:r>
              <a:rPr lang="zh-CN" altLang="en-US" sz="1400" b="1" smtClean="0">
                <a:latin typeface="微软雅黑" panose="020B0503020204020204" pitchFamily="34" charset="-122"/>
                <a:ea typeface="微软雅黑" panose="020B0503020204020204" pitchFamily="34" charset="-122"/>
              </a:rPr>
              <a:t>开发过程中四</a:t>
            </a:r>
            <a:r>
              <a:rPr lang="zh-CN" altLang="en-US" sz="1400" b="1" dirty="0">
                <a:latin typeface="微软雅黑" panose="020B0503020204020204" pitchFamily="34" charset="-122"/>
                <a:ea typeface="微软雅黑" panose="020B0503020204020204" pitchFamily="34" charset="-122"/>
              </a:rPr>
              <a:t>个常见的</a:t>
            </a:r>
            <a:r>
              <a:rPr lang="zh-CN" altLang="en-US" sz="1400" b="1">
                <a:latin typeface="微软雅黑" panose="020B0503020204020204" pitchFamily="34" charset="-122"/>
                <a:ea typeface="微软雅黑" panose="020B0503020204020204" pitchFamily="34" charset="-122"/>
              </a:rPr>
              <a:t>问</a:t>
            </a:r>
            <a:r>
              <a:rPr lang="zh-CN" altLang="en-US" sz="1400" b="1" smtClean="0">
                <a:latin typeface="微软雅黑" panose="020B0503020204020204" pitchFamily="34" charset="-122"/>
                <a:ea typeface="微软雅黑" panose="020B0503020204020204" pitchFamily="34" charset="-122"/>
              </a:rPr>
              <a:t>题</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smtClean="0">
                <a:latin typeface="微软雅黑" panose="020B0503020204020204" pitchFamily="34" charset="-122"/>
                <a:ea typeface="微软雅黑" panose="020B0503020204020204" pitchFamily="34" charset="-122"/>
              </a:rPr>
              <a:t>过</a:t>
            </a:r>
            <a:r>
              <a:rPr lang="zh-CN" altLang="en-US" sz="1400" dirty="0">
                <a:latin typeface="微软雅黑" panose="020B0503020204020204" pitchFamily="34" charset="-122"/>
                <a:ea typeface="微软雅黑" panose="020B0503020204020204" pitchFamily="34" charset="-122"/>
              </a:rPr>
              <a:t>多的</a:t>
            </a:r>
            <a:r>
              <a:rPr lang="en-US" altLang="zh-CN" sz="1400" dirty="0">
                <a:latin typeface="微软雅黑" panose="020B0503020204020204" pitchFamily="34" charset="-122"/>
                <a:ea typeface="微软雅黑" panose="020B0503020204020204" pitchFamily="34" charset="-122"/>
              </a:rPr>
              <a:t>GPU</a:t>
            </a:r>
            <a:r>
              <a:rPr lang="zh-CN" altLang="en-US" sz="1400" dirty="0">
                <a:latin typeface="微软雅黑" panose="020B0503020204020204" pitchFamily="34" charset="-122"/>
                <a:ea typeface="微软雅黑" panose="020B0503020204020204" pitchFamily="34" charset="-122"/>
              </a:rPr>
              <a:t>片段着色器使用率（如屏幕填充率过高）</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smtClean="0">
                <a:latin typeface="微软雅黑" panose="020B0503020204020204" pitchFamily="34" charset="-122"/>
                <a:ea typeface="微软雅黑" panose="020B0503020204020204" pitchFamily="34" charset="-122"/>
              </a:rPr>
              <a:t>过</a:t>
            </a:r>
            <a:r>
              <a:rPr lang="zh-CN" altLang="en-US" sz="1400" dirty="0">
                <a:latin typeface="微软雅黑" panose="020B0503020204020204" pitchFamily="34" charset="-122"/>
                <a:ea typeface="微软雅黑" panose="020B0503020204020204" pitchFamily="34" charset="-122"/>
              </a:rPr>
              <a:t>多的</a:t>
            </a:r>
            <a:r>
              <a:rPr lang="en-US" altLang="zh-CN" sz="1400" dirty="0">
                <a:latin typeface="微软雅黑" panose="020B0503020204020204" pitchFamily="34" charset="-122"/>
                <a:ea typeface="微软雅黑" panose="020B0503020204020204" pitchFamily="34" charset="-122"/>
              </a:rPr>
              <a:t>CPU</a:t>
            </a:r>
            <a:r>
              <a:rPr lang="zh-CN" altLang="en-US" sz="1400" dirty="0">
                <a:latin typeface="微软雅黑" panose="020B0503020204020204" pitchFamily="34" charset="-122"/>
                <a:ea typeface="微软雅黑" panose="020B0503020204020204" pitchFamily="34" charset="-122"/>
              </a:rPr>
              <a:t>时间开销在重建一个画布上</a:t>
            </a:r>
            <a:endParaRPr lang="zh-CN" altLang="en-US" sz="1400"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smtClean="0">
                <a:latin typeface="微软雅黑" panose="020B0503020204020204" pitchFamily="34" charset="-122"/>
                <a:ea typeface="微软雅黑" panose="020B0503020204020204" pitchFamily="34" charset="-122"/>
              </a:rPr>
              <a:t>过</a:t>
            </a:r>
            <a:r>
              <a:rPr lang="zh-CN" altLang="en-US" sz="1400" dirty="0">
                <a:latin typeface="微软雅黑" panose="020B0503020204020204" pitchFamily="34" charset="-122"/>
                <a:ea typeface="微软雅黑" panose="020B0503020204020204" pitchFamily="34" charset="-122"/>
              </a:rPr>
              <a:t>多的</a:t>
            </a:r>
            <a:r>
              <a:rPr lang="en-US" altLang="zh-CN" sz="1400" dirty="0">
                <a:latin typeface="微软雅黑" panose="020B0503020204020204" pitchFamily="34" charset="-122"/>
                <a:ea typeface="微软雅黑" panose="020B0503020204020204" pitchFamily="34" charset="-122"/>
              </a:rPr>
              <a:t>CPU</a:t>
            </a:r>
            <a:r>
              <a:rPr lang="zh-CN" altLang="en-US" sz="1400" dirty="0">
                <a:latin typeface="微软雅黑" panose="020B0503020204020204" pitchFamily="34" charset="-122"/>
                <a:ea typeface="微软雅黑" panose="020B0503020204020204" pitchFamily="34" charset="-122"/>
              </a:rPr>
              <a:t>时间开销在生成顶点上（通常是文</a:t>
            </a:r>
            <a:r>
              <a:rPr lang="zh-CN" altLang="en-US" sz="1400">
                <a:latin typeface="微软雅黑" panose="020B0503020204020204" pitchFamily="34" charset="-122"/>
                <a:ea typeface="微软雅黑" panose="020B0503020204020204" pitchFamily="34" charset="-122"/>
              </a:rPr>
              <a:t>本</a:t>
            </a:r>
            <a:r>
              <a:rPr lang="zh-CN" altLang="en-US" sz="1400" smtClean="0">
                <a:latin typeface="微软雅黑" panose="020B0503020204020204" pitchFamily="34" charset="-122"/>
                <a:ea typeface="微软雅黑" panose="020B0503020204020204" pitchFamily="34" charset="-122"/>
              </a:rPr>
              <a:t>）</a:t>
            </a: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smtClean="0">
                <a:latin typeface="微软雅黑" panose="020B0503020204020204" pitchFamily="34" charset="-122"/>
                <a:ea typeface="微软雅黑" panose="020B0503020204020204" pitchFamily="34" charset="-122"/>
              </a:rPr>
              <a:t>过多的画布重建次数</a:t>
            </a: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1400" smtClean="0">
              <a:latin typeface="微软雅黑" panose="020B0503020204020204" pitchFamily="34" charset="-122"/>
              <a:ea typeface="微软雅黑" panose="020B0503020204020204" pitchFamily="34" charset="-122"/>
            </a:endParaRPr>
          </a:p>
          <a:p>
            <a:pPr marL="285750" indent="-285750"/>
            <a:r>
              <a:rPr lang="zh-CN" altLang="en-US" sz="1400" b="1" smtClean="0">
                <a:latin typeface="微软雅黑" panose="020B0503020204020204" pitchFamily="34" charset="-122"/>
                <a:ea typeface="微软雅黑" panose="020B0503020204020204" pitchFamily="34" charset="-122"/>
              </a:rPr>
              <a:t>针对这四个问题来分组介绍优化策略</a:t>
            </a:r>
            <a:endParaRPr lang="en-US" altLang="zh-CN" sz="1400" b="1"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smtClean="0">
                <a:latin typeface="微软雅黑" panose="020B0503020204020204" pitchFamily="34" charset="-122"/>
                <a:ea typeface="微软雅黑" panose="020B0503020204020204" pitchFamily="34" charset="-122"/>
              </a:rPr>
              <a:t>网格重建优化策略</a:t>
            </a: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smtClean="0">
                <a:latin typeface="微软雅黑" panose="020B0503020204020204" pitchFamily="34" charset="-122"/>
                <a:ea typeface="微软雅黑" panose="020B0503020204020204" pitchFamily="34" charset="-122"/>
              </a:rPr>
              <a:t>屏幕填充率优化策略</a:t>
            </a: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smtClean="0">
                <a:latin typeface="微软雅黑" panose="020B0503020204020204" pitchFamily="34" charset="-122"/>
                <a:ea typeface="微软雅黑" panose="020B0503020204020204" pitchFamily="34" charset="-122"/>
              </a:rPr>
              <a:t>合批优化策略</a:t>
            </a: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smtClean="0">
                <a:latin typeface="微软雅黑" panose="020B0503020204020204" pitchFamily="34" charset="-122"/>
                <a:ea typeface="微软雅黑" panose="020B0503020204020204" pitchFamily="34" charset="-122"/>
              </a:rPr>
              <a:t>字体优化策略</a:t>
            </a: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smtClean="0">
                <a:latin typeface="微软雅黑" panose="020B0503020204020204" pitchFamily="34" charset="-122"/>
                <a:ea typeface="微软雅黑" panose="020B0503020204020204" pitchFamily="34" charset="-122"/>
              </a:rPr>
              <a:t>滚动视图优化策划</a:t>
            </a: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smtClean="0">
                <a:latin typeface="微软雅黑" panose="020B0503020204020204" pitchFamily="34" charset="-122"/>
                <a:ea typeface="微软雅黑" panose="020B0503020204020204" pitchFamily="34" charset="-122"/>
              </a:rPr>
              <a:t>其它优化策略</a:t>
            </a:r>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endParaRPr lang="zh-CN" altLang="en-US" sz="1400" dirty="0">
              <a:latin typeface="微软雅黑" panose="020B0503020204020204" pitchFamily="34" charset="-122"/>
              <a:ea typeface="微软雅黑" panose="020B0503020204020204" pitchFamily="34" charset="-122"/>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0" indent="-742950" algn="ctr">
              <a:spcBef>
                <a:spcPct val="0"/>
              </a:spcBef>
              <a:defRPr/>
            </a:pPr>
            <a:r>
              <a:rPr lang="en-US" altLang="zh-CN" sz="4000" dirty="0">
                <a:solidFill>
                  <a:schemeClr val="tx1"/>
                </a:solidFill>
                <a:latin typeface="微软雅黑" panose="020B0503020204020204" pitchFamily="34" charset="-122"/>
                <a:ea typeface="微软雅黑" panose="020B0503020204020204" pitchFamily="34" charset="-122"/>
              </a:rPr>
              <a:t>UGUI</a:t>
            </a:r>
            <a:r>
              <a:rPr lang="zh-CN" altLang="en-US" sz="4000" dirty="0">
                <a:solidFill>
                  <a:schemeClr val="tx1"/>
                </a:solidFill>
                <a:latin typeface="微软雅黑" panose="020B0503020204020204" pitchFamily="34" charset="-122"/>
                <a:ea typeface="微软雅黑" panose="020B0503020204020204" pitchFamily="34" charset="-122"/>
              </a:rPr>
              <a:t>优化</a:t>
            </a:r>
            <a:endParaRPr lang="en-US" altLang="zh-CN" sz="4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643602"/>
          </a:xfrm>
          <a:prstGeom prst="rect">
            <a:avLst/>
          </a:prstGeom>
        </p:spPr>
        <p:txBody>
          <a:bodyPr vert="horz" lIns="91440" tIns="45720" rIns="91440" bIns="45720" rtlCol="0" anchor="t">
            <a:normAutofit/>
          </a:bodyPr>
          <a:lstStyle/>
          <a:p>
            <a:pPr marL="285750" indent="-285750"/>
            <a:r>
              <a:rPr lang="zh-CN" altLang="en-US" sz="1400" b="1" smtClean="0">
                <a:solidFill>
                  <a:srgbClr val="C00000"/>
                </a:solidFill>
                <a:latin typeface="微软雅黑" panose="020B0503020204020204" pitchFamily="34" charset="-122"/>
                <a:ea typeface="微软雅黑" panose="020B0503020204020204" pitchFamily="34" charset="-122"/>
              </a:rPr>
              <a:t>网格重建优化策略（</a:t>
            </a:r>
            <a:r>
              <a:rPr lang="en-US" altLang="zh-CN" sz="1400" b="1" smtClean="0">
                <a:solidFill>
                  <a:srgbClr val="C00000"/>
                </a:solidFill>
                <a:latin typeface="微软雅黑" panose="020B0503020204020204" pitchFamily="34" charset="-122"/>
                <a:ea typeface="微软雅黑" panose="020B0503020204020204" pitchFamily="34" charset="-122"/>
              </a:rPr>
              <a:t>Mesh</a:t>
            </a:r>
            <a:r>
              <a:rPr lang="zh-CN" altLang="en-US" sz="1400" b="1" smtClean="0">
                <a:solidFill>
                  <a:srgbClr val="C00000"/>
                </a:solidFill>
                <a:latin typeface="微软雅黑" panose="020B0503020204020204" pitchFamily="34" charset="-122"/>
                <a:ea typeface="微软雅黑" panose="020B0503020204020204" pitchFamily="34" charset="-122"/>
              </a:rPr>
              <a:t>）</a:t>
            </a:r>
            <a:endParaRPr lang="en-US" altLang="zh-CN" sz="1400" b="1" smtClean="0">
              <a:solidFill>
                <a:srgbClr val="C00000"/>
              </a:solidFill>
              <a:latin typeface="微软雅黑" panose="020B0503020204020204" pitchFamily="34" charset="-122"/>
              <a:ea typeface="微软雅黑" panose="020B0503020204020204" pitchFamily="34" charset="-122"/>
            </a:endParaRPr>
          </a:p>
          <a:p>
            <a:pPr marL="285750" indent="-285750"/>
            <a:endParaRPr lang="en-US" altLang="zh-CN" sz="1400" b="1"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smtClean="0">
                <a:latin typeface="微软雅黑" panose="020B0503020204020204" pitchFamily="34" charset="-122"/>
                <a:ea typeface="微软雅黑" panose="020B0503020204020204" pitchFamily="34" charset="-122"/>
              </a:rPr>
              <a:t>使用尽可能少的</a:t>
            </a:r>
            <a:r>
              <a:rPr lang="en-US" sz="1400" b="1" smtClean="0">
                <a:latin typeface="微软雅黑" panose="020B0503020204020204" pitchFamily="34" charset="-122"/>
                <a:ea typeface="微软雅黑" panose="020B0503020204020204" pitchFamily="34" charset="-122"/>
              </a:rPr>
              <a:t>UI</a:t>
            </a:r>
            <a:r>
              <a:rPr lang="zh-CN" altLang="en-US" sz="1400" b="1" smtClean="0">
                <a:latin typeface="微软雅黑" panose="020B0503020204020204" pitchFamily="34" charset="-122"/>
                <a:ea typeface="微软雅黑" panose="020B0503020204020204" pitchFamily="34" charset="-122"/>
              </a:rPr>
              <a:t>元素：</a:t>
            </a:r>
            <a:r>
              <a:rPr lang="zh-CN" altLang="en-US" sz="1400" smtClean="0">
                <a:latin typeface="微软雅黑" panose="020B0503020204020204" pitchFamily="34" charset="-122"/>
                <a:ea typeface="微软雅黑" panose="020B0503020204020204" pitchFamily="34" charset="-122"/>
              </a:rPr>
              <a:t>在制作</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时，一定要仔细查检</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层级，删除不必要的</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元素，这样可以减少深度排序的时间以及</a:t>
            </a:r>
            <a:r>
              <a:rPr lang="en-US" sz="1400" smtClean="0">
                <a:latin typeface="微软雅黑" panose="020B0503020204020204" pitchFamily="34" charset="-122"/>
                <a:ea typeface="微软雅黑" panose="020B0503020204020204" pitchFamily="34" charset="-122"/>
              </a:rPr>
              <a:t>Rebuild</a:t>
            </a:r>
            <a:r>
              <a:rPr lang="zh-CN" altLang="en-US" sz="1400" smtClean="0">
                <a:latin typeface="微软雅黑" panose="020B0503020204020204" pitchFamily="34" charset="-122"/>
                <a:ea typeface="微软雅黑" panose="020B0503020204020204" pitchFamily="34" charset="-122"/>
              </a:rPr>
              <a:t>的时间。</a:t>
            </a:r>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smtClean="0">
                <a:latin typeface="微软雅黑" panose="020B0503020204020204" pitchFamily="34" charset="-122"/>
                <a:ea typeface="微软雅黑" panose="020B0503020204020204" pitchFamily="34" charset="-122"/>
              </a:rPr>
              <a:t>减少</a:t>
            </a:r>
            <a:r>
              <a:rPr lang="en-US" sz="1400" b="1" smtClean="0">
                <a:latin typeface="微软雅黑" panose="020B0503020204020204" pitchFamily="34" charset="-122"/>
                <a:ea typeface="微软雅黑" panose="020B0503020204020204" pitchFamily="34" charset="-122"/>
              </a:rPr>
              <a:t>Rebuild</a:t>
            </a:r>
            <a:r>
              <a:rPr lang="zh-CN" altLang="en-US" sz="1400" b="1" smtClean="0">
                <a:latin typeface="微软雅黑" panose="020B0503020204020204" pitchFamily="34" charset="-122"/>
                <a:ea typeface="微软雅黑" panose="020B0503020204020204" pitchFamily="34" charset="-122"/>
              </a:rPr>
              <a:t>的频率：</a:t>
            </a:r>
            <a:r>
              <a:rPr lang="zh-CN" altLang="en-US" sz="1400" smtClean="0">
                <a:latin typeface="微软雅黑" panose="020B0503020204020204" pitchFamily="34" charset="-122"/>
                <a:ea typeface="微软雅黑" panose="020B0503020204020204" pitchFamily="34" charset="-122"/>
              </a:rPr>
              <a:t>将动态</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元素（频繁改变例如顶点、</a:t>
            </a:r>
            <a:r>
              <a:rPr lang="en-US" sz="1400" smtClean="0">
                <a:latin typeface="微软雅黑" panose="020B0503020204020204" pitchFamily="34" charset="-122"/>
                <a:ea typeface="微软雅黑" panose="020B0503020204020204" pitchFamily="34" charset="-122"/>
              </a:rPr>
              <a:t>alpha、</a:t>
            </a:r>
            <a:r>
              <a:rPr lang="zh-CN" altLang="en-US" sz="1400" smtClean="0">
                <a:latin typeface="微软雅黑" panose="020B0503020204020204" pitchFamily="34" charset="-122"/>
                <a:ea typeface="微软雅黑" panose="020B0503020204020204" pitchFamily="34" charset="-122"/>
              </a:rPr>
              <a:t>坐标和大小等的元素）与静态</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元素分离出来，放到特定的</a:t>
            </a:r>
            <a:r>
              <a:rPr lang="en-US" sz="1400" smtClean="0">
                <a:latin typeface="微软雅黑" panose="020B0503020204020204" pitchFamily="34" charset="-122"/>
                <a:ea typeface="微软雅黑" panose="020B0503020204020204" pitchFamily="34" charset="-122"/>
              </a:rPr>
              <a:t>Canvas</a:t>
            </a:r>
            <a:r>
              <a:rPr lang="zh-CN" altLang="en-US" sz="1400" smtClean="0">
                <a:latin typeface="微软雅黑" panose="020B0503020204020204" pitchFamily="34" charset="-122"/>
                <a:ea typeface="微软雅黑" panose="020B0503020204020204" pitchFamily="34" charset="-122"/>
              </a:rPr>
              <a:t>中。</a:t>
            </a:r>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smtClean="0">
                <a:latin typeface="微软雅黑" panose="020B0503020204020204" pitchFamily="34" charset="-122"/>
                <a:ea typeface="微软雅黑" panose="020B0503020204020204" pitchFamily="34" charset="-122"/>
              </a:rPr>
              <a:t>谨慎使用</a:t>
            </a:r>
            <a:r>
              <a:rPr lang="en-US" sz="1400" b="1" smtClean="0">
                <a:latin typeface="微软雅黑" panose="020B0503020204020204" pitchFamily="34" charset="-122"/>
                <a:ea typeface="微软雅黑" panose="020B0503020204020204" pitchFamily="34" charset="-122"/>
              </a:rPr>
              <a:t>UI</a:t>
            </a:r>
            <a:r>
              <a:rPr lang="zh-CN" altLang="en-US" sz="1400" b="1" smtClean="0">
                <a:latin typeface="微软雅黑" panose="020B0503020204020204" pitchFamily="34" charset="-122"/>
                <a:ea typeface="微软雅黑" panose="020B0503020204020204" pitchFamily="34" charset="-122"/>
              </a:rPr>
              <a:t>元素的</a:t>
            </a:r>
            <a:r>
              <a:rPr lang="en-US" sz="1400" b="1" smtClean="0">
                <a:latin typeface="微软雅黑" panose="020B0503020204020204" pitchFamily="34" charset="-122"/>
                <a:ea typeface="微软雅黑" panose="020B0503020204020204" pitchFamily="34" charset="-122"/>
              </a:rPr>
              <a:t>active</a:t>
            </a:r>
            <a:r>
              <a:rPr lang="zh-CN" altLang="en-US" sz="1400" b="1" smtClean="0">
                <a:latin typeface="微软雅黑" panose="020B0503020204020204" pitchFamily="34" charset="-122"/>
                <a:ea typeface="微软雅黑" panose="020B0503020204020204" pitchFamily="34" charset="-122"/>
              </a:rPr>
              <a:t>操作</a:t>
            </a:r>
            <a:r>
              <a:rPr lang="zh-CN" altLang="en-US" sz="1400" smtClean="0">
                <a:latin typeface="微软雅黑" panose="020B0503020204020204" pitchFamily="34" charset="-122"/>
                <a:ea typeface="微软雅黑" panose="020B0503020204020204" pitchFamily="34" charset="-122"/>
              </a:rPr>
              <a:t>：因为它们会触发耗时较高的</a:t>
            </a:r>
            <a:r>
              <a:rPr lang="en-US" sz="1400" smtClean="0">
                <a:latin typeface="微软雅黑" panose="020B0503020204020204" pitchFamily="34" charset="-122"/>
                <a:ea typeface="微软雅黑" panose="020B0503020204020204" pitchFamily="34" charset="-122"/>
              </a:rPr>
              <a:t>rebuild。</a:t>
            </a:r>
            <a:endParaRPr lang="en-US"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smtClean="0">
                <a:latin typeface="微软雅黑" panose="020B0503020204020204" pitchFamily="34" charset="-122"/>
                <a:ea typeface="微软雅黑" panose="020B0503020204020204" pitchFamily="34" charset="-122"/>
              </a:rPr>
              <a:t>谨慎使用</a:t>
            </a:r>
            <a:r>
              <a:rPr lang="en-US" sz="1400" b="1" smtClean="0">
                <a:latin typeface="微软雅黑" panose="020B0503020204020204" pitchFamily="34" charset="-122"/>
                <a:ea typeface="微软雅黑" panose="020B0503020204020204" pitchFamily="34" charset="-122"/>
              </a:rPr>
              <a:t>Canvas</a:t>
            </a:r>
            <a:r>
              <a:rPr lang="zh-CN" altLang="en-US" sz="1400" b="1" smtClean="0">
                <a:latin typeface="微软雅黑" panose="020B0503020204020204" pitchFamily="34" charset="-122"/>
                <a:ea typeface="微软雅黑" panose="020B0503020204020204" pitchFamily="34" charset="-122"/>
              </a:rPr>
              <a:t>的</a:t>
            </a:r>
            <a:r>
              <a:rPr lang="en-US" sz="1400" b="1" smtClean="0">
                <a:latin typeface="微软雅黑" panose="020B0503020204020204" pitchFamily="34" charset="-122"/>
                <a:ea typeface="微软雅黑" panose="020B0503020204020204" pitchFamily="34" charset="-122"/>
              </a:rPr>
              <a:t>Pixel Perfect</a:t>
            </a:r>
            <a:r>
              <a:rPr lang="zh-CN" altLang="en-US" sz="1400" b="1" smtClean="0">
                <a:latin typeface="微软雅黑" panose="020B0503020204020204" pitchFamily="34" charset="-122"/>
                <a:ea typeface="微软雅黑" panose="020B0503020204020204" pitchFamily="34" charset="-122"/>
              </a:rPr>
              <a:t>选项</a:t>
            </a:r>
            <a:r>
              <a:rPr lang="zh-CN" altLang="en-US" sz="1400" smtClean="0">
                <a:latin typeface="微软雅黑" panose="020B0503020204020204" pitchFamily="34" charset="-122"/>
                <a:ea typeface="微软雅黑" panose="020B0503020204020204" pitchFamily="34" charset="-122"/>
              </a:rPr>
              <a:t>：该选项的开启会导致</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元素在发生位移时，其长宽会被进行微调（为了对齐像素），从而造成</a:t>
            </a:r>
            <a:r>
              <a:rPr lang="en-US" sz="1400" smtClean="0">
                <a:latin typeface="微软雅黑" panose="020B0503020204020204" pitchFamily="34" charset="-122"/>
                <a:ea typeface="微软雅黑" panose="020B0503020204020204" pitchFamily="34" charset="-122"/>
              </a:rPr>
              <a:t>layout Rebuild。（</a:t>
            </a:r>
            <a:r>
              <a:rPr lang="zh-CN" altLang="en-US" sz="1400" smtClean="0">
                <a:latin typeface="微软雅黑" panose="020B0503020204020204" pitchFamily="34" charset="-122"/>
                <a:ea typeface="微软雅黑" panose="020B0503020204020204" pitchFamily="34" charset="-122"/>
              </a:rPr>
              <a:t>比如</a:t>
            </a:r>
            <a:r>
              <a:rPr lang="en-US" sz="1400" smtClean="0">
                <a:latin typeface="微软雅黑" panose="020B0503020204020204" pitchFamily="34" charset="-122"/>
                <a:ea typeface="微软雅黑" panose="020B0503020204020204" pitchFamily="34" charset="-122"/>
              </a:rPr>
              <a:t>ScrollRect</a:t>
            </a:r>
            <a:r>
              <a:rPr lang="zh-CN" altLang="en-US" sz="1400" smtClean="0">
                <a:latin typeface="微软雅黑" panose="020B0503020204020204" pitchFamily="34" charset="-122"/>
                <a:ea typeface="微软雅黑" panose="020B0503020204020204" pitchFamily="34" charset="-122"/>
              </a:rPr>
              <a:t>滚动时，会使得</a:t>
            </a:r>
            <a:r>
              <a:rPr lang="en-US" sz="1400" smtClean="0">
                <a:latin typeface="微软雅黑" panose="020B0503020204020204" pitchFamily="34" charset="-122"/>
                <a:ea typeface="微软雅黑" panose="020B0503020204020204" pitchFamily="34" charset="-122"/>
              </a:rPr>
              <a:t>Canvas.SendWillRenderCanvas</a:t>
            </a:r>
            <a:r>
              <a:rPr lang="zh-CN" altLang="en-US" sz="1400" smtClean="0">
                <a:latin typeface="微软雅黑" panose="020B0503020204020204" pitchFamily="34" charset="-122"/>
                <a:ea typeface="微软雅黑" panose="020B0503020204020204" pitchFamily="34" charset="-122"/>
              </a:rPr>
              <a:t>消耗较高）</a:t>
            </a: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1400" b="1"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sz="1400" b="1" smtClean="0">
                <a:latin typeface="微软雅黑" panose="020B0503020204020204" pitchFamily="34" charset="-122"/>
                <a:ea typeface="微软雅黑" panose="020B0503020204020204" pitchFamily="34" charset="-122"/>
              </a:rPr>
              <a:t>Animator</a:t>
            </a:r>
            <a:r>
              <a:rPr lang="zh-CN" altLang="en-US" sz="1400" b="1" smtClean="0">
                <a:latin typeface="微软雅黑" panose="020B0503020204020204" pitchFamily="34" charset="-122"/>
                <a:ea typeface="微软雅黑" panose="020B0503020204020204" pitchFamily="34" charset="-122"/>
              </a:rPr>
              <a:t>最佳用法：</a:t>
            </a:r>
            <a:r>
              <a:rPr lang="en-US" sz="1400" smtClean="0">
                <a:latin typeface="微软雅黑" panose="020B0503020204020204" pitchFamily="34" charset="-122"/>
                <a:ea typeface="微软雅黑" panose="020B0503020204020204" pitchFamily="34" charset="-122"/>
              </a:rPr>
              <a:t> Animator</a:t>
            </a:r>
            <a:r>
              <a:rPr lang="zh-CN" altLang="en-US" sz="1400" smtClean="0">
                <a:latin typeface="微软雅黑" panose="020B0503020204020204" pitchFamily="34" charset="-122"/>
                <a:ea typeface="微软雅黑" panose="020B0503020204020204" pitchFamily="34" charset="-122"/>
              </a:rPr>
              <a:t>每帧都会改变元素，即使动画中的数值没有变化，因为</a:t>
            </a:r>
            <a:r>
              <a:rPr lang="en-US" sz="1400" smtClean="0">
                <a:latin typeface="微软雅黑" panose="020B0503020204020204" pitchFamily="34" charset="-122"/>
                <a:ea typeface="微软雅黑" panose="020B0503020204020204" pitchFamily="34" charset="-122"/>
              </a:rPr>
              <a:t>Animator</a:t>
            </a:r>
            <a:r>
              <a:rPr lang="zh-CN" altLang="en-US" sz="1400" smtClean="0">
                <a:latin typeface="微软雅黑" panose="020B0503020204020204" pitchFamily="34" charset="-122"/>
                <a:ea typeface="微软雅黑" panose="020B0503020204020204" pitchFamily="34" charset="-122"/>
              </a:rPr>
              <a:t>没有空指令检查</a:t>
            </a:r>
            <a:r>
              <a:rPr lang="en-US" sz="1400" smtClean="0">
                <a:latin typeface="微软雅黑" panose="020B0503020204020204" pitchFamily="34" charset="-122"/>
                <a:ea typeface="微软雅黑" panose="020B0503020204020204" pitchFamily="34" charset="-122"/>
              </a:rPr>
              <a:t>。</a:t>
            </a:r>
            <a:r>
              <a:rPr lang="zh-CN" altLang="en-US" sz="1400" smtClean="0">
                <a:latin typeface="微软雅黑" panose="020B0503020204020204" pitchFamily="34" charset="-122"/>
                <a:ea typeface="微软雅黑" panose="020B0503020204020204" pitchFamily="34" charset="-122"/>
              </a:rPr>
              <a:t>对于仅响应事件时才变化的元素，可以自行编写代码或使用第三方补间插件。</a:t>
            </a:r>
            <a:endParaRPr lang="en-US" altLang="zh-CN" sz="1400" b="1" smtClean="0">
              <a:latin typeface="微软雅黑" panose="020B0503020204020204" pitchFamily="34" charset="-122"/>
              <a:ea typeface="微软雅黑" panose="020B0503020204020204" pitchFamily="34" charset="-122"/>
            </a:endParaRPr>
          </a:p>
          <a:p>
            <a:pPr marL="285750" indent="-285750"/>
            <a:endParaRPr lang="en-US" altLang="zh-CN" sz="1400" b="1"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smtClean="0">
                <a:latin typeface="微软雅黑" panose="020B0503020204020204" pitchFamily="34" charset="-122"/>
                <a:ea typeface="微软雅黑" panose="020B0503020204020204" pitchFamily="34" charset="-122"/>
              </a:rPr>
              <a:t>谨慎用</a:t>
            </a:r>
            <a:r>
              <a:rPr lang="en-US" altLang="zh-CN" sz="1400" b="1" smtClean="0">
                <a:latin typeface="微软雅黑" panose="020B0503020204020204" pitchFamily="34" charset="-122"/>
                <a:ea typeface="微软雅黑" panose="020B0503020204020204" pitchFamily="34" charset="-122"/>
              </a:rPr>
              <a:t>Tiled</a:t>
            </a:r>
            <a:r>
              <a:rPr lang="zh-CN" altLang="en-US" sz="1400" b="1" smtClean="0">
                <a:latin typeface="微软雅黑" panose="020B0503020204020204" pitchFamily="34" charset="-122"/>
                <a:ea typeface="微软雅黑" panose="020B0503020204020204" pitchFamily="34" charset="-122"/>
              </a:rPr>
              <a:t>类型的</a:t>
            </a:r>
            <a:r>
              <a:rPr lang="en-US" altLang="zh-CN" sz="1400" b="1" smtClean="0">
                <a:latin typeface="微软雅黑" panose="020B0503020204020204" pitchFamily="34" charset="-122"/>
                <a:ea typeface="微软雅黑" panose="020B0503020204020204" pitchFamily="34" charset="-122"/>
              </a:rPr>
              <a:t>Image</a:t>
            </a:r>
            <a:endParaRPr lang="en-US"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0" indent="-742950" algn="ctr">
              <a:spcBef>
                <a:spcPct val="0"/>
              </a:spcBef>
              <a:defRPr/>
            </a:pPr>
            <a:r>
              <a:rPr lang="en-US" altLang="zh-CN" sz="4000" dirty="0">
                <a:solidFill>
                  <a:schemeClr val="tx1"/>
                </a:solidFill>
                <a:latin typeface="微软雅黑" panose="020B0503020204020204" pitchFamily="34" charset="-122"/>
                <a:ea typeface="微软雅黑" panose="020B0503020204020204" pitchFamily="34" charset="-122"/>
              </a:rPr>
              <a:t>UGUI</a:t>
            </a:r>
            <a:r>
              <a:rPr lang="zh-CN" altLang="en-US" sz="4000" dirty="0">
                <a:solidFill>
                  <a:schemeClr val="tx1"/>
                </a:solidFill>
                <a:latin typeface="微软雅黑" panose="020B0503020204020204" pitchFamily="34" charset="-122"/>
                <a:ea typeface="微软雅黑" panose="020B0503020204020204" pitchFamily="34" charset="-122"/>
              </a:rPr>
              <a:t>优化</a:t>
            </a:r>
            <a:endParaRPr lang="en-US" altLang="zh-CN" sz="4000" dirty="0">
              <a:solidFill>
                <a:schemeClr val="tx1"/>
              </a:solidFill>
              <a:latin typeface="微软雅黑" panose="020B0503020204020204" pitchFamily="34" charset="-122"/>
              <a:ea typeface="微软雅黑" panose="020B0503020204020204" pitchFamily="34" charset="-122"/>
            </a:endParaRPr>
          </a:p>
        </p:txBody>
      </p:sp>
      <p:pic>
        <p:nvPicPr>
          <p:cNvPr id="7" name="Picture 2" descr="C:\Users\Administrator\Desktop\QQ截图20190514194041.png"/>
          <p:cNvPicPr>
            <a:picLocks noChangeAspect="1" noChangeArrowheads="1"/>
          </p:cNvPicPr>
          <p:nvPr/>
        </p:nvPicPr>
        <p:blipFill>
          <a:blip r:embed="rId1"/>
          <a:srcRect/>
          <a:stretch>
            <a:fillRect/>
          </a:stretch>
        </p:blipFill>
        <p:spPr bwMode="auto">
          <a:xfrm>
            <a:off x="642910" y="4929198"/>
            <a:ext cx="3000396" cy="1500198"/>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857892"/>
          </a:xfrm>
          <a:prstGeom prst="rect">
            <a:avLst/>
          </a:prstGeom>
        </p:spPr>
        <p:txBody>
          <a:bodyPr vert="horz" lIns="91440" tIns="45720" rIns="91440" bIns="45720" rtlCol="0" anchor="t">
            <a:normAutofit lnSpcReduction="10000"/>
          </a:bodyPr>
          <a:lstStyle/>
          <a:p>
            <a:pPr marL="285750" indent="-285750"/>
            <a:r>
              <a:rPr lang="zh-CN" altLang="en-US" sz="1400" b="1" smtClean="0">
                <a:solidFill>
                  <a:srgbClr val="C00000"/>
                </a:solidFill>
                <a:latin typeface="微软雅黑" panose="020B0503020204020204" pitchFamily="34" charset="-122"/>
                <a:ea typeface="微软雅黑" panose="020B0503020204020204" pitchFamily="34" charset="-122"/>
              </a:rPr>
              <a:t>屏幕填充率优化策略（</a:t>
            </a:r>
            <a:r>
              <a:rPr lang="en-US" altLang="zh-CN" sz="1400" b="1" smtClean="0">
                <a:solidFill>
                  <a:srgbClr val="C00000"/>
                </a:solidFill>
                <a:latin typeface="微软雅黑" panose="020B0503020204020204" pitchFamily="34" charset="-122"/>
                <a:ea typeface="微软雅黑" panose="020B0503020204020204" pitchFamily="34" charset="-122"/>
              </a:rPr>
              <a:t>OverDraw</a:t>
            </a:r>
            <a:r>
              <a:rPr lang="zh-CN" altLang="en-US" sz="1400" b="1" smtClean="0">
                <a:solidFill>
                  <a:srgbClr val="C00000"/>
                </a:solidFill>
                <a:latin typeface="微软雅黑" panose="020B0503020204020204" pitchFamily="34" charset="-122"/>
                <a:ea typeface="微软雅黑" panose="020B0503020204020204" pitchFamily="34" charset="-122"/>
              </a:rPr>
              <a:t>）</a:t>
            </a:r>
            <a:endParaRPr lang="en-US" altLang="zh-CN" sz="1400" b="1" smtClean="0">
              <a:solidFill>
                <a:srgbClr val="C00000"/>
              </a:solidFill>
              <a:latin typeface="微软雅黑" panose="020B0503020204020204" pitchFamily="34" charset="-122"/>
              <a:ea typeface="微软雅黑" panose="020B0503020204020204" pitchFamily="34" charset="-122"/>
            </a:endParaRPr>
          </a:p>
          <a:p>
            <a:pPr marL="285750" indent="-285750"/>
            <a:endParaRPr lang="en-US" altLang="zh-CN" sz="1400" b="1"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smtClean="0">
                <a:latin typeface="微软雅黑" panose="020B0503020204020204" pitchFamily="34" charset="-122"/>
                <a:ea typeface="微软雅黑" panose="020B0503020204020204" pitchFamily="34" charset="-122"/>
              </a:rPr>
              <a:t>禁用不可见的面板</a:t>
            </a:r>
            <a:r>
              <a:rPr lang="zh-CN" altLang="en-US" sz="1400" smtClean="0">
                <a:latin typeface="微软雅黑" panose="020B0503020204020204" pitchFamily="34" charset="-122"/>
                <a:ea typeface="微软雅黑" panose="020B0503020204020204" pitchFamily="34" charset="-122"/>
              </a:rPr>
              <a:t>：比如当打开一个系统时如果完全挡住了另外一个系统，则可以将被遮挡住的系统面板禁用。（龙与少女优化方案：通过修改</a:t>
            </a:r>
            <a:r>
              <a:rPr lang="en-US" altLang="zh-CN" sz="1400" smtClean="0">
                <a:latin typeface="微软雅黑" panose="020B0503020204020204" pitchFamily="34" charset="-122"/>
                <a:ea typeface="微软雅黑" panose="020B0503020204020204" pitchFamily="34" charset="-122"/>
              </a:rPr>
              <a:t>Canvas</a:t>
            </a:r>
            <a:r>
              <a:rPr lang="zh-CN" altLang="en-US" sz="1400" smtClean="0">
                <a:latin typeface="微软雅黑" panose="020B0503020204020204" pitchFamily="34" charset="-122"/>
                <a:ea typeface="微软雅黑" panose="020B0503020204020204" pitchFamily="34" charset="-122"/>
              </a:rPr>
              <a:t>对象的</a:t>
            </a:r>
            <a:r>
              <a:rPr lang="en-US" altLang="zh-CN" sz="1400" smtClean="0">
                <a:latin typeface="微软雅黑" panose="020B0503020204020204" pitchFamily="34" charset="-122"/>
                <a:ea typeface="微软雅黑" panose="020B0503020204020204" pitchFamily="34" charset="-122"/>
              </a:rPr>
              <a:t>Layer</a:t>
            </a:r>
            <a:r>
              <a:rPr lang="zh-CN" altLang="en-US" sz="1400" smtClean="0">
                <a:latin typeface="微软雅黑" panose="020B0503020204020204" pitchFamily="34" charset="-122"/>
                <a:ea typeface="微软雅黑" panose="020B0503020204020204" pitchFamily="34" charset="-122"/>
              </a:rPr>
              <a:t>隐藏面板。）</a:t>
            </a:r>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smtClean="0">
                <a:latin typeface="微软雅黑" panose="020B0503020204020204" pitchFamily="34" charset="-122"/>
                <a:ea typeface="微软雅黑" panose="020B0503020204020204" pitchFamily="34" charset="-122"/>
              </a:rPr>
              <a:t>不要使用空的</a:t>
            </a:r>
            <a:r>
              <a:rPr lang="en-US" sz="1400" b="1" smtClean="0">
                <a:latin typeface="微软雅黑" panose="020B0503020204020204" pitchFamily="34" charset="-122"/>
                <a:ea typeface="微软雅黑" panose="020B0503020204020204" pitchFamily="34" charset="-122"/>
              </a:rPr>
              <a:t>Image</a:t>
            </a:r>
            <a:r>
              <a:rPr lang="zh-CN" altLang="en-US" sz="1400" b="1" smtClean="0">
                <a:latin typeface="微软雅黑" panose="020B0503020204020204" pitchFamily="34" charset="-122"/>
                <a:ea typeface="微软雅黑" panose="020B0503020204020204" pitchFamily="34" charset="-122"/>
              </a:rPr>
              <a:t>做按键响应：</a:t>
            </a:r>
            <a:r>
              <a:rPr lang="zh-CN" altLang="en-US" sz="1400" smtClean="0">
                <a:latin typeface="微软雅黑" panose="020B0503020204020204" pitchFamily="34" charset="-122"/>
                <a:ea typeface="微软雅黑" panose="020B0503020204020204" pitchFamily="34" charset="-122"/>
              </a:rPr>
              <a:t>在</a:t>
            </a:r>
            <a:r>
              <a:rPr lang="en-US" sz="1400" smtClean="0">
                <a:latin typeface="微软雅黑" panose="020B0503020204020204" pitchFamily="34" charset="-122"/>
                <a:ea typeface="微软雅黑" panose="020B0503020204020204" pitchFamily="34" charset="-122"/>
              </a:rPr>
              <a:t>Unity</a:t>
            </a:r>
            <a:r>
              <a:rPr lang="zh-CN" altLang="en-US" sz="1400" smtClean="0">
                <a:latin typeface="微软雅黑" panose="020B0503020204020204" pitchFamily="34" charset="-122"/>
                <a:ea typeface="微软雅黑" panose="020B0503020204020204" pitchFamily="34" charset="-122"/>
              </a:rPr>
              <a:t>中</a:t>
            </a:r>
            <a:r>
              <a:rPr lang="en-US" sz="1400" smtClean="0">
                <a:latin typeface="微软雅黑" panose="020B0503020204020204" pitchFamily="34" charset="-122"/>
                <a:ea typeface="微软雅黑" panose="020B0503020204020204" pitchFamily="34" charset="-122"/>
              </a:rPr>
              <a:t>Raycast</a:t>
            </a:r>
            <a:r>
              <a:rPr lang="zh-CN" altLang="en-US" sz="1400" smtClean="0">
                <a:latin typeface="微软雅黑" panose="020B0503020204020204" pitchFamily="34" charset="-122"/>
                <a:ea typeface="微软雅黑" panose="020B0503020204020204" pitchFamily="34" charset="-122"/>
              </a:rPr>
              <a:t>使用</a:t>
            </a:r>
            <a:r>
              <a:rPr lang="en-US" altLang="zh-CN" sz="1400" smtClean="0">
                <a:latin typeface="微软雅黑" panose="020B0503020204020204" pitchFamily="34" charset="-122"/>
                <a:ea typeface="微软雅黑" panose="020B0503020204020204" pitchFamily="34" charset="-122"/>
              </a:rPr>
              <a:t>Graphic</a:t>
            </a:r>
            <a:r>
              <a:rPr lang="zh-CN" altLang="en-US" sz="1400" smtClean="0">
                <a:latin typeface="微软雅黑" panose="020B0503020204020204" pitchFamily="34" charset="-122"/>
                <a:ea typeface="微软雅黑" panose="020B0503020204020204" pitchFamily="34" charset="-122"/>
              </a:rPr>
              <a:t>作为基本元素来检测</a:t>
            </a:r>
            <a:r>
              <a:rPr lang="en-US" sz="1400" smtClean="0">
                <a:latin typeface="微软雅黑" panose="020B0503020204020204" pitchFamily="34" charset="-122"/>
                <a:ea typeface="微软雅黑" panose="020B0503020204020204" pitchFamily="34" charset="-122"/>
              </a:rPr>
              <a:t>touch。</a:t>
            </a:r>
            <a:r>
              <a:rPr lang="zh-CN" altLang="en-US" sz="1400" smtClean="0">
                <a:latin typeface="微软雅黑" panose="020B0503020204020204" pitchFamily="34" charset="-122"/>
                <a:ea typeface="微软雅黑" panose="020B0503020204020204" pitchFamily="34" charset="-122"/>
              </a:rPr>
              <a:t>如果使用空的</a:t>
            </a:r>
            <a:r>
              <a:rPr lang="en-US" sz="1400" smtClean="0">
                <a:latin typeface="微软雅黑" panose="020B0503020204020204" pitchFamily="34" charset="-122"/>
                <a:ea typeface="微软雅黑" panose="020B0503020204020204" pitchFamily="34" charset="-122"/>
              </a:rPr>
              <a:t>image</a:t>
            </a:r>
            <a:r>
              <a:rPr lang="zh-CN" altLang="en-US" sz="1400" smtClean="0">
                <a:latin typeface="微软雅黑" panose="020B0503020204020204" pitchFamily="34" charset="-122"/>
                <a:ea typeface="微软雅黑" panose="020B0503020204020204" pitchFamily="34" charset="-122"/>
              </a:rPr>
              <a:t>也会产生不必要的</a:t>
            </a:r>
            <a:r>
              <a:rPr lang="en-US" sz="1400" smtClean="0">
                <a:latin typeface="微软雅黑" panose="020B0503020204020204" pitchFamily="34" charset="-122"/>
                <a:ea typeface="微软雅黑" panose="020B0503020204020204" pitchFamily="34" charset="-122"/>
              </a:rPr>
              <a:t>overdraw。</a:t>
            </a:r>
            <a:r>
              <a:rPr lang="zh-CN" altLang="en-US" sz="1400" smtClean="0">
                <a:latin typeface="微软雅黑" panose="020B0503020204020204" pitchFamily="34" charset="-122"/>
                <a:ea typeface="微软雅黑" panose="020B0503020204020204" pitchFamily="34" charset="-122"/>
              </a:rPr>
              <a:t>可以实现一个只在逻辑上响应</a:t>
            </a:r>
            <a:r>
              <a:rPr lang="en-US" sz="1400" smtClean="0">
                <a:latin typeface="微软雅黑" panose="020B0503020204020204" pitchFamily="34" charset="-122"/>
                <a:ea typeface="微软雅黑" panose="020B0503020204020204" pitchFamily="34" charset="-122"/>
              </a:rPr>
              <a:t>Raycast</a:t>
            </a:r>
            <a:r>
              <a:rPr lang="zh-CN" altLang="en-US" sz="1400" smtClean="0">
                <a:latin typeface="微软雅黑" panose="020B0503020204020204" pitchFamily="34" charset="-122"/>
                <a:ea typeface="微软雅黑" panose="020B0503020204020204" pitchFamily="34" charset="-122"/>
              </a:rPr>
              <a:t>但是不参与绘制的组件即可。</a:t>
            </a:r>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sz="1400" b="1" smtClean="0">
                <a:latin typeface="微软雅黑" panose="020B0503020204020204" pitchFamily="34" charset="-122"/>
                <a:ea typeface="微软雅黑" panose="020B0503020204020204" pitchFamily="34" charset="-122"/>
              </a:rPr>
              <a:t>Polygon Mode Sprites</a:t>
            </a:r>
            <a:r>
              <a:rPr lang="zh-CN" altLang="en-US" sz="1400" smtClean="0">
                <a:latin typeface="微软雅黑" panose="020B0503020204020204" pitchFamily="34" charset="-122"/>
                <a:ea typeface="微软雅黑" panose="020B0503020204020204" pitchFamily="34" charset="-122"/>
              </a:rPr>
              <a:t>：如果图片边缘有大片留白就会产生很多无用填充。</a:t>
            </a:r>
            <a:r>
              <a:rPr lang="en-US" sz="1400" smtClean="0">
                <a:latin typeface="微软雅黑" panose="020B0503020204020204" pitchFamily="34" charset="-122"/>
                <a:ea typeface="微软雅黑" panose="020B0503020204020204" pitchFamily="34" charset="-122"/>
              </a:rPr>
              <a:t>Unity</a:t>
            </a:r>
            <a:r>
              <a:rPr lang="zh-CN" altLang="en-US" sz="1400" smtClean="0">
                <a:latin typeface="微软雅黑" panose="020B0503020204020204" pitchFamily="34" charset="-122"/>
                <a:ea typeface="微软雅黑" panose="020B0503020204020204" pitchFamily="34" charset="-122"/>
              </a:rPr>
              <a:t>和</a:t>
            </a:r>
            <a:r>
              <a:rPr lang="en-US" sz="1400" smtClean="0">
                <a:latin typeface="微软雅黑" panose="020B0503020204020204" pitchFamily="34" charset="-122"/>
                <a:ea typeface="微软雅黑" panose="020B0503020204020204" pitchFamily="34" charset="-122"/>
              </a:rPr>
              <a:t>Texture Packer</a:t>
            </a:r>
            <a:r>
              <a:rPr lang="zh-CN" altLang="en-US" sz="1400" smtClean="0">
                <a:latin typeface="微软雅黑" panose="020B0503020204020204" pitchFamily="34" charset="-122"/>
                <a:ea typeface="微软雅黑" panose="020B0503020204020204" pitchFamily="34" charset="-122"/>
              </a:rPr>
              <a:t>目前都支持了</a:t>
            </a:r>
            <a:r>
              <a:rPr lang="en-US" sz="1400" smtClean="0">
                <a:latin typeface="微软雅黑" panose="020B0503020204020204" pitchFamily="34" charset="-122"/>
                <a:ea typeface="微软雅黑" panose="020B0503020204020204" pitchFamily="34" charset="-122"/>
              </a:rPr>
              <a:t>Polygon Mode，</a:t>
            </a:r>
            <a:r>
              <a:rPr lang="zh-CN" altLang="en-US" sz="1400" smtClean="0">
                <a:latin typeface="微软雅黑" panose="020B0503020204020204" pitchFamily="34" charset="-122"/>
                <a:ea typeface="微软雅黑" panose="020B0503020204020204" pitchFamily="34" charset="-122"/>
              </a:rPr>
              <a:t>也就是说将原来的矩形</a:t>
            </a:r>
            <a:r>
              <a:rPr lang="en-US" sz="1400" smtClean="0">
                <a:latin typeface="微软雅黑" panose="020B0503020204020204" pitchFamily="34" charset="-122"/>
                <a:ea typeface="微软雅黑" panose="020B0503020204020204" pitchFamily="34" charset="-122"/>
              </a:rPr>
              <a:t>Sprite</a:t>
            </a:r>
            <a:r>
              <a:rPr lang="zh-CN" altLang="en-US" sz="1400" smtClean="0">
                <a:latin typeface="微软雅黑" panose="020B0503020204020204" pitchFamily="34" charset="-122"/>
                <a:ea typeface="微软雅黑" panose="020B0503020204020204" pitchFamily="34" charset="-122"/>
              </a:rPr>
              <a:t>用更加紧致的</a:t>
            </a:r>
            <a:r>
              <a:rPr lang="en-US" sz="1400" smtClean="0">
                <a:latin typeface="微软雅黑" panose="020B0503020204020204" pitchFamily="34" charset="-122"/>
                <a:ea typeface="微软雅黑" panose="020B0503020204020204" pitchFamily="34" charset="-122"/>
              </a:rPr>
              <a:t>Polygon</a:t>
            </a:r>
            <a:r>
              <a:rPr lang="zh-CN" altLang="en-US" sz="1400" smtClean="0">
                <a:latin typeface="微软雅黑" panose="020B0503020204020204" pitchFamily="34" charset="-122"/>
                <a:ea typeface="微软雅黑" panose="020B0503020204020204" pitchFamily="34" charset="-122"/>
              </a:rPr>
              <a:t>来描述。</a:t>
            </a:r>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sz="1400" b="1" smtClean="0">
                <a:latin typeface="微软雅黑" panose="020B0503020204020204" pitchFamily="34" charset="-122"/>
                <a:ea typeface="微软雅黑" panose="020B0503020204020204" pitchFamily="34" charset="-122"/>
              </a:rPr>
              <a:t>Image Fill Center</a:t>
            </a:r>
            <a:r>
              <a:rPr lang="zh-CN" altLang="en-US" sz="1400" smtClean="0">
                <a:latin typeface="微软雅黑" panose="020B0503020204020204" pitchFamily="34" charset="-122"/>
                <a:ea typeface="微软雅黑" panose="020B0503020204020204" pitchFamily="34" charset="-122"/>
              </a:rPr>
              <a:t>：在</a:t>
            </a:r>
            <a:r>
              <a:rPr lang="en-US" sz="1400" smtClean="0">
                <a:latin typeface="微软雅黑" panose="020B0503020204020204" pitchFamily="34" charset="-122"/>
                <a:ea typeface="微软雅黑" panose="020B0503020204020204" pitchFamily="34" charset="-122"/>
              </a:rPr>
              <a:t>Image Type</a:t>
            </a:r>
            <a:r>
              <a:rPr lang="zh-CN" altLang="en-US" sz="1400" smtClean="0">
                <a:latin typeface="微软雅黑" panose="020B0503020204020204" pitchFamily="34" charset="-122"/>
                <a:ea typeface="微软雅黑" panose="020B0503020204020204" pitchFamily="34" charset="-122"/>
              </a:rPr>
              <a:t>选项为</a:t>
            </a:r>
            <a:r>
              <a:rPr lang="en-US" sz="1400" smtClean="0">
                <a:latin typeface="微软雅黑" panose="020B0503020204020204" pitchFamily="34" charset="-122"/>
                <a:ea typeface="微软雅黑" panose="020B0503020204020204" pitchFamily="34" charset="-122"/>
              </a:rPr>
              <a:t>Sliced</a:t>
            </a:r>
            <a:r>
              <a:rPr lang="zh-CN" altLang="en-US" sz="1400" smtClean="0">
                <a:latin typeface="微软雅黑" panose="020B0503020204020204" pitchFamily="34" charset="-122"/>
                <a:ea typeface="微软雅黑" panose="020B0503020204020204" pitchFamily="34" charset="-122"/>
              </a:rPr>
              <a:t>的情况下，不需要</a:t>
            </a:r>
            <a:r>
              <a:rPr lang="en-US" sz="1400" smtClean="0">
                <a:latin typeface="微软雅黑" panose="020B0503020204020204" pitchFamily="34" charset="-122"/>
                <a:ea typeface="微软雅黑" panose="020B0503020204020204" pitchFamily="34" charset="-122"/>
              </a:rPr>
              <a:t>Fill Center</a:t>
            </a:r>
            <a:r>
              <a:rPr lang="zh-CN" altLang="en-US" sz="1400" smtClean="0">
                <a:latin typeface="微软雅黑" panose="020B0503020204020204" pitchFamily="34" charset="-122"/>
                <a:ea typeface="微软雅黑" panose="020B0503020204020204" pitchFamily="34" charset="-122"/>
              </a:rPr>
              <a:t>的时候去掉勾选。</a:t>
            </a:r>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r>
              <a:rPr lang="en-US" altLang="zh-CN" sz="1400" smtClean="0">
                <a:latin typeface="微软雅黑" panose="020B0503020204020204" pitchFamily="34" charset="-122"/>
                <a:ea typeface="微软雅黑" panose="020B0503020204020204" pitchFamily="34" charset="-122"/>
              </a:rPr>
              <a:t>                     OverDraw</a:t>
            </a:r>
            <a:r>
              <a:rPr lang="zh-CN" altLang="en-US" sz="1400" smtClean="0">
                <a:latin typeface="微软雅黑" panose="020B0503020204020204" pitchFamily="34" charset="-122"/>
                <a:ea typeface="微软雅黑" panose="020B0503020204020204" pitchFamily="34" charset="-122"/>
              </a:rPr>
              <a:t>示意图                                                  多边形精灵示意图</a:t>
            </a:r>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b="1" smtClean="0">
              <a:latin typeface="微软雅黑" panose="020B0503020204020204" pitchFamily="34" charset="-122"/>
              <a:ea typeface="微软雅黑" panose="020B0503020204020204" pitchFamily="34" charset="-122"/>
            </a:endParaRPr>
          </a:p>
          <a:p>
            <a:pPr marL="285750" indent="-285750"/>
            <a:endParaRPr lang="en-US" altLang="zh-CN" sz="1400" b="1"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0" indent="-742950" algn="ctr">
              <a:spcBef>
                <a:spcPct val="0"/>
              </a:spcBef>
              <a:defRPr/>
            </a:pPr>
            <a:r>
              <a:rPr lang="en-US" altLang="zh-CN" sz="4000" dirty="0">
                <a:solidFill>
                  <a:schemeClr val="tx1"/>
                </a:solidFill>
                <a:latin typeface="微软雅黑" panose="020B0503020204020204" pitchFamily="34" charset="-122"/>
                <a:ea typeface="微软雅黑" panose="020B0503020204020204" pitchFamily="34" charset="-122"/>
              </a:rPr>
              <a:t>UGUI</a:t>
            </a:r>
            <a:r>
              <a:rPr lang="zh-CN" altLang="en-US" sz="4000" dirty="0">
                <a:solidFill>
                  <a:schemeClr val="tx1"/>
                </a:solidFill>
                <a:latin typeface="微软雅黑" panose="020B0503020204020204" pitchFamily="34" charset="-122"/>
                <a:ea typeface="微软雅黑" panose="020B0503020204020204" pitchFamily="34" charset="-122"/>
              </a:rPr>
              <a:t>优化</a:t>
            </a:r>
            <a:endParaRPr lang="en-US" altLang="zh-CN" sz="4000" dirty="0">
              <a:solidFill>
                <a:schemeClr val="tx1"/>
              </a:solidFill>
              <a:latin typeface="微软雅黑" panose="020B0503020204020204" pitchFamily="34" charset="-122"/>
              <a:ea typeface="微软雅黑" panose="020B0503020204020204" pitchFamily="34" charset="-122"/>
            </a:endParaRPr>
          </a:p>
        </p:txBody>
      </p:sp>
      <p:pic>
        <p:nvPicPr>
          <p:cNvPr id="2050" name="Picture 2" descr="C:\Users\Administrator\Desktop\106434-20180505144545752-1172539986.jpg"/>
          <p:cNvPicPr>
            <a:picLocks noChangeAspect="1" noChangeArrowheads="1"/>
          </p:cNvPicPr>
          <p:nvPr/>
        </p:nvPicPr>
        <p:blipFill>
          <a:blip r:embed="rId1"/>
          <a:srcRect/>
          <a:stretch>
            <a:fillRect/>
          </a:stretch>
        </p:blipFill>
        <p:spPr bwMode="auto">
          <a:xfrm>
            <a:off x="714348" y="3857628"/>
            <a:ext cx="3128964" cy="2704114"/>
          </a:xfrm>
          <a:prstGeom prst="rect">
            <a:avLst/>
          </a:prstGeom>
          <a:noFill/>
        </p:spPr>
      </p:pic>
      <p:pic>
        <p:nvPicPr>
          <p:cNvPr id="2051" name="Picture 3" descr="C:\Users\Administrator\Desktop\fillrate.png"/>
          <p:cNvPicPr>
            <a:picLocks noChangeAspect="1" noChangeArrowheads="1"/>
          </p:cNvPicPr>
          <p:nvPr/>
        </p:nvPicPr>
        <p:blipFill>
          <a:blip r:embed="rId2"/>
          <a:srcRect/>
          <a:stretch>
            <a:fillRect/>
          </a:stretch>
        </p:blipFill>
        <p:spPr bwMode="auto">
          <a:xfrm>
            <a:off x="4286248" y="3786190"/>
            <a:ext cx="4095050" cy="2714644"/>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643602"/>
          </a:xfrm>
          <a:prstGeom prst="rect">
            <a:avLst/>
          </a:prstGeom>
        </p:spPr>
        <p:txBody>
          <a:bodyPr vert="horz" lIns="91440" tIns="45720" rIns="91440" bIns="45720" rtlCol="0" anchor="t">
            <a:normAutofit/>
          </a:bodyPr>
          <a:lstStyle/>
          <a:p>
            <a:pPr lvl="0">
              <a:spcBef>
                <a:spcPct val="0"/>
              </a:spcBef>
              <a:defRPr/>
            </a:pPr>
            <a:r>
              <a:rPr lang="zh-CN" altLang="en-US" sz="1400" b="1" smtClean="0">
                <a:solidFill>
                  <a:srgbClr val="C00000"/>
                </a:solidFill>
                <a:latin typeface="微软雅黑" panose="020B0503020204020204" pitchFamily="34" charset="-122"/>
                <a:ea typeface="微软雅黑" panose="020B0503020204020204" pitchFamily="34" charset="-122"/>
              </a:rPr>
              <a:t>合批优化策略（</a:t>
            </a:r>
            <a:r>
              <a:rPr lang="en-US" altLang="zh-CN" sz="1400" b="1" smtClean="0">
                <a:solidFill>
                  <a:srgbClr val="C00000"/>
                </a:solidFill>
                <a:latin typeface="微软雅黑" panose="020B0503020204020204" pitchFamily="34" charset="-122"/>
                <a:ea typeface="微软雅黑" panose="020B0503020204020204" pitchFamily="34" charset="-122"/>
              </a:rPr>
              <a:t>DrawCall</a:t>
            </a:r>
            <a:r>
              <a:rPr lang="zh-CN" altLang="en-US" sz="1400" b="1" smtClean="0">
                <a:solidFill>
                  <a:srgbClr val="C00000"/>
                </a:solidFill>
                <a:latin typeface="微软雅黑" panose="020B0503020204020204" pitchFamily="34" charset="-122"/>
                <a:ea typeface="微软雅黑" panose="020B0503020204020204" pitchFamily="34" charset="-122"/>
              </a:rPr>
              <a:t>）</a:t>
            </a:r>
            <a:endParaRPr lang="en-US" altLang="zh-CN" sz="1400" b="1" smtClean="0">
              <a:solidFill>
                <a:srgbClr val="C00000"/>
              </a:solidFill>
              <a:latin typeface="微软雅黑" panose="020B0503020204020204" pitchFamily="34" charset="-122"/>
              <a:ea typeface="微软雅黑" panose="020B0503020204020204" pitchFamily="34" charset="-122"/>
            </a:endParaRPr>
          </a:p>
          <a:p>
            <a:pPr lvl="0">
              <a:spcBef>
                <a:spcPct val="0"/>
              </a:spcBef>
              <a:defRPr/>
            </a:pPr>
            <a:endParaRPr lang="en-US" altLang="zh-CN" sz="1400" b="1" smtClean="0">
              <a:latin typeface="微软雅黑" panose="020B0503020204020204" pitchFamily="34" charset="-122"/>
              <a:ea typeface="微软雅黑" panose="020B0503020204020204" pitchFamily="34" charset="-122"/>
            </a:endParaRPr>
          </a:p>
          <a:p>
            <a:pPr marL="342900" lvl="0" indent="-342900">
              <a:spcBef>
                <a:spcPct val="0"/>
              </a:spcBef>
              <a:buFont typeface="Arial" panose="020B0604020202020204" pitchFamily="34" charset="0"/>
              <a:buChar char="•"/>
              <a:defRPr/>
            </a:pPr>
            <a:r>
              <a:rPr lang="zh-CN" altLang="en-US" sz="1400" b="1" smtClean="0">
                <a:latin typeface="微软雅黑" panose="020B0503020204020204" pitchFamily="34" charset="-122"/>
                <a:ea typeface="微软雅黑" panose="020B0503020204020204" pitchFamily="34" charset="-122"/>
              </a:rPr>
              <a:t>相同层级原则</a:t>
            </a:r>
            <a:r>
              <a:rPr lang="zh-CN" altLang="en-US" sz="1400" smtClean="0">
                <a:latin typeface="微软雅黑" panose="020B0503020204020204" pitchFamily="34" charset="-122"/>
                <a:ea typeface="微软雅黑" panose="020B0503020204020204" pitchFamily="34" charset="-122"/>
              </a:rPr>
              <a:t>：父节点下所有子节点，尽量保持相同的层次结构。相同层级下的</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元素可以</a:t>
            </a:r>
            <a:r>
              <a:rPr lang="en-US" sz="1400" smtClean="0">
                <a:latin typeface="微软雅黑" panose="020B0503020204020204" pitchFamily="34" charset="-122"/>
                <a:ea typeface="微软雅黑" panose="020B0503020204020204" pitchFamily="34" charset="-122"/>
              </a:rPr>
              <a:t>Batch。</a:t>
            </a:r>
            <a:endParaRPr lang="en-US" sz="1400" smtClean="0">
              <a:latin typeface="微软雅黑" panose="020B0503020204020204" pitchFamily="34" charset="-122"/>
              <a:ea typeface="微软雅黑" panose="020B0503020204020204" pitchFamily="34" charset="-122"/>
            </a:endParaRPr>
          </a:p>
          <a:p>
            <a:pPr marL="342900" lvl="0" indent="-342900">
              <a:spcBef>
                <a:spcPct val="0"/>
              </a:spcBef>
              <a:defRPr/>
            </a:pPr>
            <a:endParaRPr lang="en-US" altLang="zh-CN" sz="1400" smtClean="0">
              <a:latin typeface="微软雅黑" panose="020B0503020204020204" pitchFamily="34" charset="-122"/>
              <a:ea typeface="微软雅黑" panose="020B0503020204020204" pitchFamily="34" charset="-122"/>
            </a:endParaRPr>
          </a:p>
          <a:p>
            <a:pPr marL="342900" lvl="0" indent="-342900">
              <a:spcBef>
                <a:spcPct val="0"/>
              </a:spcBef>
              <a:buFont typeface="Arial" panose="020B0604020202020204" pitchFamily="34" charset="0"/>
              <a:buChar char="•"/>
              <a:defRPr/>
            </a:pPr>
            <a:r>
              <a:rPr lang="en-US" sz="1400" b="1" smtClean="0">
                <a:latin typeface="微软雅黑" panose="020B0503020204020204" pitchFamily="34" charset="-122"/>
                <a:ea typeface="微软雅黑" panose="020B0503020204020204" pitchFamily="34" charset="-122"/>
              </a:rPr>
              <a:t>Mask</a:t>
            </a:r>
            <a:r>
              <a:rPr lang="zh-CN" altLang="en-US" sz="1400" b="1" smtClean="0">
                <a:latin typeface="微软雅黑" panose="020B0503020204020204" pitchFamily="34" charset="-122"/>
                <a:ea typeface="微软雅黑" panose="020B0503020204020204" pitchFamily="34" charset="-122"/>
              </a:rPr>
              <a:t>组件</a:t>
            </a:r>
            <a:r>
              <a:rPr lang="zh-CN" altLang="en-US" sz="1400" smtClean="0">
                <a:latin typeface="微软雅黑" panose="020B0503020204020204" pitchFamily="34" charset="-122"/>
                <a:ea typeface="微软雅黑" panose="020B0503020204020204" pitchFamily="34" charset="-122"/>
              </a:rPr>
              <a:t>：</a:t>
            </a:r>
            <a:r>
              <a:rPr lang="en-US" sz="1400" smtClean="0">
                <a:latin typeface="微软雅黑" panose="020B0503020204020204" pitchFamily="34" charset="-122"/>
                <a:ea typeface="微软雅黑" panose="020B0503020204020204" pitchFamily="34" charset="-122"/>
              </a:rPr>
              <a:t>Mask</a:t>
            </a:r>
            <a:r>
              <a:rPr lang="zh-CN" altLang="en-US" sz="1400" smtClean="0">
                <a:latin typeface="微软雅黑" panose="020B0503020204020204" pitchFamily="34" charset="-122"/>
                <a:ea typeface="微软雅黑" panose="020B0503020204020204" pitchFamily="34" charset="-122"/>
              </a:rPr>
              <a:t>组件使用了模版缓存，</a:t>
            </a:r>
            <a:r>
              <a:rPr lang="en-US" sz="1400" smtClean="0">
                <a:latin typeface="微软雅黑" panose="020B0503020204020204" pitchFamily="34" charset="-122"/>
                <a:ea typeface="微软雅黑" panose="020B0503020204020204" pitchFamily="34" charset="-122"/>
              </a:rPr>
              <a:t>Mask</a:t>
            </a:r>
            <a:r>
              <a:rPr lang="zh-CN" altLang="en-US" sz="1400" smtClean="0">
                <a:latin typeface="微软雅黑" panose="020B0503020204020204" pitchFamily="34" charset="-122"/>
                <a:ea typeface="微软雅黑" panose="020B0503020204020204" pitchFamily="34" charset="-122"/>
              </a:rPr>
              <a:t>中的</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元素无法与外界</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元素合批，</a:t>
            </a:r>
            <a:r>
              <a:rPr lang="en-US" altLang="zh-CN" sz="1400" smtClean="0">
                <a:latin typeface="微软雅黑" panose="020B0503020204020204" pitchFamily="34" charset="-122"/>
                <a:ea typeface="微软雅黑" panose="020B0503020204020204" pitchFamily="34" charset="-122"/>
              </a:rPr>
              <a:t>Mask</a:t>
            </a:r>
            <a:r>
              <a:rPr lang="zh-CN" altLang="en-US" sz="1400" smtClean="0">
                <a:latin typeface="微软雅黑" panose="020B0503020204020204" pitchFamily="34" charset="-122"/>
                <a:ea typeface="微软雅黑" panose="020B0503020204020204" pitchFamily="34" charset="-122"/>
              </a:rPr>
              <a:t>组件还会额外增加</a:t>
            </a:r>
            <a:r>
              <a:rPr lang="en-US" altLang="zh-CN" sz="1400" smtClean="0">
                <a:latin typeface="微软雅黑" panose="020B0503020204020204" pitchFamily="34" charset="-122"/>
                <a:ea typeface="微软雅黑" panose="020B0503020204020204" pitchFamily="34" charset="-122"/>
              </a:rPr>
              <a:t>2</a:t>
            </a:r>
            <a:r>
              <a:rPr lang="zh-CN" altLang="en-US" sz="1400" smtClean="0">
                <a:latin typeface="微软雅黑" panose="020B0503020204020204" pitchFamily="34" charset="-122"/>
                <a:ea typeface="微软雅黑" panose="020B0503020204020204" pitchFamily="34" charset="-122"/>
              </a:rPr>
              <a:t>个</a:t>
            </a:r>
            <a:r>
              <a:rPr lang="en-US" altLang="zh-CN" sz="1400" smtClean="0">
                <a:latin typeface="微软雅黑" panose="020B0503020204020204" pitchFamily="34" charset="-122"/>
                <a:ea typeface="微软雅黑" panose="020B0503020204020204" pitchFamily="34" charset="-122"/>
              </a:rPr>
              <a:t>DrawCall.</a:t>
            </a:r>
            <a:endParaRPr lang="en-US" altLang="zh-CN" sz="1400" smtClean="0">
              <a:latin typeface="微软雅黑" panose="020B0503020204020204" pitchFamily="34" charset="-122"/>
              <a:ea typeface="微软雅黑" panose="020B0503020204020204" pitchFamily="34" charset="-122"/>
            </a:endParaRPr>
          </a:p>
          <a:p>
            <a:pPr marL="342900" lvl="0" indent="-342900">
              <a:spcBef>
                <a:spcPct val="0"/>
              </a:spcBef>
              <a:buFont typeface="Arial" panose="020B0604020202020204" pitchFamily="34" charset="0"/>
              <a:buChar char="•"/>
              <a:defRPr/>
            </a:pPr>
            <a:endParaRPr lang="en-US" altLang="zh-CN" sz="1400" b="1" smtClean="0">
              <a:latin typeface="微软雅黑" panose="020B0503020204020204" pitchFamily="34" charset="-122"/>
              <a:ea typeface="微软雅黑" panose="020B0503020204020204" pitchFamily="34" charset="-122"/>
            </a:endParaRPr>
          </a:p>
          <a:p>
            <a:pPr marL="342900" lvl="0" indent="-342900">
              <a:spcBef>
                <a:spcPct val="0"/>
              </a:spcBef>
              <a:buFont typeface="Arial" panose="020B0604020202020204" pitchFamily="34" charset="0"/>
              <a:buChar char="•"/>
              <a:defRPr/>
            </a:pPr>
            <a:r>
              <a:rPr lang="zh-CN" altLang="en-US" sz="1400" b="1" smtClean="0">
                <a:latin typeface="微软雅黑" panose="020B0503020204020204" pitchFamily="34" charset="-122"/>
                <a:ea typeface="微软雅黑" panose="020B0503020204020204" pitchFamily="34" charset="-122"/>
              </a:rPr>
              <a:t>隐藏的</a:t>
            </a:r>
            <a:r>
              <a:rPr lang="en-US" altLang="zh-CN" sz="1400" b="1" smtClean="0">
                <a:latin typeface="微软雅黑" panose="020B0503020204020204" pitchFamily="34" charset="-122"/>
                <a:ea typeface="微软雅黑" panose="020B0503020204020204" pitchFamily="34" charset="-122"/>
              </a:rPr>
              <a:t>Image</a:t>
            </a:r>
            <a:r>
              <a:rPr lang="zh-CN" altLang="en-US" sz="1400" smtClean="0">
                <a:latin typeface="微软雅黑" panose="020B0503020204020204" pitchFamily="34" charset="-122"/>
                <a:ea typeface="微软雅黑" panose="020B0503020204020204" pitchFamily="34" charset="-122"/>
              </a:rPr>
              <a:t>：</a:t>
            </a:r>
            <a:r>
              <a:rPr lang="en-US" altLang="zh-CN" sz="1400" smtClean="0">
                <a:latin typeface="微软雅黑" panose="020B0503020204020204" pitchFamily="34" charset="-122"/>
                <a:ea typeface="微软雅黑" panose="020B0503020204020204" pitchFamily="34" charset="-122"/>
              </a:rPr>
              <a:t>I</a:t>
            </a:r>
            <a:r>
              <a:rPr lang="en-US" sz="1400" smtClean="0">
                <a:latin typeface="微软雅黑" panose="020B0503020204020204" pitchFamily="34" charset="-122"/>
                <a:ea typeface="微软雅黑" panose="020B0503020204020204" pitchFamily="34" charset="-122"/>
              </a:rPr>
              <a:t>mage</a:t>
            </a:r>
            <a:r>
              <a:rPr lang="zh-CN" altLang="en-US" sz="1400" smtClean="0">
                <a:latin typeface="微软雅黑" panose="020B0503020204020204" pitchFamily="34" charset="-122"/>
                <a:ea typeface="微软雅黑" panose="020B0503020204020204" pitchFamily="34" charset="-122"/>
              </a:rPr>
              <a:t>组件中</a:t>
            </a:r>
            <a:r>
              <a:rPr lang="en-US" sz="1400" smtClean="0">
                <a:latin typeface="微软雅黑" panose="020B0503020204020204" pitchFamily="34" charset="-122"/>
                <a:ea typeface="微软雅黑" panose="020B0503020204020204" pitchFamily="34" charset="-122"/>
              </a:rPr>
              <a:t>sprite</a:t>
            </a:r>
            <a:r>
              <a:rPr lang="zh-CN" altLang="en-US" sz="1400" smtClean="0">
                <a:latin typeface="微软雅黑" panose="020B0503020204020204" pitchFamily="34" charset="-122"/>
                <a:ea typeface="微软雅黑" panose="020B0503020204020204" pitchFamily="34" charset="-122"/>
              </a:rPr>
              <a:t>为空，都是占用</a:t>
            </a:r>
            <a:r>
              <a:rPr lang="en-US" sz="1400" smtClean="0">
                <a:latin typeface="微软雅黑" panose="020B0503020204020204" pitchFamily="34" charset="-122"/>
                <a:ea typeface="微软雅黑" panose="020B0503020204020204" pitchFamily="34" charset="-122"/>
              </a:rPr>
              <a:t>drawcall</a:t>
            </a:r>
            <a:r>
              <a:rPr lang="zh-CN" altLang="en-US" sz="1400" smtClean="0">
                <a:latin typeface="微软雅黑" panose="020B0503020204020204" pitchFamily="34" charset="-122"/>
                <a:ea typeface="微软雅黑" panose="020B0503020204020204" pitchFamily="34" charset="-122"/>
              </a:rPr>
              <a:t>渲染的，并且还会打断前后元素的合批。</a:t>
            </a:r>
            <a:endParaRPr lang="en-US" altLang="zh-CN" sz="1400" smtClean="0">
              <a:latin typeface="微软雅黑" panose="020B0503020204020204" pitchFamily="34" charset="-122"/>
              <a:ea typeface="微软雅黑" panose="020B0503020204020204" pitchFamily="34" charset="-122"/>
            </a:endParaRPr>
          </a:p>
          <a:p>
            <a:pPr lvl="0">
              <a:spcBef>
                <a:spcPct val="0"/>
              </a:spcBef>
              <a:defRPr/>
            </a:pPr>
            <a:endParaRPr lang="en-US" altLang="zh-CN" sz="1400" b="1" smtClean="0">
              <a:latin typeface="微软雅黑" panose="020B0503020204020204" pitchFamily="34" charset="-122"/>
              <a:ea typeface="微软雅黑" panose="020B0503020204020204" pitchFamily="34" charset="-122"/>
            </a:endParaRPr>
          </a:p>
          <a:p>
            <a:pPr marL="342900" lvl="0" indent="-342900">
              <a:spcBef>
                <a:spcPct val="0"/>
              </a:spcBef>
              <a:buFont typeface="Arial" panose="020B0604020202020204" pitchFamily="34" charset="0"/>
              <a:buChar char="•"/>
              <a:defRPr/>
            </a:pPr>
            <a:r>
              <a:rPr lang="en-US" sz="1400" b="1" smtClean="0">
                <a:latin typeface="微软雅黑" panose="020B0503020204020204" pitchFamily="34" charset="-122"/>
                <a:ea typeface="微软雅黑" panose="020B0503020204020204" pitchFamily="34" charset="-122"/>
              </a:rPr>
              <a:t>Screen Space-Camera</a:t>
            </a:r>
            <a:r>
              <a:rPr lang="zh-CN" altLang="en-US" sz="1400" b="1" smtClean="0">
                <a:latin typeface="微软雅黑" panose="020B0503020204020204" pitchFamily="34" charset="-122"/>
                <a:ea typeface="微软雅黑" panose="020B0503020204020204" pitchFamily="34" charset="-122"/>
              </a:rPr>
              <a:t>模式：</a:t>
            </a:r>
            <a:r>
              <a:rPr lang="zh-CN" altLang="en-US" sz="1400" smtClean="0">
                <a:latin typeface="微软雅黑" panose="020B0503020204020204" pitchFamily="34" charset="-122"/>
                <a:ea typeface="微软雅黑" panose="020B0503020204020204" pitchFamily="34" charset="-122"/>
              </a:rPr>
              <a:t>一个</a:t>
            </a:r>
            <a:r>
              <a:rPr lang="en-US" sz="1400" smtClean="0">
                <a:latin typeface="微软雅黑" panose="020B0503020204020204" pitchFamily="34" charset="-122"/>
                <a:ea typeface="微软雅黑" panose="020B0503020204020204" pitchFamily="34" charset="-122"/>
              </a:rPr>
              <a:t>Canvas</a:t>
            </a:r>
            <a:r>
              <a:rPr lang="zh-CN" altLang="en-US" sz="1400" smtClean="0">
                <a:latin typeface="微软雅黑" panose="020B0503020204020204" pitchFamily="34" charset="-122"/>
                <a:ea typeface="微软雅黑" panose="020B0503020204020204" pitchFamily="34" charset="-122"/>
              </a:rPr>
              <a:t>中的任何一个</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元素只要在屏幕中，则这个</a:t>
            </a:r>
            <a:r>
              <a:rPr lang="en-US" sz="1400" smtClean="0">
                <a:latin typeface="微软雅黑" panose="020B0503020204020204" pitchFamily="34" charset="-122"/>
                <a:ea typeface="微软雅黑" panose="020B0503020204020204" pitchFamily="34" charset="-122"/>
              </a:rPr>
              <a:t>Canvas</a:t>
            </a:r>
            <a:r>
              <a:rPr lang="zh-CN" altLang="en-US" sz="1400" smtClean="0">
                <a:latin typeface="微软雅黑" panose="020B0503020204020204" pitchFamily="34" charset="-122"/>
                <a:ea typeface="微软雅黑" panose="020B0503020204020204" pitchFamily="34" charset="-122"/>
              </a:rPr>
              <a:t>中的其他</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元素即使在屏幕外</a:t>
            </a:r>
            <a:r>
              <a:rPr lang="en-US" sz="1400" smtClean="0">
                <a:latin typeface="微软雅黑" panose="020B0503020204020204" pitchFamily="34" charset="-122"/>
                <a:ea typeface="微软雅黑" panose="020B0503020204020204" pitchFamily="34" charset="-122"/>
              </a:rPr>
              <a:t>DrawCall</a:t>
            </a:r>
            <a:r>
              <a:rPr lang="zh-CN" altLang="en-US" sz="1400" smtClean="0">
                <a:latin typeface="微软雅黑" panose="020B0503020204020204" pitchFamily="34" charset="-122"/>
                <a:ea typeface="微软雅黑" panose="020B0503020204020204" pitchFamily="34" charset="-122"/>
              </a:rPr>
              <a:t>仍不会减少。</a:t>
            </a:r>
            <a:endParaRPr lang="en-US" altLang="zh-CN" sz="1400" smtClean="0">
              <a:latin typeface="微软雅黑" panose="020B0503020204020204" pitchFamily="34" charset="-122"/>
              <a:ea typeface="微软雅黑" panose="020B0503020204020204" pitchFamily="34" charset="-122"/>
            </a:endParaRPr>
          </a:p>
          <a:p>
            <a:pPr lvl="0">
              <a:spcBef>
                <a:spcPct val="0"/>
              </a:spcBef>
              <a:defRPr/>
            </a:pPr>
            <a:endParaRPr lang="en-US" altLang="zh-CN" sz="1400" b="1" smtClean="0">
              <a:latin typeface="微软雅黑" panose="020B0503020204020204" pitchFamily="34" charset="-122"/>
              <a:ea typeface="微软雅黑" panose="020B0503020204020204" pitchFamily="34" charset="-122"/>
            </a:endParaRPr>
          </a:p>
          <a:p>
            <a:pPr marL="342900" indent="-342900">
              <a:spcBef>
                <a:spcPct val="0"/>
              </a:spcBef>
              <a:buFont typeface="Arial" panose="020B0604020202020204" pitchFamily="34" charset="0"/>
              <a:buChar char="•"/>
              <a:defRPr/>
            </a:pPr>
            <a:r>
              <a:rPr lang="en-US" sz="1400" b="1" smtClean="0">
                <a:latin typeface="微软雅黑" panose="020B0503020204020204" pitchFamily="34" charset="-122"/>
                <a:ea typeface="微软雅黑" panose="020B0503020204020204" pitchFamily="34" charset="-122"/>
              </a:rPr>
              <a:t>Hierarchy</a:t>
            </a:r>
            <a:r>
              <a:rPr lang="zh-CN" altLang="en-US" sz="1400" b="1" smtClean="0">
                <a:latin typeface="微软雅黑" panose="020B0503020204020204" pitchFamily="34" charset="-122"/>
                <a:ea typeface="微软雅黑" panose="020B0503020204020204" pitchFamily="34" charset="-122"/>
              </a:rPr>
              <a:t>穿插重叠问题：</a:t>
            </a:r>
            <a:r>
              <a:rPr lang="zh-CN" altLang="en-US" sz="1400" smtClean="0">
                <a:latin typeface="微软雅黑" panose="020B0503020204020204" pitchFamily="34" charset="-122"/>
                <a:ea typeface="微软雅黑" panose="020B0503020204020204" pitchFamily="34" charset="-122"/>
              </a:rPr>
              <a:t>如下图红点和</a:t>
            </a:r>
            <a:r>
              <a:rPr lang="en-US" sz="1400" smtClean="0">
                <a:latin typeface="微软雅黑" panose="020B0503020204020204" pitchFamily="34" charset="-122"/>
                <a:ea typeface="微软雅黑" panose="020B0503020204020204" pitchFamily="34" charset="-122"/>
              </a:rPr>
              <a:t>Icon</a:t>
            </a:r>
            <a:r>
              <a:rPr lang="zh-CN" altLang="en-US" sz="1400" smtClean="0">
                <a:latin typeface="微软雅黑" panose="020B0503020204020204" pitchFamily="34" charset="-122"/>
                <a:ea typeface="微软雅黑" panose="020B0503020204020204" pitchFamily="34" charset="-122"/>
              </a:rPr>
              <a:t>在不同图集中，如果红点稍微大一点，遮挡了旁边的</a:t>
            </a:r>
            <a:r>
              <a:rPr lang="en-US" sz="1400" smtClean="0">
                <a:latin typeface="微软雅黑" panose="020B0503020204020204" pitchFamily="34" charset="-122"/>
                <a:ea typeface="微软雅黑" panose="020B0503020204020204" pitchFamily="34" charset="-122"/>
              </a:rPr>
              <a:t>Icon，</a:t>
            </a:r>
            <a:r>
              <a:rPr lang="zh-CN" altLang="en-US" sz="1400" smtClean="0">
                <a:latin typeface="微软雅黑" panose="020B0503020204020204" pitchFamily="34" charset="-122"/>
                <a:ea typeface="微软雅黑" panose="020B0503020204020204" pitchFamily="34" charset="-122"/>
              </a:rPr>
              <a:t>就不能合批，须要调整</a:t>
            </a:r>
            <a:r>
              <a:rPr lang="en-US" sz="1400" smtClean="0">
                <a:latin typeface="微软雅黑" panose="020B0503020204020204" pitchFamily="34" charset="-122"/>
                <a:ea typeface="微软雅黑" panose="020B0503020204020204" pitchFamily="34" charset="-122"/>
              </a:rPr>
              <a:t>Icon</a:t>
            </a:r>
            <a:r>
              <a:rPr lang="zh-CN" altLang="en-US" sz="1400" smtClean="0">
                <a:latin typeface="微软雅黑" panose="020B0503020204020204" pitchFamily="34" charset="-122"/>
                <a:ea typeface="微软雅黑" panose="020B0503020204020204" pitchFamily="34" charset="-122"/>
              </a:rPr>
              <a:t>和红点的节点关系，</a:t>
            </a:r>
            <a:r>
              <a:rPr lang="en-US" altLang="zh-CN" sz="1400" smtClean="0">
                <a:latin typeface="微软雅黑" panose="020B0503020204020204" pitchFamily="34" charset="-122"/>
                <a:ea typeface="微软雅黑" panose="020B0503020204020204" pitchFamily="34" charset="-122"/>
              </a:rPr>
              <a:t>4</a:t>
            </a:r>
            <a:r>
              <a:rPr lang="zh-CN" altLang="en-US" sz="1400" smtClean="0">
                <a:latin typeface="微软雅黑" panose="020B0503020204020204" pitchFamily="34" charset="-122"/>
                <a:ea typeface="微软雅黑" panose="020B0503020204020204" pitchFamily="34" charset="-122"/>
              </a:rPr>
              <a:t>个</a:t>
            </a:r>
            <a:r>
              <a:rPr lang="en-US" sz="1400" smtClean="0">
                <a:latin typeface="微软雅黑" panose="020B0503020204020204" pitchFamily="34" charset="-122"/>
                <a:ea typeface="微软雅黑" panose="020B0503020204020204" pitchFamily="34" charset="-122"/>
              </a:rPr>
              <a:t>Icons</a:t>
            </a:r>
            <a:r>
              <a:rPr lang="zh-CN" altLang="en-US" sz="1400" smtClean="0">
                <a:latin typeface="微软雅黑" panose="020B0503020204020204" pitchFamily="34" charset="-122"/>
                <a:ea typeface="微软雅黑" panose="020B0503020204020204" pitchFamily="34" charset="-122"/>
              </a:rPr>
              <a:t>放在一个节点下，</a:t>
            </a:r>
            <a:r>
              <a:rPr lang="en-US" altLang="zh-CN" sz="1400" smtClean="0">
                <a:latin typeface="微软雅黑" panose="020B0503020204020204" pitchFamily="34" charset="-122"/>
                <a:ea typeface="微软雅黑" panose="020B0503020204020204" pitchFamily="34" charset="-122"/>
              </a:rPr>
              <a:t>4</a:t>
            </a:r>
            <a:r>
              <a:rPr lang="zh-CN" altLang="en-US" sz="1400" smtClean="0">
                <a:latin typeface="微软雅黑" panose="020B0503020204020204" pitchFamily="34" charset="-122"/>
                <a:ea typeface="微软雅黑" panose="020B0503020204020204" pitchFamily="34" charset="-122"/>
              </a:rPr>
              <a:t>个红点放在一个借点下。</a:t>
            </a:r>
            <a:endParaRPr lang="zh-CN" altLang="en-US" sz="1400" b="1" smtClean="0">
              <a:latin typeface="微软雅黑" panose="020B0503020204020204" pitchFamily="34" charset="-122"/>
              <a:ea typeface="微软雅黑" panose="020B0503020204020204" pitchFamily="34" charset="-122"/>
            </a:endParaRPr>
          </a:p>
          <a:p>
            <a:pPr lvl="0">
              <a:spcBef>
                <a:spcPct val="0"/>
              </a:spcBef>
              <a:defRPr/>
            </a:pPr>
            <a:endParaRPr lang="en-US" altLang="zh-CN" sz="1400" b="1" smtClean="0">
              <a:latin typeface="微软雅黑" panose="020B0503020204020204" pitchFamily="34" charset="-122"/>
              <a:ea typeface="微软雅黑" panose="020B0503020204020204" pitchFamily="34" charset="-122"/>
            </a:endParaRPr>
          </a:p>
          <a:p>
            <a:pPr lvl="0">
              <a:spcBef>
                <a:spcPct val="0"/>
              </a:spcBef>
              <a:defRPr/>
            </a:pPr>
            <a:endParaRPr lang="en-US" altLang="zh-CN" sz="1400" b="1" dirty="0">
              <a:latin typeface="微软雅黑" panose="020B0503020204020204" pitchFamily="34" charset="-122"/>
              <a:ea typeface="微软雅黑" panose="020B0503020204020204" pitchFamily="34" charset="-122"/>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0" indent="-742950" algn="ctr">
              <a:spcBef>
                <a:spcPct val="0"/>
              </a:spcBef>
              <a:defRPr/>
            </a:pPr>
            <a:r>
              <a:rPr lang="en-US" altLang="zh-CN" sz="4000" dirty="0">
                <a:solidFill>
                  <a:schemeClr val="tx1"/>
                </a:solidFill>
                <a:latin typeface="微软雅黑" panose="020B0503020204020204" pitchFamily="34" charset="-122"/>
                <a:ea typeface="微软雅黑" panose="020B0503020204020204" pitchFamily="34" charset="-122"/>
              </a:rPr>
              <a:t>UGUI</a:t>
            </a:r>
            <a:r>
              <a:rPr lang="zh-CN" altLang="en-US" sz="4000" dirty="0">
                <a:solidFill>
                  <a:schemeClr val="tx1"/>
                </a:solidFill>
                <a:latin typeface="微软雅黑" panose="020B0503020204020204" pitchFamily="34" charset="-122"/>
                <a:ea typeface="微软雅黑" panose="020B0503020204020204" pitchFamily="34" charset="-122"/>
              </a:rPr>
              <a:t>优化</a:t>
            </a:r>
            <a:endParaRPr lang="en-US" altLang="zh-CN" sz="4000" dirty="0">
              <a:solidFill>
                <a:schemeClr val="tx1"/>
              </a:solidFill>
              <a:latin typeface="微软雅黑" panose="020B0503020204020204" pitchFamily="34" charset="-122"/>
              <a:ea typeface="微软雅黑" panose="020B0503020204020204" pitchFamily="34" charset="-122"/>
            </a:endParaRPr>
          </a:p>
        </p:txBody>
      </p:sp>
      <p:pic>
        <p:nvPicPr>
          <p:cNvPr id="7170" name="Picture 2" descr="C:\Users\Administrator\Desktop\v2-6d2e4438d7fb8d8f0a15147434c0493d_hd.jpg"/>
          <p:cNvPicPr>
            <a:picLocks noChangeAspect="1" noChangeArrowheads="1"/>
          </p:cNvPicPr>
          <p:nvPr/>
        </p:nvPicPr>
        <p:blipFill>
          <a:blip r:embed="rId1"/>
          <a:srcRect/>
          <a:stretch>
            <a:fillRect/>
          </a:stretch>
        </p:blipFill>
        <p:spPr bwMode="auto">
          <a:xfrm>
            <a:off x="714348" y="4286256"/>
            <a:ext cx="1994606" cy="1714512"/>
          </a:xfrm>
          <a:prstGeom prst="rect">
            <a:avLst/>
          </a:prstGeom>
          <a:noFill/>
        </p:spPr>
      </p:pic>
      <p:pic>
        <p:nvPicPr>
          <p:cNvPr id="7171" name="Picture 3" descr="C:\Users\Administrator\Desktop\v2-6cefb94def8ff4fcb5afe9a7fd0b1afa_hd.jpg"/>
          <p:cNvPicPr>
            <a:picLocks noChangeAspect="1" noChangeArrowheads="1"/>
          </p:cNvPicPr>
          <p:nvPr/>
        </p:nvPicPr>
        <p:blipFill>
          <a:blip r:embed="rId2"/>
          <a:srcRect/>
          <a:stretch>
            <a:fillRect/>
          </a:stretch>
        </p:blipFill>
        <p:spPr bwMode="auto">
          <a:xfrm>
            <a:off x="2928926" y="4357694"/>
            <a:ext cx="2044405" cy="1571636"/>
          </a:xfrm>
          <a:prstGeom prst="rect">
            <a:avLst/>
          </a:prstGeo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857892"/>
          </a:xfrm>
          <a:prstGeom prst="rect">
            <a:avLst/>
          </a:prstGeom>
        </p:spPr>
        <p:txBody>
          <a:bodyPr vert="horz" lIns="91440" tIns="45720" rIns="91440" bIns="45720" rtlCol="0" anchor="t">
            <a:normAutofit/>
          </a:bodyPr>
          <a:lstStyle/>
          <a:p>
            <a:pPr marL="285750" indent="-285750"/>
            <a:r>
              <a:rPr lang="zh-CN" altLang="en-US" sz="1400" b="1" smtClean="0">
                <a:solidFill>
                  <a:srgbClr val="C00000"/>
                </a:solidFill>
                <a:latin typeface="微软雅黑" panose="020B0503020204020204" pitchFamily="34" charset="-122"/>
                <a:ea typeface="微软雅黑" panose="020B0503020204020204" pitchFamily="34" charset="-122"/>
              </a:rPr>
              <a:t>字体优化策略（</a:t>
            </a:r>
            <a:r>
              <a:rPr lang="en-US" altLang="zh-CN" sz="1400" b="1" smtClean="0">
                <a:solidFill>
                  <a:srgbClr val="C00000"/>
                </a:solidFill>
                <a:latin typeface="微软雅黑" panose="020B0503020204020204" pitchFamily="34" charset="-122"/>
                <a:ea typeface="微软雅黑" panose="020B0503020204020204" pitchFamily="34" charset="-122"/>
              </a:rPr>
              <a:t>Font</a:t>
            </a:r>
            <a:r>
              <a:rPr lang="zh-CN" altLang="en-US" sz="1400" b="1" smtClean="0">
                <a:solidFill>
                  <a:srgbClr val="C00000"/>
                </a:solidFill>
                <a:latin typeface="微软雅黑" panose="020B0503020204020204" pitchFamily="34" charset="-122"/>
                <a:ea typeface="微软雅黑" panose="020B0503020204020204" pitchFamily="34" charset="-122"/>
              </a:rPr>
              <a:t>）</a:t>
            </a:r>
            <a:endParaRPr lang="en-US" altLang="zh-CN" sz="1400" b="1" smtClean="0">
              <a:solidFill>
                <a:srgbClr val="C00000"/>
              </a:solidFill>
              <a:latin typeface="微软雅黑" panose="020B0503020204020204" pitchFamily="34" charset="-122"/>
              <a:ea typeface="微软雅黑" panose="020B0503020204020204" pitchFamily="34" charset="-122"/>
            </a:endParaRPr>
          </a:p>
          <a:p>
            <a:pPr marL="285750" indent="-285750"/>
            <a:endParaRPr lang="en-US" altLang="zh-CN" sz="1400" b="1"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smtClean="0">
                <a:latin typeface="微软雅黑" panose="020B0503020204020204" pitchFamily="34" charset="-122"/>
                <a:ea typeface="微软雅黑" panose="020B0503020204020204" pitchFamily="34" charset="-122"/>
              </a:rPr>
              <a:t>字体图集的重建机制</a:t>
            </a:r>
            <a:r>
              <a:rPr lang="zh-CN" altLang="en-US" sz="1400" smtClean="0">
                <a:latin typeface="微软雅黑" panose="020B0503020204020204" pitchFamily="34" charset="-122"/>
                <a:ea typeface="微软雅黑" panose="020B0503020204020204" pitchFamily="34" charset="-122"/>
              </a:rPr>
              <a:t>：当一个新文字出现的时候，会被添加到字体图集，如果图集已经没有空余的地方，那么图集会被重建。图集会以相同的尺寸重建，打包当前激活的所有</a:t>
            </a:r>
            <a:r>
              <a:rPr lang="en-US" sz="1400" smtClean="0">
                <a:latin typeface="微软雅黑" panose="020B0503020204020204" pitchFamily="34" charset="-122"/>
                <a:ea typeface="微软雅黑" panose="020B0503020204020204" pitchFamily="34" charset="-122"/>
              </a:rPr>
              <a:t>UI text</a:t>
            </a:r>
            <a:r>
              <a:rPr lang="zh-CN" altLang="en-US" sz="1400" smtClean="0">
                <a:latin typeface="微软雅黑" panose="020B0503020204020204" pitchFamily="34" charset="-122"/>
                <a:ea typeface="微软雅黑" panose="020B0503020204020204" pitchFamily="34" charset="-122"/>
              </a:rPr>
              <a:t>组件中要显示的文字，如果发现图集尺寸不够用的时候，图集会重新扩充尺寸。</a:t>
            </a:r>
            <a:endParaRPr lang="en-US"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sz="1400" b="1"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smtClean="0">
                <a:latin typeface="微软雅黑" panose="020B0503020204020204" pitchFamily="34" charset="-122"/>
                <a:ea typeface="微软雅黑" panose="020B0503020204020204" pitchFamily="34" charset="-122"/>
              </a:rPr>
              <a:t>后备字体机制</a:t>
            </a:r>
            <a:r>
              <a:rPr lang="zh-CN" altLang="en-US" sz="1400" smtClean="0">
                <a:latin typeface="微软雅黑" panose="020B0503020204020204" pitchFamily="34" charset="-122"/>
                <a:ea typeface="微软雅黑" panose="020B0503020204020204" pitchFamily="34" charset="-122"/>
              </a:rPr>
              <a:t>：对于字体库里没有的文字，会被放进后备字体图集里，后背字体图集会常驻内存里，不会被销毁。后备字体取自于系统自带的系统字库</a:t>
            </a:r>
            <a:r>
              <a:rPr lang="en-US" altLang="zh-CN" sz="1400" smtClean="0">
                <a:latin typeface="微软雅黑" panose="020B0503020204020204" pitchFamily="34" charset="-122"/>
                <a:ea typeface="微软雅黑" panose="020B0503020204020204" pitchFamily="34" charset="-122"/>
              </a:rPr>
              <a:t>Arial.ttf</a:t>
            </a:r>
            <a:r>
              <a:rPr lang="zh-CN" altLang="en-US" sz="1400" smtClean="0">
                <a:latin typeface="微软雅黑" panose="020B0503020204020204" pitchFamily="34" charset="-122"/>
                <a:ea typeface="微软雅黑" panose="020B0503020204020204" pitchFamily="34" charset="-122"/>
              </a:rPr>
              <a:t>，在发布的游戏安装包里该字库是不存在的。我们在一些</a:t>
            </a:r>
            <a:r>
              <a:rPr lang="en-US" altLang="zh-CN" sz="1400" smtClean="0">
                <a:latin typeface="微软雅黑" panose="020B0503020204020204" pitchFamily="34" charset="-122"/>
                <a:ea typeface="微软雅黑" panose="020B0503020204020204" pitchFamily="34" charset="-122"/>
              </a:rPr>
              <a:t>Unity</a:t>
            </a:r>
            <a:r>
              <a:rPr lang="zh-CN" altLang="en-US" sz="1400" smtClean="0">
                <a:latin typeface="微软雅黑" panose="020B0503020204020204" pitchFamily="34" charset="-122"/>
                <a:ea typeface="微软雅黑" panose="020B0503020204020204" pitchFamily="34" charset="-122"/>
              </a:rPr>
              <a:t>开发的游戏里，偶尔会发现一些生僻字的字形和其它常见文字的字形不统一。</a:t>
            </a:r>
            <a:endParaRPr lang="en-US"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sz="1400" b="1"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sz="1400" b="1" smtClean="0">
                <a:latin typeface="微软雅黑" panose="020B0503020204020204" pitchFamily="34" charset="-122"/>
                <a:ea typeface="微软雅黑" panose="020B0503020204020204" pitchFamily="34" charset="-122"/>
              </a:rPr>
              <a:t>Text</a:t>
            </a:r>
            <a:r>
              <a:rPr lang="zh-CN" altLang="en-US" sz="1400" b="1" smtClean="0">
                <a:latin typeface="微软雅黑" panose="020B0503020204020204" pitchFamily="34" charset="-122"/>
                <a:ea typeface="微软雅黑" panose="020B0503020204020204" pitchFamily="34" charset="-122"/>
              </a:rPr>
              <a:t>的网格重建：</a:t>
            </a:r>
            <a:r>
              <a:rPr lang="en-US" altLang="zh-CN" sz="1400" smtClean="0">
                <a:latin typeface="微软雅黑" panose="020B0503020204020204" pitchFamily="34" charset="-122"/>
                <a:ea typeface="微软雅黑" panose="020B0503020204020204" pitchFamily="34" charset="-122"/>
              </a:rPr>
              <a:t>Text</a:t>
            </a:r>
            <a:r>
              <a:rPr lang="zh-CN" altLang="en-US" sz="1400" smtClean="0">
                <a:latin typeface="微软雅黑" panose="020B0503020204020204" pitchFamily="34" charset="-122"/>
                <a:ea typeface="微软雅黑" panose="020B0503020204020204" pitchFamily="34" charset="-122"/>
              </a:rPr>
              <a:t>组件被重新启用的时候，会重建</a:t>
            </a:r>
            <a:r>
              <a:rPr lang="en-US" altLang="zh-CN" sz="1400" smtClean="0">
                <a:latin typeface="微软雅黑" panose="020B0503020204020204" pitchFamily="34" charset="-122"/>
                <a:ea typeface="微软雅黑" panose="020B0503020204020204" pitchFamily="34" charset="-122"/>
              </a:rPr>
              <a:t>Text</a:t>
            </a:r>
            <a:r>
              <a:rPr lang="zh-CN" altLang="en-US" sz="1400" smtClean="0">
                <a:latin typeface="微软雅黑" panose="020B0503020204020204" pitchFamily="34" charset="-122"/>
                <a:ea typeface="微软雅黑" panose="020B0503020204020204" pitchFamily="34" charset="-122"/>
              </a:rPr>
              <a:t>的网格。如果含有大量的文字，会造成严重的</a:t>
            </a:r>
            <a:r>
              <a:rPr lang="en-US" altLang="zh-CN" sz="1400" smtClean="0">
                <a:latin typeface="微软雅黑" panose="020B0503020204020204" pitchFamily="34" charset="-122"/>
                <a:ea typeface="微软雅黑" panose="020B0503020204020204" pitchFamily="34" charset="-122"/>
              </a:rPr>
              <a:t>CPU</a:t>
            </a:r>
            <a:r>
              <a:rPr lang="zh-CN" altLang="en-US" sz="1400" smtClean="0">
                <a:latin typeface="微软雅黑" panose="020B0503020204020204" pitchFamily="34" charset="-122"/>
                <a:ea typeface="微软雅黑" panose="020B0503020204020204" pitchFamily="34" charset="-122"/>
              </a:rPr>
              <a:t>开销。</a:t>
            </a:r>
            <a:endParaRPr lang="en-US" sz="1400" smtClean="0">
              <a:latin typeface="微软雅黑" panose="020B0503020204020204" pitchFamily="34" charset="-122"/>
              <a:ea typeface="微软雅黑" panose="020B0503020204020204" pitchFamily="34" charset="-122"/>
            </a:endParaRPr>
          </a:p>
          <a:p>
            <a:pPr marL="285750" indent="-285750"/>
            <a:endParaRPr lang="en-US" altLang="zh-CN" sz="1400" b="1"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smtClean="0">
                <a:latin typeface="微软雅黑" panose="020B0503020204020204" pitchFamily="34" charset="-122"/>
                <a:ea typeface="微软雅黑" panose="020B0503020204020204" pitchFamily="34" charset="-122"/>
              </a:rPr>
              <a:t>提前生成动态字体</a:t>
            </a:r>
            <a:r>
              <a:rPr lang="zh-CN" altLang="en-US" sz="1400" smtClean="0">
                <a:latin typeface="微软雅黑" panose="020B0503020204020204" pitchFamily="34" charset="-122"/>
                <a:ea typeface="微软雅黑" panose="020B0503020204020204" pitchFamily="34" charset="-122"/>
              </a:rPr>
              <a:t>：准备游戏非常常用的文字集合，通过</a:t>
            </a:r>
            <a:r>
              <a:rPr lang="en-US" sz="1400" smtClean="0">
                <a:latin typeface="微软雅黑" panose="020B0503020204020204" pitchFamily="34" charset="-122"/>
                <a:ea typeface="微软雅黑" panose="020B0503020204020204" pitchFamily="34" charset="-122"/>
              </a:rPr>
              <a:t>Font.RequestCharactersInTexture</a:t>
            </a:r>
            <a:r>
              <a:rPr lang="zh-CN" altLang="en-US" sz="1400" smtClean="0">
                <a:latin typeface="微软雅黑" panose="020B0503020204020204" pitchFamily="34" charset="-122"/>
                <a:ea typeface="微软雅黑" panose="020B0503020204020204" pitchFamily="34" charset="-122"/>
              </a:rPr>
              <a:t>接口提前放入字体图集里。注意使用</a:t>
            </a:r>
            <a:r>
              <a:rPr lang="en-US" sz="1400" smtClean="0">
                <a:latin typeface="微软雅黑" panose="020B0503020204020204" pitchFamily="34" charset="-122"/>
                <a:ea typeface="微软雅黑" panose="020B0503020204020204" pitchFamily="34" charset="-122"/>
              </a:rPr>
              <a:t>Font.textureRebuilt </a:t>
            </a:r>
            <a:r>
              <a:rPr lang="zh-CN" altLang="en-US" sz="1400" smtClean="0">
                <a:latin typeface="微软雅黑" panose="020B0503020204020204" pitchFamily="34" charset="-122"/>
                <a:ea typeface="微软雅黑" panose="020B0503020204020204" pitchFamily="34" charset="-122"/>
              </a:rPr>
              <a:t>委托，在字体图集被重新重建的时候，把我们提前准备的文字集合再次添加进去。</a:t>
            </a: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smtClean="0">
                <a:latin typeface="微软雅黑" panose="020B0503020204020204" pitchFamily="34" charset="-122"/>
                <a:ea typeface="微软雅黑" panose="020B0503020204020204" pitchFamily="34" charset="-122"/>
              </a:rPr>
              <a:t>使用美术数字</a:t>
            </a:r>
            <a:r>
              <a:rPr lang="zh-CN" altLang="en-US" sz="1400" smtClean="0">
                <a:latin typeface="微软雅黑" panose="020B0503020204020204" pitchFamily="34" charset="-122"/>
                <a:ea typeface="微软雅黑" panose="020B0503020204020204" pitchFamily="34" charset="-122"/>
              </a:rPr>
              <a:t>：游戏的分数，可以使用美术数字（精灵图片）来代替</a:t>
            </a:r>
            <a:r>
              <a:rPr lang="en-US" altLang="zh-CN" sz="1400" smtClean="0">
                <a:latin typeface="微软雅黑" panose="020B0503020204020204" pitchFamily="34" charset="-122"/>
                <a:ea typeface="微软雅黑" panose="020B0503020204020204" pitchFamily="34" charset="-122"/>
              </a:rPr>
              <a:t>Text</a:t>
            </a:r>
            <a:r>
              <a:rPr lang="zh-CN" altLang="en-US" sz="1400" smtClean="0">
                <a:latin typeface="微软雅黑" panose="020B0503020204020204" pitchFamily="34" charset="-122"/>
                <a:ea typeface="微软雅黑" panose="020B0503020204020204" pitchFamily="34" charset="-122"/>
              </a:rPr>
              <a:t>组件。</a:t>
            </a: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smtClean="0">
                <a:latin typeface="微软雅黑" panose="020B0503020204020204" pitchFamily="34" charset="-122"/>
                <a:ea typeface="微软雅黑" panose="020B0503020204020204" pitchFamily="34" charset="-122"/>
              </a:rPr>
              <a:t>谨慎使用</a:t>
            </a:r>
            <a:r>
              <a:rPr lang="en-US" sz="1400" b="1" smtClean="0">
                <a:latin typeface="微软雅黑" panose="020B0503020204020204" pitchFamily="34" charset="-122"/>
                <a:ea typeface="微软雅黑" panose="020B0503020204020204" pitchFamily="34" charset="-122"/>
              </a:rPr>
              <a:t>Text</a:t>
            </a:r>
            <a:r>
              <a:rPr lang="zh-CN" altLang="en-US" sz="1400" b="1" smtClean="0">
                <a:latin typeface="微软雅黑" panose="020B0503020204020204" pitchFamily="34" charset="-122"/>
                <a:ea typeface="微软雅黑" panose="020B0503020204020204" pitchFamily="34" charset="-122"/>
              </a:rPr>
              <a:t>的</a:t>
            </a:r>
            <a:r>
              <a:rPr lang="en-US" sz="1400" b="1" smtClean="0">
                <a:latin typeface="微软雅黑" panose="020B0503020204020204" pitchFamily="34" charset="-122"/>
                <a:ea typeface="微软雅黑" panose="020B0503020204020204" pitchFamily="34" charset="-122"/>
              </a:rPr>
              <a:t>Best Fit</a:t>
            </a:r>
            <a:r>
              <a:rPr lang="zh-CN" altLang="en-US" sz="1400" b="1" smtClean="0">
                <a:latin typeface="微软雅黑" panose="020B0503020204020204" pitchFamily="34" charset="-122"/>
                <a:ea typeface="微软雅黑" panose="020B0503020204020204" pitchFamily="34" charset="-122"/>
              </a:rPr>
              <a:t>选项</a:t>
            </a:r>
            <a:r>
              <a:rPr lang="zh-CN" altLang="en-US" sz="1400" smtClean="0">
                <a:latin typeface="微软雅黑" panose="020B0503020204020204" pitchFamily="34" charset="-122"/>
                <a:ea typeface="微软雅黑" panose="020B0503020204020204" pitchFamily="34" charset="-122"/>
              </a:rPr>
              <a:t>：虽然这个选项可以动态的调整字体大小以适应</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布局而不会超框，但其代价是很高的，</a:t>
            </a:r>
            <a:r>
              <a:rPr lang="en-US" sz="1400" smtClean="0">
                <a:latin typeface="微软雅黑" panose="020B0503020204020204" pitchFamily="34" charset="-122"/>
                <a:ea typeface="微软雅黑" panose="020B0503020204020204" pitchFamily="34" charset="-122"/>
              </a:rPr>
              <a:t>Unity</a:t>
            </a:r>
            <a:r>
              <a:rPr lang="zh-CN" altLang="en-US" sz="1400" smtClean="0">
                <a:latin typeface="微软雅黑" panose="020B0503020204020204" pitchFamily="34" charset="-122"/>
                <a:ea typeface="微软雅黑" panose="020B0503020204020204" pitchFamily="34" charset="-122"/>
              </a:rPr>
              <a:t>会为用到的该元素所用到的所有字号生成图元保存在图集里，不但增加额外的生成时间，还会使得字体对应的图集变大。</a:t>
            </a: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1400" smtClean="0">
              <a:latin typeface="微软雅黑" panose="020B0503020204020204" pitchFamily="34" charset="-122"/>
              <a:ea typeface="微软雅黑" panose="020B0503020204020204" pitchFamily="34" charset="-122"/>
            </a:endParaRPr>
          </a:p>
          <a:p>
            <a:pPr marL="342900" indent="-342900">
              <a:spcBef>
                <a:spcPct val="0"/>
              </a:spcBef>
              <a:buFont typeface="Arial" panose="020B0604020202020204" pitchFamily="34" charset="0"/>
              <a:buChar char="•"/>
              <a:defRPr/>
            </a:pPr>
            <a:r>
              <a:rPr lang="zh-CN" altLang="en-US" sz="1400" b="1" smtClean="0">
                <a:latin typeface="微软雅黑" panose="020B0503020204020204" pitchFamily="34" charset="-122"/>
                <a:ea typeface="微软雅黑" panose="020B0503020204020204" pitchFamily="34" charset="-122"/>
              </a:rPr>
              <a:t>减少长文本</a:t>
            </a:r>
            <a:r>
              <a:rPr lang="en-US" altLang="zh-CN" sz="1400" b="1" smtClean="0">
                <a:latin typeface="微软雅黑" panose="020B0503020204020204" pitchFamily="34" charset="-122"/>
                <a:ea typeface="微软雅黑" panose="020B0503020204020204" pitchFamily="34" charset="-122"/>
              </a:rPr>
              <a:t>Text</a:t>
            </a:r>
            <a:r>
              <a:rPr lang="zh-CN" altLang="en-US" sz="1400" b="1" smtClean="0">
                <a:latin typeface="微软雅黑" panose="020B0503020204020204" pitchFamily="34" charset="-122"/>
                <a:ea typeface="微软雅黑" panose="020B0503020204020204" pitchFamily="34" charset="-122"/>
              </a:rPr>
              <a:t>的变动，慎用</a:t>
            </a:r>
            <a:r>
              <a:rPr lang="en-US" altLang="zh-CN" sz="1400" b="1" smtClean="0">
                <a:latin typeface="微软雅黑" panose="020B0503020204020204" pitchFamily="34" charset="-122"/>
                <a:ea typeface="微软雅黑" panose="020B0503020204020204" pitchFamily="34" charset="-122"/>
              </a:rPr>
              <a:t>UI/Effect</a:t>
            </a:r>
            <a:r>
              <a:rPr lang="zh-CN" altLang="en-US" sz="1400" smtClean="0">
                <a:latin typeface="微软雅黑" panose="020B0503020204020204" pitchFamily="34" charset="-122"/>
                <a:ea typeface="微软雅黑" panose="020B0503020204020204" pitchFamily="34" charset="-122"/>
              </a:rPr>
              <a:t>：描边和阴影效果都会增大四倍的顶点数</a:t>
            </a:r>
            <a:endParaRPr lang="en-US" sz="1400" smtClean="0">
              <a:latin typeface="微软雅黑" panose="020B0503020204020204" pitchFamily="34" charset="-122"/>
              <a:ea typeface="微软雅黑" panose="020B0503020204020204" pitchFamily="34" charset="-122"/>
            </a:endParaRPr>
          </a:p>
          <a:p>
            <a:pPr marL="342900" lvl="0" indent="-342900">
              <a:spcBef>
                <a:spcPct val="0"/>
              </a:spcBef>
              <a:buFont typeface="Arial" panose="020B0604020202020204" pitchFamily="34" charset="0"/>
              <a:buChar char="•"/>
              <a:defRPr/>
            </a:pPr>
            <a:endParaRPr lang="en-US" altLang="zh-CN" sz="1400" b="1" smtClean="0">
              <a:latin typeface="微软雅黑" panose="020B0503020204020204" pitchFamily="34" charset="-122"/>
              <a:ea typeface="微软雅黑" panose="020B0503020204020204" pitchFamily="34" charset="-122"/>
            </a:endParaRPr>
          </a:p>
          <a:p>
            <a:pPr lvl="0">
              <a:spcBef>
                <a:spcPct val="0"/>
              </a:spcBef>
              <a:defRPr/>
            </a:pPr>
            <a:endParaRPr lang="en-US" altLang="zh-CN" sz="1400" b="1" smtClean="0">
              <a:latin typeface="微软雅黑" panose="020B0503020204020204" pitchFamily="34" charset="-122"/>
              <a:ea typeface="微软雅黑" panose="020B0503020204020204" pitchFamily="34" charset="-122"/>
            </a:endParaRPr>
          </a:p>
          <a:p>
            <a:pPr lvl="0">
              <a:spcBef>
                <a:spcPct val="0"/>
              </a:spcBef>
              <a:defRPr/>
            </a:pPr>
            <a:endParaRPr lang="en-US" altLang="zh-CN" sz="1400" b="1"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zh-CN" altLang="en-US"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1400" smtClean="0">
              <a:latin typeface="微软雅黑" panose="020B0503020204020204" pitchFamily="34" charset="-122"/>
              <a:ea typeface="微软雅黑" panose="020B0503020204020204" pitchFamily="34" charset="-122"/>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0" indent="-742950" algn="ctr">
              <a:spcBef>
                <a:spcPct val="0"/>
              </a:spcBef>
              <a:defRPr/>
            </a:pPr>
            <a:r>
              <a:rPr lang="en-US" altLang="zh-CN" sz="4000" dirty="0">
                <a:solidFill>
                  <a:schemeClr val="tx1"/>
                </a:solidFill>
                <a:latin typeface="微软雅黑" panose="020B0503020204020204" pitchFamily="34" charset="-122"/>
                <a:ea typeface="微软雅黑" panose="020B0503020204020204" pitchFamily="34" charset="-122"/>
              </a:rPr>
              <a:t>UGUI</a:t>
            </a:r>
            <a:r>
              <a:rPr lang="zh-CN" altLang="en-US" sz="4000" dirty="0">
                <a:solidFill>
                  <a:schemeClr val="tx1"/>
                </a:solidFill>
                <a:latin typeface="微软雅黑" panose="020B0503020204020204" pitchFamily="34" charset="-122"/>
                <a:ea typeface="微软雅黑" panose="020B0503020204020204" pitchFamily="34" charset="-122"/>
              </a:rPr>
              <a:t>优化</a:t>
            </a:r>
            <a:endParaRPr lang="en-US" altLang="zh-CN" sz="4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643602"/>
          </a:xfrm>
          <a:prstGeom prst="rect">
            <a:avLst/>
          </a:prstGeom>
        </p:spPr>
        <p:txBody>
          <a:bodyPr vert="horz" lIns="91440" tIns="45720" rIns="91440" bIns="45720" rtlCol="0" anchor="t">
            <a:normAutofit/>
          </a:bodyPr>
          <a:lstStyle/>
          <a:p>
            <a:pPr marL="285750" indent="-285750"/>
            <a:r>
              <a:rPr lang="zh-CN" altLang="en-US" sz="1400" b="1" smtClean="0">
                <a:solidFill>
                  <a:srgbClr val="C00000"/>
                </a:solidFill>
                <a:latin typeface="微软雅黑" panose="020B0503020204020204" pitchFamily="34" charset="-122"/>
                <a:ea typeface="微软雅黑" panose="020B0503020204020204" pitchFamily="34" charset="-122"/>
              </a:rPr>
              <a:t>滚动视图优化策略（</a:t>
            </a:r>
            <a:r>
              <a:rPr lang="en-US" altLang="zh-CN" sz="1400" b="1" smtClean="0">
                <a:solidFill>
                  <a:srgbClr val="C00000"/>
                </a:solidFill>
                <a:latin typeface="微软雅黑" panose="020B0503020204020204" pitchFamily="34" charset="-122"/>
                <a:ea typeface="微软雅黑" panose="020B0503020204020204" pitchFamily="34" charset="-122"/>
              </a:rPr>
              <a:t>ScrollView</a:t>
            </a:r>
            <a:r>
              <a:rPr lang="zh-CN" altLang="en-US" sz="1400" b="1" smtClean="0">
                <a:solidFill>
                  <a:srgbClr val="C00000"/>
                </a:solidFill>
                <a:latin typeface="微软雅黑" panose="020B0503020204020204" pitchFamily="34" charset="-122"/>
                <a:ea typeface="微软雅黑" panose="020B0503020204020204" pitchFamily="34" charset="-122"/>
              </a:rPr>
              <a:t>）</a:t>
            </a:r>
            <a:endParaRPr lang="en-US" altLang="zh-CN" sz="1400" b="1" smtClean="0">
              <a:solidFill>
                <a:srgbClr val="C00000"/>
              </a:solidFill>
              <a:latin typeface="微软雅黑" panose="020B0503020204020204" pitchFamily="34" charset="-122"/>
              <a:ea typeface="微软雅黑" panose="020B0503020204020204" pitchFamily="34" charset="-122"/>
            </a:endParaRPr>
          </a:p>
          <a:p>
            <a:pPr marL="285750" indent="-285750"/>
            <a:endParaRPr lang="en-US" altLang="zh-CN" sz="1400" b="1" smtClean="0">
              <a:solidFill>
                <a:srgbClr val="C00000"/>
              </a:solidFill>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smtClean="0">
                <a:latin typeface="微软雅黑" panose="020B0503020204020204" pitchFamily="34" charset="-122"/>
                <a:ea typeface="微软雅黑" panose="020B0503020204020204" pitchFamily="34" charset="-122"/>
              </a:rPr>
              <a:t>有两种方法填充滚动视图</a:t>
            </a:r>
            <a:endParaRPr lang="en-US" altLang="zh-CN" sz="1400" smtClean="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sz="1400" smtClean="0">
                <a:latin typeface="微软雅黑" panose="020B0503020204020204" pitchFamily="34" charset="-122"/>
                <a:ea typeface="微软雅黑" panose="020B0503020204020204" pitchFamily="34" charset="-122"/>
              </a:rPr>
              <a:t>用所有需要出现在滚动视图的元素填充滚动视图</a:t>
            </a:r>
            <a:endParaRPr lang="en-US" altLang="zh-CN" sz="1400" smtClean="0">
              <a:latin typeface="微软雅黑" panose="020B0503020204020204" pitchFamily="34" charset="-122"/>
              <a:ea typeface="微软雅黑" panose="020B0503020204020204" pitchFamily="34" charset="-122"/>
            </a:endParaRPr>
          </a:p>
          <a:p>
            <a:pPr marL="742950" lvl="1" indent="-285750">
              <a:buFont typeface="Arial" panose="020B0604020202020204" pitchFamily="34" charset="0"/>
              <a:buChar char="•"/>
            </a:pPr>
            <a:r>
              <a:rPr lang="zh-CN" altLang="en-US" sz="1400" smtClean="0">
                <a:latin typeface="微软雅黑" panose="020B0503020204020204" pitchFamily="34" charset="-122"/>
                <a:ea typeface="微软雅黑" panose="020B0503020204020204" pitchFamily="34" charset="-122"/>
              </a:rPr>
              <a:t>用池处理这些元素，根据需要重新放置它们的位置</a:t>
            </a:r>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sz="1400" b="1" smtClean="0">
                <a:latin typeface="微软雅黑" panose="020B0503020204020204" pitchFamily="34" charset="-122"/>
                <a:ea typeface="微软雅黑" panose="020B0503020204020204" pitchFamily="34" charset="-122"/>
              </a:rPr>
              <a:t>RectMask2D</a:t>
            </a:r>
            <a:r>
              <a:rPr lang="zh-CN" altLang="en-US" sz="1400" b="1" smtClean="0">
                <a:latin typeface="微软雅黑" panose="020B0503020204020204" pitchFamily="34" charset="-122"/>
                <a:ea typeface="微软雅黑" panose="020B0503020204020204" pitchFamily="34" charset="-122"/>
              </a:rPr>
              <a:t>组件</a:t>
            </a:r>
            <a:r>
              <a:rPr lang="zh-CN" altLang="en-US" sz="1400" smtClean="0">
                <a:latin typeface="微软雅黑" panose="020B0503020204020204" pitchFamily="34" charset="-122"/>
                <a:ea typeface="微软雅黑" panose="020B0503020204020204" pitchFamily="34" charset="-122"/>
              </a:rPr>
              <a:t>：俩种方法可以通过给滚动视图添加一个</a:t>
            </a:r>
            <a:r>
              <a:rPr lang="en-US" sz="1400" smtClean="0">
                <a:latin typeface="微软雅黑" panose="020B0503020204020204" pitchFamily="34" charset="-122"/>
                <a:ea typeface="微软雅黑" panose="020B0503020204020204" pitchFamily="34" charset="-122"/>
              </a:rPr>
              <a:t>RectMask2D</a:t>
            </a:r>
            <a:r>
              <a:rPr lang="zh-CN" altLang="en-US" sz="1400" smtClean="0">
                <a:latin typeface="微软雅黑" panose="020B0503020204020204" pitchFamily="34" charset="-122"/>
                <a:ea typeface="微软雅黑" panose="020B0503020204020204" pitchFamily="34" charset="-122"/>
              </a:rPr>
              <a:t>组件来提高性能。该组件确保在滚动视图窗口外面的滚动视图元素不会出现在可画的元素列表中，省去了该元素的</a:t>
            </a:r>
            <a:r>
              <a:rPr lang="en-US" altLang="zh-CN" sz="1400" smtClean="0">
                <a:latin typeface="微软雅黑" panose="020B0503020204020204" pitchFamily="34" charset="-122"/>
                <a:ea typeface="微软雅黑" panose="020B0503020204020204" pitchFamily="34" charset="-122"/>
              </a:rPr>
              <a:t>batch</a:t>
            </a:r>
            <a:r>
              <a:rPr lang="zh-CN" altLang="en-US" sz="1400" smtClean="0">
                <a:latin typeface="微软雅黑" panose="020B0503020204020204" pitchFamily="34" charset="-122"/>
                <a:ea typeface="微软雅黑" panose="020B0503020204020204" pitchFamily="34" charset="-122"/>
              </a:rPr>
              <a:t>。</a:t>
            </a: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smtClean="0">
                <a:latin typeface="微软雅黑" panose="020B0503020204020204" pitchFamily="34" charset="-122"/>
                <a:ea typeface="微软雅黑" panose="020B0503020204020204" pitchFamily="34" charset="-122"/>
              </a:rPr>
              <a:t>一种简单的缓存池策略</a:t>
            </a:r>
            <a:r>
              <a:rPr lang="zh-CN" altLang="en-US" sz="1400" smtClean="0">
                <a:latin typeface="微软雅黑" panose="020B0503020204020204" pitchFamily="34" charset="-122"/>
                <a:ea typeface="微软雅黑" panose="020B0503020204020204" pitchFamily="34" charset="-122"/>
              </a:rPr>
              <a:t>：在</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中布局中，使用带有</a:t>
            </a:r>
            <a:r>
              <a:rPr lang="en-US" sz="1400" smtClean="0">
                <a:latin typeface="微软雅黑" panose="020B0503020204020204" pitchFamily="34" charset="-122"/>
                <a:ea typeface="微软雅黑" panose="020B0503020204020204" pitchFamily="34" charset="-122"/>
              </a:rPr>
              <a:t>Layout Element</a:t>
            </a:r>
            <a:r>
              <a:rPr lang="zh-CN" altLang="en-US" sz="1400" smtClean="0">
                <a:latin typeface="微软雅黑" panose="020B0503020204020204" pitchFamily="34" charset="-122"/>
                <a:ea typeface="微软雅黑" panose="020B0503020204020204" pitchFamily="34" charset="-122"/>
              </a:rPr>
              <a:t>组件的对象占位（</a:t>
            </a:r>
            <a:r>
              <a:rPr lang="en-US" altLang="zh-CN" sz="1400" smtClean="0">
                <a:latin typeface="微软雅黑" panose="020B0503020204020204" pitchFamily="34" charset="-122"/>
                <a:ea typeface="微软雅黑" panose="020B0503020204020204" pitchFamily="34" charset="-122"/>
              </a:rPr>
              <a:t> Slot </a:t>
            </a:r>
            <a:r>
              <a:rPr lang="zh-CN" altLang="en-US" sz="1400" smtClean="0">
                <a:latin typeface="微软雅黑" panose="020B0503020204020204" pitchFamily="34" charset="-122"/>
                <a:ea typeface="微软雅黑" panose="020B0503020204020204" pitchFamily="34" charset="-122"/>
              </a:rPr>
              <a:t>）。给可见</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元素实例一个池，来填充滚动视图看可见区域，</a:t>
            </a:r>
            <a:r>
              <a:rPr lang="en-US" altLang="zh-CN" sz="1400" smtClean="0">
                <a:latin typeface="微软雅黑" panose="020B0503020204020204" pitchFamily="34" charset="-122"/>
                <a:ea typeface="微软雅黑" panose="020B0503020204020204" pitchFamily="34" charset="-122"/>
              </a:rPr>
              <a:t>Slot</a:t>
            </a:r>
            <a:r>
              <a:rPr lang="zh-CN" altLang="en-US" sz="1400" smtClean="0">
                <a:latin typeface="微软雅黑" panose="020B0503020204020204" pitchFamily="34" charset="-122"/>
                <a:ea typeface="微软雅黑" panose="020B0503020204020204" pitchFamily="34" charset="-122"/>
              </a:rPr>
              <a:t>作为父物体来定位</a:t>
            </a:r>
            <a:r>
              <a:rPr lang="en-US" sz="1400" smtClean="0">
                <a:latin typeface="微软雅黑" panose="020B0503020204020204" pitchFamily="34" charset="-122"/>
                <a:ea typeface="微软雅黑" panose="020B0503020204020204" pitchFamily="34" charset="-122"/>
              </a:rPr>
              <a:t>。</a:t>
            </a: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smtClean="0">
                <a:latin typeface="微软雅黑" panose="020B0503020204020204" pitchFamily="34" charset="-122"/>
                <a:ea typeface="微软雅黑" panose="020B0503020204020204" pitchFamily="34" charset="-122"/>
              </a:rPr>
              <a:t>基于位置的缓存池策略</a:t>
            </a:r>
            <a:r>
              <a:rPr lang="zh-CN" altLang="en-US" sz="1400" smtClean="0">
                <a:latin typeface="微软雅黑" panose="020B0503020204020204" pitchFamily="34" charset="-122"/>
                <a:ea typeface="微软雅黑" panose="020B0503020204020204" pitchFamily="34" charset="-122"/>
              </a:rPr>
              <a:t>：通过移动布局里</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元素的</a:t>
            </a:r>
            <a:r>
              <a:rPr lang="en-US" altLang="zh-CN" sz="1400" smtClean="0">
                <a:latin typeface="微软雅黑" panose="020B0503020204020204" pitchFamily="34" charset="-122"/>
                <a:ea typeface="微软雅黑" panose="020B0503020204020204" pitchFamily="34" charset="-122"/>
              </a:rPr>
              <a:t>Rect</a:t>
            </a:r>
            <a:r>
              <a:rPr lang="en-US" sz="1400" smtClean="0">
                <a:latin typeface="微软雅黑" panose="020B0503020204020204" pitchFamily="34" charset="-122"/>
                <a:ea typeface="微软雅黑" panose="020B0503020204020204" pitchFamily="34" charset="-122"/>
              </a:rPr>
              <a:t>Transforms</a:t>
            </a:r>
            <a:r>
              <a:rPr lang="zh-CN" altLang="en-US" sz="1400" smtClean="0">
                <a:latin typeface="微软雅黑" panose="020B0503020204020204" pitchFamily="34" charset="-122"/>
                <a:ea typeface="微软雅黑" panose="020B0503020204020204" pitchFamily="34" charset="-122"/>
              </a:rPr>
              <a:t>坐标值，来排序显示位置。通常写一个自定义的滚动视图类或者写一个自定义布局组的组件。</a:t>
            </a: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b="1" smtClean="0">
              <a:solidFill>
                <a:srgbClr val="C00000"/>
              </a:solidFill>
              <a:latin typeface="微软雅黑" panose="020B0503020204020204" pitchFamily="34" charset="-122"/>
              <a:ea typeface="微软雅黑" panose="020B0503020204020204" pitchFamily="34" charset="-122"/>
            </a:endParaRPr>
          </a:p>
          <a:p>
            <a:pPr marL="285750" indent="-285750"/>
            <a:endParaRPr lang="en-US" altLang="zh-CN" sz="1400" b="1" smtClean="0">
              <a:solidFill>
                <a:srgbClr val="C00000"/>
              </a:solidFill>
              <a:latin typeface="微软雅黑" panose="020B0503020204020204" pitchFamily="34" charset="-122"/>
              <a:ea typeface="微软雅黑" panose="020B0503020204020204" pitchFamily="34" charset="-122"/>
            </a:endParaRPr>
          </a:p>
          <a:p>
            <a:pPr marL="285750" indent="-285750"/>
            <a:endParaRPr lang="en-US" altLang="zh-CN" sz="1400" b="1" smtClean="0">
              <a:solidFill>
                <a:srgbClr val="C00000"/>
              </a:solidFill>
              <a:latin typeface="微软雅黑" panose="020B0503020204020204" pitchFamily="34" charset="-122"/>
              <a:ea typeface="微软雅黑" panose="020B0503020204020204" pitchFamily="34" charset="-122"/>
            </a:endParaRPr>
          </a:p>
          <a:p>
            <a:pPr marL="285750" indent="-285750"/>
            <a:endParaRPr lang="en-US" altLang="zh-CN" sz="1400" b="1" smtClean="0">
              <a:solidFill>
                <a:srgbClr val="C00000"/>
              </a:solidFill>
              <a:latin typeface="微软雅黑" panose="020B0503020204020204" pitchFamily="34" charset="-122"/>
              <a:ea typeface="微软雅黑" panose="020B0503020204020204" pitchFamily="34" charset="-122"/>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0" indent="-742950" algn="ctr">
              <a:spcBef>
                <a:spcPct val="0"/>
              </a:spcBef>
              <a:defRPr/>
            </a:pPr>
            <a:r>
              <a:rPr lang="en-US" altLang="zh-CN" sz="4000" smtClean="0">
                <a:solidFill>
                  <a:schemeClr val="tx1"/>
                </a:solidFill>
                <a:latin typeface="微软雅黑" panose="020B0503020204020204" pitchFamily="34" charset="-122"/>
                <a:ea typeface="微软雅黑" panose="020B0503020204020204" pitchFamily="34" charset="-122"/>
              </a:rPr>
              <a:t>UGUI</a:t>
            </a:r>
            <a:r>
              <a:rPr lang="zh-CN" altLang="en-US" sz="4000" smtClean="0">
                <a:solidFill>
                  <a:schemeClr val="tx1"/>
                </a:solidFill>
                <a:latin typeface="微软雅黑" panose="020B0503020204020204" pitchFamily="34" charset="-122"/>
                <a:ea typeface="微软雅黑" panose="020B0503020204020204" pitchFamily="34" charset="-122"/>
              </a:rPr>
              <a:t>优化</a:t>
            </a:r>
            <a:endParaRPr lang="en-US" altLang="zh-CN" sz="4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643602"/>
          </a:xfrm>
          <a:prstGeom prst="rect">
            <a:avLst/>
          </a:prstGeom>
        </p:spPr>
        <p:txBody>
          <a:bodyPr vert="horz" lIns="91440" tIns="45720" rIns="91440" bIns="45720" rtlCol="0" anchor="t">
            <a:normAutofit/>
          </a:bodyPr>
          <a:lstStyle/>
          <a:p>
            <a:pPr marL="285750" indent="-285750"/>
            <a:r>
              <a:rPr lang="zh-CN" altLang="en-US" sz="1400" b="1" smtClean="0">
                <a:solidFill>
                  <a:srgbClr val="C00000"/>
                </a:solidFill>
                <a:latin typeface="微软雅黑" panose="020B0503020204020204" pitchFamily="34" charset="-122"/>
                <a:ea typeface="微软雅黑" panose="020B0503020204020204" pitchFamily="34" charset="-122"/>
              </a:rPr>
              <a:t>其它优化策略</a:t>
            </a:r>
            <a:endParaRPr lang="en-US" altLang="zh-CN" sz="1400" b="1" smtClean="0">
              <a:solidFill>
                <a:srgbClr val="C00000"/>
              </a:solidFill>
              <a:latin typeface="微软雅黑" panose="020B0503020204020204" pitchFamily="34" charset="-122"/>
              <a:ea typeface="微软雅黑" panose="020B0503020204020204" pitchFamily="34" charset="-122"/>
            </a:endParaRPr>
          </a:p>
          <a:p>
            <a:pPr marL="285750" indent="-285750"/>
            <a:endParaRPr lang="en-US" altLang="zh-CN" sz="1400" b="1"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smtClean="0">
                <a:latin typeface="微软雅黑" panose="020B0503020204020204" pitchFamily="34" charset="-122"/>
                <a:ea typeface="微软雅黑" panose="020B0503020204020204" pitchFamily="34" charset="-122"/>
              </a:rPr>
              <a:t>禁用无用的</a:t>
            </a:r>
            <a:r>
              <a:rPr lang="en-US" altLang="zh-CN" sz="1400" b="1" smtClean="0">
                <a:latin typeface="微软雅黑" panose="020B0503020204020204" pitchFamily="34" charset="-122"/>
                <a:ea typeface="微软雅黑" panose="020B0503020204020204" pitchFamily="34" charset="-122"/>
              </a:rPr>
              <a:t>Raycast</a:t>
            </a:r>
            <a:r>
              <a:rPr lang="zh-CN" altLang="en-US" sz="1400" smtClean="0">
                <a:latin typeface="微软雅黑" panose="020B0503020204020204" pitchFamily="34" charset="-122"/>
                <a:ea typeface="微软雅黑" panose="020B0503020204020204" pitchFamily="34" charset="-122"/>
              </a:rPr>
              <a:t>：</a:t>
            </a:r>
            <a:r>
              <a:rPr lang="en-US" sz="1400" smtClean="0">
                <a:latin typeface="微软雅黑" panose="020B0503020204020204" pitchFamily="34" charset="-122"/>
                <a:ea typeface="微软雅黑" panose="020B0503020204020204" pitchFamily="34" charset="-122"/>
              </a:rPr>
              <a:t>UGUI</a:t>
            </a:r>
            <a:r>
              <a:rPr lang="zh-CN" altLang="en-US" sz="1400" smtClean="0">
                <a:latin typeface="微软雅黑" panose="020B0503020204020204" pitchFamily="34" charset="-122"/>
                <a:ea typeface="微软雅黑" panose="020B0503020204020204" pitchFamily="34" charset="-122"/>
              </a:rPr>
              <a:t>的</a:t>
            </a:r>
            <a:r>
              <a:rPr lang="en-US" sz="1400" smtClean="0">
                <a:latin typeface="微软雅黑" panose="020B0503020204020204" pitchFamily="34" charset="-122"/>
                <a:ea typeface="微软雅黑" panose="020B0503020204020204" pitchFamily="34" charset="-122"/>
              </a:rPr>
              <a:t>touch</a:t>
            </a:r>
            <a:r>
              <a:rPr lang="zh-CN" altLang="en-US" sz="1400" smtClean="0">
                <a:latin typeface="微软雅黑" panose="020B0503020204020204" pitchFamily="34" charset="-122"/>
                <a:ea typeface="微软雅黑" panose="020B0503020204020204" pitchFamily="34" charset="-122"/>
              </a:rPr>
              <a:t>处理消耗也可能会成为性能热点。因为</a:t>
            </a:r>
            <a:r>
              <a:rPr lang="en-US" sz="1400" smtClean="0">
                <a:latin typeface="微软雅黑" panose="020B0503020204020204" pitchFamily="34" charset="-122"/>
                <a:ea typeface="微软雅黑" panose="020B0503020204020204" pitchFamily="34" charset="-122"/>
              </a:rPr>
              <a:t>UGUI</a:t>
            </a:r>
            <a:r>
              <a:rPr lang="zh-CN" altLang="en-US" sz="1400" smtClean="0">
                <a:latin typeface="微软雅黑" panose="020B0503020204020204" pitchFamily="34" charset="-122"/>
                <a:ea typeface="微软雅黑" panose="020B0503020204020204" pitchFamily="34" charset="-122"/>
              </a:rPr>
              <a:t>在默认情况下会对所有可见的</a:t>
            </a:r>
            <a:r>
              <a:rPr lang="en-US" sz="1400" smtClean="0">
                <a:latin typeface="微软雅黑" panose="020B0503020204020204" pitchFamily="34" charset="-122"/>
                <a:ea typeface="微软雅黑" panose="020B0503020204020204" pitchFamily="34" charset="-122"/>
              </a:rPr>
              <a:t>Graphic</a:t>
            </a:r>
            <a:r>
              <a:rPr lang="zh-CN" altLang="en-US" sz="1400" smtClean="0">
                <a:latin typeface="微软雅黑" panose="020B0503020204020204" pitchFamily="34" charset="-122"/>
                <a:ea typeface="微软雅黑" panose="020B0503020204020204" pitchFamily="34" charset="-122"/>
              </a:rPr>
              <a:t>组件调用</a:t>
            </a:r>
            <a:r>
              <a:rPr lang="en-US" sz="1400" smtClean="0">
                <a:latin typeface="微软雅黑" panose="020B0503020204020204" pitchFamily="34" charset="-122"/>
                <a:ea typeface="微软雅黑" panose="020B0503020204020204" pitchFamily="34" charset="-122"/>
              </a:rPr>
              <a:t>raycast。</a:t>
            </a:r>
            <a:r>
              <a:rPr lang="zh-CN" altLang="en-US" sz="1400" smtClean="0">
                <a:latin typeface="微软雅黑" panose="020B0503020204020204" pitchFamily="34" charset="-122"/>
                <a:ea typeface="微软雅黑" panose="020B0503020204020204" pitchFamily="34" charset="-122"/>
              </a:rPr>
              <a:t>对于不需要接收</a:t>
            </a:r>
            <a:r>
              <a:rPr lang="en-US" sz="1400" smtClean="0">
                <a:latin typeface="微软雅黑" panose="020B0503020204020204" pitchFamily="34" charset="-122"/>
                <a:ea typeface="微软雅黑" panose="020B0503020204020204" pitchFamily="34" charset="-122"/>
              </a:rPr>
              <a:t>touch</a:t>
            </a:r>
            <a:r>
              <a:rPr lang="zh-CN" altLang="en-US" sz="1400" smtClean="0">
                <a:latin typeface="微软雅黑" panose="020B0503020204020204" pitchFamily="34" charset="-122"/>
                <a:ea typeface="微软雅黑" panose="020B0503020204020204" pitchFamily="34" charset="-122"/>
              </a:rPr>
              <a:t>事件的</a:t>
            </a:r>
            <a:r>
              <a:rPr lang="en-US" sz="1400" smtClean="0">
                <a:latin typeface="微软雅黑" panose="020B0503020204020204" pitchFamily="34" charset="-122"/>
                <a:ea typeface="微软雅黑" panose="020B0503020204020204" pitchFamily="34" charset="-122"/>
              </a:rPr>
              <a:t>grahic，</a:t>
            </a:r>
            <a:r>
              <a:rPr lang="zh-CN" altLang="en-US" sz="1400" smtClean="0">
                <a:latin typeface="微软雅黑" panose="020B0503020204020204" pitchFamily="34" charset="-122"/>
                <a:ea typeface="微软雅黑" panose="020B0503020204020204" pitchFamily="34" charset="-122"/>
              </a:rPr>
              <a:t>一定要禁用</a:t>
            </a:r>
            <a:r>
              <a:rPr lang="en-US" sz="1400" smtClean="0">
                <a:latin typeface="微软雅黑" panose="020B0503020204020204" pitchFamily="34" charset="-122"/>
                <a:ea typeface="微软雅黑" panose="020B0503020204020204" pitchFamily="34" charset="-122"/>
              </a:rPr>
              <a:t>raycast。</a:t>
            </a:r>
            <a:r>
              <a:rPr lang="zh-CN" altLang="en-US" sz="1400" smtClean="0">
                <a:latin typeface="微软雅黑" panose="020B0503020204020204" pitchFamily="34" charset="-122"/>
                <a:ea typeface="微软雅黑" panose="020B0503020204020204" pitchFamily="34" charset="-122"/>
              </a:rPr>
              <a:t>（龙与少女为策划提供了检视的辅助脚本）</a:t>
            </a:r>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b="1" smtClean="0">
              <a:latin typeface="微软雅黑" panose="020B0503020204020204" pitchFamily="34" charset="-122"/>
              <a:ea typeface="微软雅黑" panose="020B0503020204020204" pitchFamily="34" charset="-122"/>
            </a:endParaRPr>
          </a:p>
          <a:p>
            <a:pPr marL="285750" indent="-285750"/>
            <a:endParaRPr lang="en-US" altLang="zh-CN" sz="1400" b="1" smtClean="0">
              <a:latin typeface="微软雅黑" panose="020B0503020204020204" pitchFamily="34" charset="-122"/>
              <a:ea typeface="微软雅黑" panose="020B0503020204020204" pitchFamily="34" charset="-122"/>
            </a:endParaRPr>
          </a:p>
          <a:p>
            <a:pPr marL="285750" indent="-285750"/>
            <a:endParaRPr lang="en-US" altLang="zh-CN" sz="1400" b="1" smtClean="0">
              <a:latin typeface="微软雅黑" panose="020B0503020204020204" pitchFamily="34" charset="-122"/>
              <a:ea typeface="微软雅黑" panose="020B0503020204020204" pitchFamily="34" charset="-122"/>
            </a:endParaRPr>
          </a:p>
          <a:p>
            <a:pPr marL="285750" indent="-285750"/>
            <a:endParaRPr lang="en-US" altLang="zh-CN" sz="1400" b="1" smtClean="0">
              <a:latin typeface="微软雅黑" panose="020B0503020204020204" pitchFamily="34" charset="-122"/>
              <a:ea typeface="微软雅黑" panose="020B0503020204020204" pitchFamily="34" charset="-122"/>
            </a:endParaRPr>
          </a:p>
          <a:p>
            <a:pPr marL="285750" indent="-285750"/>
            <a:endParaRPr lang="en-US" altLang="zh-CN" sz="1400" b="1"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sz="1400" b="1" smtClean="0">
                <a:latin typeface="微软雅黑" panose="020B0503020204020204" pitchFamily="34" charset="-122"/>
                <a:ea typeface="微软雅黑" panose="020B0503020204020204" pitchFamily="34" charset="-122"/>
              </a:rPr>
              <a:t>OverrideSorting</a:t>
            </a:r>
            <a:r>
              <a:rPr lang="zh-CN" altLang="en-US" sz="1400" smtClean="0">
                <a:latin typeface="微软雅黑" panose="020B0503020204020204" pitchFamily="34" charset="-122"/>
                <a:ea typeface="微软雅黑" panose="020B0503020204020204" pitchFamily="34" charset="-122"/>
              </a:rPr>
              <a:t>：子</a:t>
            </a:r>
            <a:r>
              <a:rPr lang="en-US" sz="1400" smtClean="0">
                <a:latin typeface="微软雅黑" panose="020B0503020204020204" pitchFamily="34" charset="-122"/>
                <a:ea typeface="微软雅黑" panose="020B0503020204020204" pitchFamily="34" charset="-122"/>
              </a:rPr>
              <a:t>Canvas</a:t>
            </a:r>
            <a:r>
              <a:rPr lang="zh-CN" altLang="en-US" sz="1400" smtClean="0">
                <a:latin typeface="微软雅黑" panose="020B0503020204020204" pitchFamily="34" charset="-122"/>
                <a:ea typeface="微软雅黑" panose="020B0503020204020204" pitchFamily="34" charset="-122"/>
              </a:rPr>
              <a:t>中的</a:t>
            </a:r>
            <a:r>
              <a:rPr lang="en-US" sz="1400" smtClean="0">
                <a:latin typeface="微软雅黑" panose="020B0503020204020204" pitchFamily="34" charset="-122"/>
                <a:ea typeface="微软雅黑" panose="020B0503020204020204" pitchFamily="34" charset="-122"/>
              </a:rPr>
              <a:t>OverrideSorting</a:t>
            </a:r>
            <a:r>
              <a:rPr lang="zh-CN" altLang="en-US" sz="1400" smtClean="0">
                <a:latin typeface="微软雅黑" panose="020B0503020204020204" pitchFamily="34" charset="-122"/>
                <a:ea typeface="微软雅黑" panose="020B0503020204020204" pitchFamily="34" charset="-122"/>
              </a:rPr>
              <a:t>属性将会造成</a:t>
            </a:r>
            <a:r>
              <a:rPr lang="en-US" sz="1400" smtClean="0">
                <a:latin typeface="微软雅黑" panose="020B0503020204020204" pitchFamily="34" charset="-122"/>
                <a:ea typeface="微软雅黑" panose="020B0503020204020204" pitchFamily="34" charset="-122"/>
              </a:rPr>
              <a:t>Graphic Raycast</a:t>
            </a:r>
            <a:r>
              <a:rPr lang="zh-CN" altLang="en-US" sz="1400" smtClean="0">
                <a:latin typeface="微软雅黑" panose="020B0503020204020204" pitchFamily="34" charset="-122"/>
                <a:ea typeface="微软雅黑" panose="020B0503020204020204" pitchFamily="34" charset="-122"/>
              </a:rPr>
              <a:t>测试停止遍历</a:t>
            </a:r>
            <a:r>
              <a:rPr lang="en-US" sz="1400" smtClean="0">
                <a:latin typeface="微软雅黑" panose="020B0503020204020204" pitchFamily="34" charset="-122"/>
                <a:ea typeface="微软雅黑" panose="020B0503020204020204" pitchFamily="34" charset="-122"/>
              </a:rPr>
              <a:t>Transform</a:t>
            </a:r>
            <a:r>
              <a:rPr lang="zh-CN" altLang="en-US" sz="1400" smtClean="0">
                <a:latin typeface="微软雅黑" panose="020B0503020204020204" pitchFamily="34" charset="-122"/>
                <a:ea typeface="微软雅黑" panose="020B0503020204020204" pitchFamily="34" charset="-122"/>
              </a:rPr>
              <a:t>层级。</a:t>
            </a:r>
            <a:endParaRPr lang="en-US" altLang="zh-CN" sz="1400" b="1" smtClean="0">
              <a:latin typeface="微软雅黑" panose="020B0503020204020204" pitchFamily="34" charset="-122"/>
              <a:ea typeface="微软雅黑" panose="020B0503020204020204" pitchFamily="34" charset="-122"/>
            </a:endParaRPr>
          </a:p>
          <a:p>
            <a:pPr marL="285750" indent="-285750"/>
            <a:endParaRPr lang="en-US" altLang="zh-CN" sz="1400" b="1"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sz="1400" b="1" smtClean="0">
                <a:latin typeface="微软雅黑" panose="020B0503020204020204" pitchFamily="34" charset="-122"/>
                <a:ea typeface="微软雅黑" panose="020B0503020204020204" pitchFamily="34" charset="-122"/>
              </a:rPr>
              <a:t>UI</a:t>
            </a:r>
            <a:r>
              <a:rPr lang="zh-CN" altLang="en-US" sz="1400" b="1" smtClean="0">
                <a:latin typeface="微软雅黑" panose="020B0503020204020204" pitchFamily="34" charset="-122"/>
                <a:ea typeface="微软雅黑" panose="020B0503020204020204" pitchFamily="34" charset="-122"/>
              </a:rPr>
              <a:t>对象的坐标</a:t>
            </a:r>
            <a:r>
              <a:rPr lang="en-US" altLang="zh-CN" sz="1400" b="1" smtClean="0">
                <a:latin typeface="微软雅黑" panose="020B0503020204020204" pitchFamily="34" charset="-122"/>
                <a:ea typeface="微软雅黑" panose="020B0503020204020204" pitchFamily="34" charset="-122"/>
              </a:rPr>
              <a:t>Z</a:t>
            </a:r>
            <a:r>
              <a:rPr lang="zh-CN" altLang="en-US" sz="1400" b="1" smtClean="0">
                <a:latin typeface="微软雅黑" panose="020B0503020204020204" pitchFamily="34" charset="-122"/>
                <a:ea typeface="微软雅黑" panose="020B0503020204020204" pitchFamily="34" charset="-122"/>
              </a:rPr>
              <a:t>值：</a:t>
            </a:r>
            <a:r>
              <a:rPr lang="en-US" altLang="zh-CN" sz="1400" smtClean="0">
                <a:latin typeface="微软雅黑" panose="020B0503020204020204" pitchFamily="34" charset="-122"/>
                <a:ea typeface="微软雅黑" panose="020B0503020204020204" pitchFamily="34" charset="-122"/>
              </a:rPr>
              <a:t>Z</a:t>
            </a:r>
            <a:r>
              <a:rPr lang="zh-CN" altLang="en-US" sz="1400" smtClean="0">
                <a:latin typeface="微软雅黑" panose="020B0503020204020204" pitchFamily="34" charset="-122"/>
                <a:ea typeface="微软雅黑" panose="020B0503020204020204" pitchFamily="34" charset="-122"/>
              </a:rPr>
              <a:t>值不为零的时候会影响对象渲染顺序并不能合批。（例如：龙与少女里的阵型界面都是修改</a:t>
            </a:r>
            <a:r>
              <a:rPr lang="en-US" altLang="zh-CN" sz="1400" smtClean="0">
                <a:latin typeface="微软雅黑" panose="020B0503020204020204" pitchFamily="34" charset="-122"/>
                <a:ea typeface="微软雅黑" panose="020B0503020204020204" pitchFamily="34" charset="-122"/>
              </a:rPr>
              <a:t>Spine</a:t>
            </a:r>
            <a:r>
              <a:rPr lang="zh-CN" altLang="en-US" sz="1400" smtClean="0">
                <a:latin typeface="微软雅黑" panose="020B0503020204020204" pitchFamily="34" charset="-122"/>
                <a:ea typeface="微软雅黑" panose="020B0503020204020204" pitchFamily="34" charset="-122"/>
              </a:rPr>
              <a:t>的</a:t>
            </a:r>
            <a:r>
              <a:rPr lang="en-US" altLang="zh-CN" sz="1400" smtClean="0">
                <a:latin typeface="微软雅黑" panose="020B0503020204020204" pitchFamily="34" charset="-122"/>
                <a:ea typeface="微软雅黑" panose="020B0503020204020204" pitchFamily="34" charset="-122"/>
              </a:rPr>
              <a:t>SortingOrder</a:t>
            </a:r>
            <a:r>
              <a:rPr lang="zh-CN" altLang="en-US" sz="1400" smtClean="0">
                <a:latin typeface="微软雅黑" panose="020B0503020204020204" pitchFamily="34" charset="-122"/>
                <a:ea typeface="微软雅黑" panose="020B0503020204020204" pitchFamily="34" charset="-122"/>
              </a:rPr>
              <a:t>来实现位置排序）</a:t>
            </a:r>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smtClean="0">
                <a:latin typeface="微软雅黑" panose="020B0503020204020204" pitchFamily="34" charset="-122"/>
                <a:ea typeface="微软雅黑" panose="020B0503020204020204" pitchFamily="34" charset="-122"/>
              </a:rPr>
              <a:t>网格开销巨大</a:t>
            </a:r>
            <a:r>
              <a:rPr lang="zh-CN" altLang="en-US" sz="1400" smtClean="0">
                <a:latin typeface="微软雅黑" panose="020B0503020204020204" pitchFamily="34" charset="-122"/>
                <a:ea typeface="微软雅黑" panose="020B0503020204020204" pitchFamily="34" charset="-122"/>
              </a:rPr>
              <a:t>：如果出现了</a:t>
            </a:r>
            <a:r>
              <a:rPr lang="en-US" sz="1400" smtClean="0">
                <a:latin typeface="微软雅黑" panose="020B0503020204020204" pitchFamily="34" charset="-122"/>
                <a:ea typeface="微软雅黑" panose="020B0503020204020204" pitchFamily="34" charset="-122"/>
              </a:rPr>
              <a:t>WaitingForJob</a:t>
            </a:r>
            <a:r>
              <a:rPr lang="zh-CN" altLang="en-US" sz="1400" smtClean="0">
                <a:latin typeface="微软雅黑" panose="020B0503020204020204" pitchFamily="34" charset="-122"/>
                <a:ea typeface="微软雅黑" panose="020B0503020204020204" pitchFamily="34" charset="-122"/>
              </a:rPr>
              <a:t>或</a:t>
            </a:r>
            <a:r>
              <a:rPr lang="en-US" sz="1400" smtClean="0">
                <a:latin typeface="微软雅黑" panose="020B0503020204020204" pitchFamily="34" charset="-122"/>
                <a:ea typeface="微软雅黑" panose="020B0503020204020204" pitchFamily="34" charset="-122"/>
              </a:rPr>
              <a:t>PutGeometryJobFence，</a:t>
            </a:r>
            <a:r>
              <a:rPr lang="zh-CN" altLang="en-US" sz="1400" smtClean="0">
                <a:latin typeface="微软雅黑" panose="020B0503020204020204" pitchFamily="34" charset="-122"/>
                <a:ea typeface="微软雅黑" panose="020B0503020204020204" pitchFamily="34" charset="-122"/>
              </a:rPr>
              <a:t>则说明合并网格开销巨大（子线程网格合并）</a:t>
            </a:r>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smtClean="0">
                <a:latin typeface="微软雅黑" panose="020B0503020204020204" pitchFamily="34" charset="-122"/>
                <a:ea typeface="微软雅黑" panose="020B0503020204020204" pitchFamily="34" charset="-122"/>
              </a:rPr>
              <a:t>高级技巧</a:t>
            </a:r>
            <a:r>
              <a:rPr lang="zh-CN" altLang="en-US" sz="1400" smtClean="0">
                <a:latin typeface="微软雅黑" panose="020B0503020204020204" pitchFamily="34" charset="-122"/>
                <a:ea typeface="微软雅黑" panose="020B0503020204020204" pitchFamily="34" charset="-122"/>
              </a:rPr>
              <a:t>：对于处于选中播放动画的需求，并且所处</a:t>
            </a:r>
            <a:r>
              <a:rPr lang="en-US" sz="1400" smtClean="0">
                <a:latin typeface="微软雅黑" panose="020B0503020204020204" pitchFamily="34" charset="-122"/>
                <a:ea typeface="微软雅黑" panose="020B0503020204020204" pitchFamily="34" charset="-122"/>
              </a:rPr>
              <a:t>canvas</a:t>
            </a:r>
            <a:r>
              <a:rPr lang="zh-CN" altLang="en-US" sz="1400" smtClean="0">
                <a:latin typeface="微软雅黑" panose="020B0503020204020204" pitchFamily="34" charset="-122"/>
                <a:ea typeface="微软雅黑" panose="020B0503020204020204" pitchFamily="34" charset="-122"/>
              </a:rPr>
              <a:t>下内容比较多的情况下，可以单独把选中对象放到预先建好的动态</a:t>
            </a:r>
            <a:r>
              <a:rPr lang="en-US" sz="1400" smtClean="0">
                <a:latin typeface="微软雅黑" panose="020B0503020204020204" pitchFamily="34" charset="-122"/>
                <a:ea typeface="微软雅黑" panose="020B0503020204020204" pitchFamily="34" charset="-122"/>
              </a:rPr>
              <a:t>canvas</a:t>
            </a:r>
            <a:r>
              <a:rPr lang="zh-CN" altLang="en-US" sz="1400" smtClean="0">
                <a:latin typeface="微软雅黑" panose="020B0503020204020204" pitchFamily="34" charset="-122"/>
                <a:ea typeface="微软雅黑" panose="020B0503020204020204" pitchFamily="34" charset="-122"/>
              </a:rPr>
              <a:t>里，取消选中时再放回去。</a:t>
            </a:r>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en-US" sz="1400" b="1" smtClean="0">
                <a:latin typeface="微软雅黑" panose="020B0503020204020204" pitchFamily="34" charset="-122"/>
                <a:ea typeface="微软雅黑" panose="020B0503020204020204" pitchFamily="34" charset="-122"/>
              </a:rPr>
              <a:t>CanvasGroup</a:t>
            </a:r>
            <a:r>
              <a:rPr lang="zh-CN" altLang="en-US" sz="1400" b="1" smtClean="0">
                <a:latin typeface="微软雅黑" panose="020B0503020204020204" pitchFamily="34" charset="-122"/>
                <a:ea typeface="微软雅黑" panose="020B0503020204020204" pitchFamily="34" charset="-122"/>
              </a:rPr>
              <a:t>的使用</a:t>
            </a:r>
            <a:endParaRPr lang="zh-CN" altLang="en-US" sz="1400" b="1" smtClean="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1200" smtClean="0">
                <a:latin typeface="微软雅黑" panose="020B0503020204020204" pitchFamily="34" charset="-122"/>
                <a:ea typeface="微软雅黑" panose="020B0503020204020204" pitchFamily="34" charset="-122"/>
              </a:rPr>
              <a:t>在窗口的</a:t>
            </a:r>
            <a:r>
              <a:rPr lang="en-US" sz="1200" smtClean="0">
                <a:latin typeface="微软雅黑" panose="020B0503020204020204" pitchFamily="34" charset="-122"/>
                <a:ea typeface="微软雅黑" panose="020B0503020204020204" pitchFamily="34" charset="-122"/>
              </a:rPr>
              <a:t>GameObject</a:t>
            </a:r>
            <a:r>
              <a:rPr lang="zh-CN" altLang="en-US" sz="1200" smtClean="0">
                <a:latin typeface="微软雅黑" panose="020B0503020204020204" pitchFamily="34" charset="-122"/>
                <a:ea typeface="微软雅黑" panose="020B0503020204020204" pitchFamily="34" charset="-122"/>
              </a:rPr>
              <a:t>上添加一个</a:t>
            </a:r>
            <a:r>
              <a:rPr lang="en-US" sz="1200" smtClean="0">
                <a:latin typeface="微软雅黑" panose="020B0503020204020204" pitchFamily="34" charset="-122"/>
                <a:ea typeface="微软雅黑" panose="020B0503020204020204" pitchFamily="34" charset="-122"/>
              </a:rPr>
              <a:t>CanvasGroup，</a:t>
            </a:r>
            <a:r>
              <a:rPr lang="zh-CN" altLang="en-US" sz="1200" smtClean="0">
                <a:latin typeface="微软雅黑" panose="020B0503020204020204" pitchFamily="34" charset="-122"/>
                <a:ea typeface="微软雅黑" panose="020B0503020204020204" pitchFamily="34" charset="-122"/>
              </a:rPr>
              <a:t>通过控制它的</a:t>
            </a:r>
            <a:r>
              <a:rPr lang="en-US" sz="1200" smtClean="0">
                <a:latin typeface="微软雅黑" panose="020B0503020204020204" pitchFamily="34" charset="-122"/>
                <a:ea typeface="微软雅黑" panose="020B0503020204020204" pitchFamily="34" charset="-122"/>
              </a:rPr>
              <a:t>Alpha</a:t>
            </a:r>
            <a:r>
              <a:rPr lang="zh-CN" altLang="en-US" sz="1200" smtClean="0">
                <a:latin typeface="微软雅黑" panose="020B0503020204020204" pitchFamily="34" charset="-122"/>
                <a:ea typeface="微软雅黑" panose="020B0503020204020204" pitchFamily="34" charset="-122"/>
              </a:rPr>
              <a:t>值来淡入或淡出整个窗口。</a:t>
            </a:r>
            <a:endParaRPr lang="zh-CN" altLang="en-US" sz="1200" smtClean="0">
              <a:latin typeface="微软雅黑" panose="020B0503020204020204" pitchFamily="34" charset="-122"/>
              <a:ea typeface="微软雅黑" panose="020B0503020204020204" pitchFamily="34" charset="-122"/>
            </a:endParaRPr>
          </a:p>
          <a:p>
            <a:pPr marL="342900" indent="-342900">
              <a:buFont typeface="Arial" panose="020B0604020202020204" pitchFamily="34" charset="0"/>
              <a:buChar char="•"/>
            </a:pPr>
            <a:r>
              <a:rPr lang="zh-CN" altLang="en-US" sz="1200" smtClean="0">
                <a:latin typeface="微软雅黑" panose="020B0503020204020204" pitchFamily="34" charset="-122"/>
                <a:ea typeface="微软雅黑" panose="020B0503020204020204" pitchFamily="34" charset="-122"/>
              </a:rPr>
              <a:t>在窗口的</a:t>
            </a:r>
            <a:r>
              <a:rPr lang="en-US" sz="1200" smtClean="0">
                <a:latin typeface="微软雅黑" panose="020B0503020204020204" pitchFamily="34" charset="-122"/>
                <a:ea typeface="微软雅黑" panose="020B0503020204020204" pitchFamily="34" charset="-122"/>
              </a:rPr>
              <a:t>GameObject</a:t>
            </a:r>
            <a:r>
              <a:rPr lang="zh-CN" altLang="en-US" sz="1200" smtClean="0">
                <a:latin typeface="微软雅黑" panose="020B0503020204020204" pitchFamily="34" charset="-122"/>
                <a:ea typeface="微软雅黑" panose="020B0503020204020204" pitchFamily="34" charset="-122"/>
              </a:rPr>
              <a:t>上添加一个</a:t>
            </a:r>
            <a:r>
              <a:rPr lang="en-US" sz="1200" smtClean="0">
                <a:latin typeface="微软雅黑" panose="020B0503020204020204" pitchFamily="34" charset="-122"/>
                <a:ea typeface="微软雅黑" panose="020B0503020204020204" pitchFamily="34" charset="-122"/>
              </a:rPr>
              <a:t>CanvasGroup</a:t>
            </a:r>
            <a:r>
              <a:rPr lang="zh-CN" altLang="en-US" sz="1200" smtClean="0">
                <a:latin typeface="微软雅黑" panose="020B0503020204020204" pitchFamily="34" charset="-122"/>
                <a:ea typeface="微软雅黑" panose="020B0503020204020204" pitchFamily="34" charset="-122"/>
              </a:rPr>
              <a:t>，通过设置它</a:t>
            </a:r>
            <a:r>
              <a:rPr lang="en-US" sz="1200" smtClean="0">
                <a:latin typeface="微软雅黑" panose="020B0503020204020204" pitchFamily="34" charset="-122"/>
                <a:ea typeface="微软雅黑" panose="020B0503020204020204" pitchFamily="34" charset="-122"/>
              </a:rPr>
              <a:t>Interactable</a:t>
            </a:r>
            <a:r>
              <a:rPr lang="zh-CN" altLang="en-US" sz="1200" smtClean="0">
                <a:latin typeface="微软雅黑" panose="020B0503020204020204" pitchFamily="34" charset="-122"/>
                <a:ea typeface="微软雅黑" panose="020B0503020204020204" pitchFamily="34" charset="-122"/>
              </a:rPr>
              <a:t>值来控制底层所有控件的交互开关。</a:t>
            </a:r>
            <a:endParaRPr lang="en-US" altLang="zh-CN" sz="1200" smtClean="0">
              <a:latin typeface="微软雅黑" panose="020B0503020204020204" pitchFamily="34" charset="-122"/>
              <a:ea typeface="微软雅黑" panose="020B0503020204020204" pitchFamily="34" charset="-122"/>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0" indent="-742950" algn="ctr">
              <a:spcBef>
                <a:spcPct val="0"/>
              </a:spcBef>
              <a:defRPr/>
            </a:pPr>
            <a:r>
              <a:rPr lang="en-US" altLang="zh-CN" sz="4000" dirty="0">
                <a:solidFill>
                  <a:schemeClr val="tx1"/>
                </a:solidFill>
                <a:latin typeface="微软雅黑" panose="020B0503020204020204" pitchFamily="34" charset="-122"/>
                <a:ea typeface="微软雅黑" panose="020B0503020204020204" pitchFamily="34" charset="-122"/>
              </a:rPr>
              <a:t>UGUI</a:t>
            </a:r>
            <a:r>
              <a:rPr lang="zh-CN" altLang="en-US" sz="4000" dirty="0">
                <a:solidFill>
                  <a:schemeClr val="tx1"/>
                </a:solidFill>
                <a:latin typeface="微软雅黑" panose="020B0503020204020204" pitchFamily="34" charset="-122"/>
                <a:ea typeface="微软雅黑" panose="020B0503020204020204" pitchFamily="34" charset="-122"/>
              </a:rPr>
              <a:t>优化</a:t>
            </a:r>
            <a:endParaRPr lang="en-US" altLang="zh-CN" sz="4000" dirty="0">
              <a:solidFill>
                <a:schemeClr val="tx1"/>
              </a:solidFill>
              <a:latin typeface="微软雅黑" panose="020B0503020204020204" pitchFamily="34" charset="-122"/>
              <a:ea typeface="微软雅黑" panose="020B0503020204020204" pitchFamily="34" charset="-122"/>
            </a:endParaRPr>
          </a:p>
        </p:txBody>
      </p:sp>
      <p:pic>
        <p:nvPicPr>
          <p:cNvPr id="6" name="Picture 2" descr="C:\Users\Administrator\Desktop\9d3a0e93bf135b28eecee9073c84f2fd.1490089357.png"/>
          <p:cNvPicPr>
            <a:picLocks noChangeAspect="1" noChangeArrowheads="1"/>
          </p:cNvPicPr>
          <p:nvPr/>
        </p:nvPicPr>
        <p:blipFill>
          <a:blip r:embed="rId1"/>
          <a:srcRect/>
          <a:stretch>
            <a:fillRect/>
          </a:stretch>
        </p:blipFill>
        <p:spPr bwMode="auto">
          <a:xfrm>
            <a:off x="714348" y="2143116"/>
            <a:ext cx="3686175" cy="904875"/>
          </a:xfrm>
          <a:prstGeom prst="rect">
            <a:avLst/>
          </a:prstGeo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643602"/>
          </a:xfrm>
          <a:prstGeom prst="rect">
            <a:avLst/>
          </a:prstGeom>
        </p:spPr>
        <p:txBody>
          <a:bodyPr vert="horz" lIns="91440" tIns="45720" rIns="91440" bIns="45720" rtlCol="0" anchor="t">
            <a:normAutofit/>
          </a:bodyPr>
          <a:lstStyle/>
          <a:p>
            <a:pPr lvl="0">
              <a:spcBef>
                <a:spcPct val="0"/>
              </a:spcBef>
            </a:pPr>
            <a:r>
              <a:rPr kumimoji="0" lang="en-US" altLang="zh-CN" sz="1600" b="1" i="0" u="none" strike="noStrike" kern="1200" cap="none" spc="0" normalizeH="0" baseline="0" noProof="0" smtClean="0">
                <a:ln>
                  <a:noFill/>
                </a:ln>
                <a:solidFill>
                  <a:schemeClr val="tx1"/>
                </a:solidFill>
                <a:effectLst/>
                <a:uLnTx/>
                <a:uFillTx/>
                <a:latin typeface="微软雅黑" panose="020B0503020204020204" pitchFamily="34" charset="-122"/>
                <a:ea typeface="微软雅黑" panose="020B0503020204020204" pitchFamily="34" charset="-122"/>
                <a:cs typeface="+mj-cs"/>
              </a:rPr>
              <a:t>Profiler</a:t>
            </a:r>
            <a:endParaRPr kumimoji="0" lang="en-US" altLang="zh-CN" sz="1600" b="1" i="0" u="none" strike="noStrike" kern="1200" cap="none" spc="0" normalizeH="0" baseline="0" noProof="0" smtClean="0">
              <a:ln>
                <a:noFill/>
              </a:ln>
              <a:solidFill>
                <a:schemeClr val="tx1"/>
              </a:solidFill>
              <a:effectLst/>
              <a:uLnTx/>
              <a:uFillTx/>
              <a:latin typeface="微软雅黑" panose="020B0503020204020204" pitchFamily="34" charset="-122"/>
              <a:ea typeface="微软雅黑" panose="020B0503020204020204" pitchFamily="34" charset="-122"/>
              <a:cs typeface="+mj-cs"/>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0" indent="-742950">
              <a:spcBef>
                <a:spcPct val="0"/>
              </a:spcBef>
              <a:defRPr/>
            </a:pPr>
            <a:r>
              <a:rPr lang="zh-CN" altLang="en-US" sz="4000" smtClean="0">
                <a:solidFill>
                  <a:schemeClr val="tx1"/>
                </a:solidFill>
                <a:latin typeface="微软雅黑" panose="020B0503020204020204" pitchFamily="34" charset="-122"/>
                <a:ea typeface="微软雅黑" panose="020B0503020204020204" pitchFamily="34" charset="-122"/>
              </a:rPr>
              <a:t>优化工具</a:t>
            </a:r>
            <a:endParaRPr lang="en-US" altLang="zh-CN" sz="4000" dirty="0">
              <a:solidFill>
                <a:schemeClr val="tx1"/>
              </a:solidFill>
              <a:latin typeface="微软雅黑" panose="020B0503020204020204" pitchFamily="34" charset="-122"/>
              <a:ea typeface="微软雅黑" panose="020B0503020204020204" pitchFamily="34" charset="-122"/>
            </a:endParaRPr>
          </a:p>
        </p:txBody>
      </p:sp>
      <p:pic>
        <p:nvPicPr>
          <p:cNvPr id="5122" name="Picture 2" descr="C:\Users\Administrator\Desktop\QQ截图20190514195019.png"/>
          <p:cNvPicPr>
            <a:picLocks noChangeAspect="1" noChangeArrowheads="1"/>
          </p:cNvPicPr>
          <p:nvPr/>
        </p:nvPicPr>
        <p:blipFill>
          <a:blip r:embed="rId1"/>
          <a:srcRect/>
          <a:stretch>
            <a:fillRect/>
          </a:stretch>
        </p:blipFill>
        <p:spPr bwMode="auto">
          <a:xfrm>
            <a:off x="142844" y="1357298"/>
            <a:ext cx="8786842" cy="2361968"/>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643602"/>
          </a:xfrm>
          <a:prstGeom prst="rect">
            <a:avLst/>
          </a:prstGeom>
        </p:spPr>
        <p:txBody>
          <a:bodyPr vert="horz" lIns="91440" tIns="45720" rIns="91440" bIns="45720" rtlCol="0" anchor="t">
            <a:normAutofit/>
          </a:bodyPr>
          <a:lstStyle/>
          <a:p>
            <a:pPr lvl="0">
              <a:spcBef>
                <a:spcPct val="0"/>
              </a:spcBef>
            </a:pPr>
            <a:r>
              <a:rPr lang="en-US" altLang="zh-CN" sz="1600" b="1" smtClean="0">
                <a:latin typeface="微软雅黑" panose="020B0503020204020204" pitchFamily="34" charset="-122"/>
                <a:ea typeface="微软雅黑" panose="020B0503020204020204" pitchFamily="34" charset="-122"/>
                <a:cs typeface="+mj-cs"/>
              </a:rPr>
              <a:t>FrameDebug</a:t>
            </a:r>
            <a:endParaRPr lang="en-US" altLang="zh-CN" sz="1600" b="1" smtClean="0">
              <a:latin typeface="微软雅黑" panose="020B0503020204020204" pitchFamily="34" charset="-122"/>
              <a:ea typeface="微软雅黑" panose="020B0503020204020204" pitchFamily="34" charset="-122"/>
              <a:cs typeface="+mj-cs"/>
            </a:endParaRPr>
          </a:p>
          <a:p>
            <a:pPr lvl="0">
              <a:spcBef>
                <a:spcPct val="0"/>
              </a:spcBef>
            </a:pPr>
            <a:endParaRPr kumimoji="0" lang="zh-CN" altLang="en-US" sz="16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j-cs"/>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lvl="0" indent="-742950">
              <a:spcBef>
                <a:spcPct val="0"/>
              </a:spcBef>
              <a:defRPr/>
            </a:pPr>
            <a:r>
              <a:rPr lang="zh-CN" altLang="en-US" sz="4000" smtClean="0">
                <a:solidFill>
                  <a:schemeClr val="tx1"/>
                </a:solidFill>
                <a:latin typeface="微软雅黑" panose="020B0503020204020204" pitchFamily="34" charset="-122"/>
                <a:ea typeface="微软雅黑" panose="020B0503020204020204" pitchFamily="34" charset="-122"/>
              </a:rPr>
              <a:t>优化工具</a:t>
            </a:r>
            <a:endParaRPr lang="en-US" altLang="zh-CN" sz="4000" dirty="0">
              <a:solidFill>
                <a:schemeClr val="tx1"/>
              </a:solidFill>
              <a:latin typeface="微软雅黑" panose="020B0503020204020204" pitchFamily="34" charset="-122"/>
              <a:ea typeface="微软雅黑" panose="020B0503020204020204" pitchFamily="34" charset="-122"/>
            </a:endParaRPr>
          </a:p>
        </p:txBody>
      </p:sp>
      <p:pic>
        <p:nvPicPr>
          <p:cNvPr id="5123" name="Picture 3" descr="C:\Users\Administrator\Desktop\QQ截图20190514195749.png"/>
          <p:cNvPicPr>
            <a:picLocks noChangeAspect="1" noChangeArrowheads="1"/>
          </p:cNvPicPr>
          <p:nvPr/>
        </p:nvPicPr>
        <p:blipFill>
          <a:blip r:embed="rId1"/>
          <a:srcRect/>
          <a:stretch>
            <a:fillRect/>
          </a:stretch>
        </p:blipFill>
        <p:spPr bwMode="auto">
          <a:xfrm>
            <a:off x="428596" y="1357298"/>
            <a:ext cx="8410576" cy="4357718"/>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643602"/>
          </a:xfrm>
          <a:prstGeom prst="rect">
            <a:avLst/>
          </a:prstGeom>
        </p:spPr>
        <p:txBody>
          <a:bodyPr vert="horz" lIns="91440" tIns="45720" rIns="91440" bIns="45720" rtlCol="0" anchor="t">
            <a:normAutofit/>
          </a:bodyPr>
          <a:lstStyle/>
          <a:p>
            <a:pPr marL="457200" indent="-457200">
              <a:spcBef>
                <a:spcPct val="0"/>
              </a:spcBef>
            </a:pP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smtClean="0">
                <a:solidFill>
                  <a:srgbClr val="C00000"/>
                </a:solidFill>
                <a:latin typeface="微软雅黑" panose="020B0503020204020204" pitchFamily="34" charset="-122"/>
                <a:ea typeface="微软雅黑" panose="020B0503020204020204" pitchFamily="34" charset="-122"/>
              </a:rPr>
              <a:t>规范化的重要性</a:t>
            </a:r>
            <a:r>
              <a:rPr lang="zh-CN" altLang="en-US" sz="1400" smtClean="0">
                <a:latin typeface="微软雅黑" panose="020B0503020204020204" pitchFamily="34" charset="-122"/>
                <a:ea typeface="微软雅黑" panose="020B0503020204020204" pitchFamily="34" charset="-122"/>
              </a:rPr>
              <a:t>：有规范就会有约束有限制，在一个团队的角度上来讲，大家遵守同一套规范，可以避免多余的沟通，增加开发效率，是保证团队协作、项目稳定推进的利器。</a:t>
            </a: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smtClean="0">
                <a:latin typeface="微软雅黑" panose="020B0503020204020204" pitchFamily="34" charset="-122"/>
                <a:ea typeface="微软雅黑" panose="020B0503020204020204" pitchFamily="34" charset="-122"/>
              </a:rPr>
              <a:t>设计模板</a:t>
            </a:r>
            <a:r>
              <a:rPr lang="zh-CN" altLang="en-US" sz="1400" smtClean="0">
                <a:latin typeface="微软雅黑" panose="020B0503020204020204" pitchFamily="34" charset="-122"/>
                <a:ea typeface="微软雅黑" panose="020B0503020204020204" pitchFamily="34" charset="-122"/>
              </a:rPr>
              <a:t>：根据游戏风格和类型设计几套模板：尺寸</a:t>
            </a:r>
            <a:r>
              <a:rPr lang="en-US" altLang="zh-CN" sz="1400" smtClean="0">
                <a:latin typeface="微软雅黑" panose="020B0503020204020204" pitchFamily="34" charset="-122"/>
                <a:ea typeface="微软雅黑" panose="020B0503020204020204" pitchFamily="34" charset="-122"/>
              </a:rPr>
              <a:t>(</a:t>
            </a:r>
            <a:r>
              <a:rPr lang="zh-CN" altLang="en-US" sz="1400" smtClean="0">
                <a:latin typeface="微软雅黑" panose="020B0503020204020204" pitchFamily="34" charset="-122"/>
                <a:ea typeface="微软雅黑" panose="020B0503020204020204" pitchFamily="34" charset="-122"/>
              </a:rPr>
              <a:t>比如大中小三套</a:t>
            </a:r>
            <a:r>
              <a:rPr lang="en-US" altLang="zh-CN" sz="1400" smtClean="0">
                <a:latin typeface="微软雅黑" panose="020B0503020204020204" pitchFamily="34" charset="-122"/>
                <a:ea typeface="微软雅黑" panose="020B0503020204020204" pitchFamily="34" charset="-122"/>
              </a:rPr>
              <a:t>)</a:t>
            </a:r>
            <a:r>
              <a:rPr lang="zh-CN" altLang="en-US" sz="1400" smtClean="0">
                <a:latin typeface="微软雅黑" panose="020B0503020204020204" pitchFamily="34" charset="-122"/>
                <a:ea typeface="微软雅黑" panose="020B0503020204020204" pitchFamily="34" charset="-122"/>
              </a:rPr>
              <a:t>、布局</a:t>
            </a:r>
            <a:r>
              <a:rPr lang="en-US" altLang="zh-CN" sz="1400" smtClean="0">
                <a:latin typeface="微软雅黑" panose="020B0503020204020204" pitchFamily="34" charset="-122"/>
                <a:ea typeface="微软雅黑" panose="020B0503020204020204" pitchFamily="34" charset="-122"/>
              </a:rPr>
              <a:t>(</a:t>
            </a:r>
            <a:r>
              <a:rPr lang="zh-CN" altLang="en-US" sz="1400" smtClean="0">
                <a:latin typeface="微软雅黑" panose="020B0503020204020204" pitchFamily="34" charset="-122"/>
                <a:ea typeface="微软雅黑" panose="020B0503020204020204" pitchFamily="34" charset="-122"/>
              </a:rPr>
              <a:t>比如左右</a:t>
            </a:r>
            <a:r>
              <a:rPr lang="en-US" altLang="zh-CN" sz="1400" smtClean="0">
                <a:latin typeface="微软雅黑" panose="020B0503020204020204" pitchFamily="34" charset="-122"/>
                <a:ea typeface="微软雅黑" panose="020B0503020204020204" pitchFamily="34" charset="-122"/>
              </a:rPr>
              <a:t>,</a:t>
            </a:r>
            <a:r>
              <a:rPr lang="zh-CN" altLang="en-US" sz="1400" smtClean="0">
                <a:latin typeface="微软雅黑" panose="020B0503020204020204" pitchFamily="34" charset="-122"/>
                <a:ea typeface="微软雅黑" panose="020B0503020204020204" pitchFamily="34" charset="-122"/>
              </a:rPr>
              <a:t>左中右等</a:t>
            </a:r>
            <a:r>
              <a:rPr lang="en-US" altLang="zh-CN" sz="1400" smtClean="0">
                <a:latin typeface="微软雅黑" panose="020B0503020204020204" pitchFamily="34" charset="-122"/>
                <a:ea typeface="微软雅黑" panose="020B0503020204020204" pitchFamily="34" charset="-122"/>
              </a:rPr>
              <a:t>)</a:t>
            </a:r>
            <a:r>
              <a:rPr lang="zh-CN" altLang="en-US" sz="1400" smtClean="0">
                <a:latin typeface="微软雅黑" panose="020B0503020204020204" pitchFamily="34" charset="-122"/>
                <a:ea typeface="微软雅黑" panose="020B0503020204020204" pitchFamily="34" charset="-122"/>
              </a:rPr>
              <a:t>、样式</a:t>
            </a:r>
            <a:r>
              <a:rPr lang="en-US" altLang="zh-CN" sz="1400" smtClean="0">
                <a:latin typeface="微软雅黑" panose="020B0503020204020204" pitchFamily="34" charset="-122"/>
                <a:ea typeface="微软雅黑" panose="020B0503020204020204" pitchFamily="34" charset="-122"/>
              </a:rPr>
              <a:t>(</a:t>
            </a:r>
            <a:r>
              <a:rPr lang="zh-CN" altLang="en-US" sz="1400" smtClean="0">
                <a:latin typeface="微软雅黑" panose="020B0503020204020204" pitchFamily="34" charset="-122"/>
                <a:ea typeface="微软雅黑" panose="020B0503020204020204" pitchFamily="34" charset="-122"/>
              </a:rPr>
              <a:t>一级底</a:t>
            </a:r>
            <a:r>
              <a:rPr lang="en-US" altLang="zh-CN" sz="1400" smtClean="0">
                <a:latin typeface="微软雅黑" panose="020B0503020204020204" pitchFamily="34" charset="-122"/>
                <a:ea typeface="微软雅黑" panose="020B0503020204020204" pitchFamily="34" charset="-122"/>
              </a:rPr>
              <a:t>+</a:t>
            </a:r>
            <a:r>
              <a:rPr lang="zh-CN" altLang="en-US" sz="1400" smtClean="0">
                <a:latin typeface="微软雅黑" panose="020B0503020204020204" pitchFamily="34" charset="-122"/>
                <a:ea typeface="微软雅黑" panose="020B0503020204020204" pitchFamily="34" charset="-122"/>
              </a:rPr>
              <a:t>二级底</a:t>
            </a:r>
            <a:r>
              <a:rPr lang="en-US" altLang="zh-CN" sz="1400" smtClean="0">
                <a:latin typeface="微软雅黑" panose="020B0503020204020204" pitchFamily="34" charset="-122"/>
                <a:ea typeface="微软雅黑" panose="020B0503020204020204" pitchFamily="34" charset="-122"/>
              </a:rPr>
              <a:t>+</a:t>
            </a:r>
            <a:r>
              <a:rPr lang="zh-CN" altLang="en-US" sz="1400" smtClean="0">
                <a:latin typeface="微软雅黑" panose="020B0503020204020204" pitchFamily="34" charset="-122"/>
                <a:ea typeface="微软雅黑" panose="020B0503020204020204" pitchFamily="34" charset="-122"/>
              </a:rPr>
              <a:t>三级底</a:t>
            </a:r>
            <a:r>
              <a:rPr lang="en-US" altLang="zh-CN" sz="1400" smtClean="0">
                <a:latin typeface="微软雅黑" panose="020B0503020204020204" pitchFamily="34" charset="-122"/>
                <a:ea typeface="微软雅黑" panose="020B0503020204020204" pitchFamily="34" charset="-122"/>
              </a:rPr>
              <a:t>)</a:t>
            </a:r>
            <a:r>
              <a:rPr lang="zh-CN" altLang="en-US" sz="1400" smtClean="0">
                <a:latin typeface="微软雅黑" panose="020B0503020204020204" pitchFamily="34" charset="-122"/>
                <a:ea typeface="微软雅黑" panose="020B0503020204020204" pitchFamily="34" charset="-122"/>
              </a:rPr>
              <a:t>等，根据游戏内容选择模板，既保持</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统一，又能方便拼</a:t>
            </a:r>
            <a:r>
              <a:rPr lang="en-US"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，大概百分之九十的窗口都在这几个模板中选择。其他比如充值等需要有表现力的窗口再自由设计尺寸和布局。</a:t>
            </a:r>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smtClean="0">
                <a:latin typeface="微软雅黑" panose="020B0503020204020204" pitchFamily="34" charset="-122"/>
                <a:ea typeface="微软雅黑" panose="020B0503020204020204" pitchFamily="34" charset="-122"/>
              </a:rPr>
              <a:t>路径一致性</a:t>
            </a:r>
            <a:r>
              <a:rPr lang="zh-CN" altLang="en-US" sz="1400" smtClean="0">
                <a:latin typeface="微软雅黑" panose="020B0503020204020204" pitchFamily="34" charset="-122"/>
                <a:ea typeface="微软雅黑" panose="020B0503020204020204" pitchFamily="34" charset="-122"/>
              </a:rPr>
              <a:t>：美术</a:t>
            </a:r>
            <a:r>
              <a:rPr lang="en-US" altLang="zh-CN"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目录和客户端目录保持一致，可以很方便替换新版</a:t>
            </a:r>
            <a:r>
              <a:rPr lang="en-US" altLang="zh-CN" sz="1400" smtClean="0">
                <a:latin typeface="微软雅黑" panose="020B0503020204020204" pitchFamily="34" charset="-122"/>
                <a:ea typeface="微软雅黑" panose="020B0503020204020204" pitchFamily="34" charset="-122"/>
              </a:rPr>
              <a:t>UI</a:t>
            </a:r>
            <a:r>
              <a:rPr lang="zh-CN" altLang="en-US" sz="1400" smtClean="0">
                <a:latin typeface="微软雅黑" panose="020B0503020204020204" pitchFamily="34" charset="-122"/>
                <a:ea typeface="微软雅黑" panose="020B0503020204020204" pitchFamily="34" charset="-122"/>
              </a:rPr>
              <a:t>，而不会出现名字不一致，目录不一致，策划找瞎眼的情况。</a:t>
            </a: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smtClean="0">
                <a:latin typeface="微软雅黑" panose="020B0503020204020204" pitchFamily="34" charset="-122"/>
                <a:ea typeface="微软雅黑" panose="020B0503020204020204" pitchFamily="34" charset="-122"/>
              </a:rPr>
              <a:t>图片命名</a:t>
            </a:r>
            <a:r>
              <a:rPr lang="zh-CN" altLang="en-US" sz="1400" smtClean="0">
                <a:latin typeface="微软雅黑" panose="020B0503020204020204" pitchFamily="34" charset="-122"/>
                <a:ea typeface="微软雅黑" panose="020B0503020204020204" pitchFamily="34" charset="-122"/>
              </a:rPr>
              <a:t>：可以参考功能、颜色、尺寸等特点命名，命名尽量使用英文，可以添加前缀表示所属功能，后缀也可以使用拼音。</a:t>
            </a: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smtClean="0">
                <a:latin typeface="微软雅黑" panose="020B0503020204020204" pitchFamily="34" charset="-122"/>
                <a:ea typeface="微软雅黑" panose="020B0503020204020204" pitchFamily="34" charset="-122"/>
              </a:rPr>
              <a:t>公用图集</a:t>
            </a:r>
            <a:r>
              <a:rPr lang="zh-CN" altLang="en-US" sz="1400" smtClean="0">
                <a:latin typeface="微软雅黑" panose="020B0503020204020204" pitchFamily="34" charset="-122"/>
                <a:ea typeface="微软雅黑" panose="020B0503020204020204" pitchFamily="34" charset="-122"/>
              </a:rPr>
              <a:t>：多个面板都会用到的图片放到公用图集里面。为了减少合批的障碍，有必要的时候，需要复制公共图片到单独的面板图集里。</a:t>
            </a:r>
            <a:endParaRPr lang="en-US" altLang="zh-CN" sz="1400" smtClean="0">
              <a:latin typeface="微软雅黑" panose="020B0503020204020204" pitchFamily="34" charset="-122"/>
              <a:ea typeface="微软雅黑" panose="020B0503020204020204" pitchFamily="34" charset="-122"/>
            </a:endParaRPr>
          </a:p>
          <a:p>
            <a:pPr marL="285750" indent="-285750"/>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smtClean="0">
                <a:latin typeface="微软雅黑" panose="020B0503020204020204" pitchFamily="34" charset="-122"/>
                <a:ea typeface="微软雅黑" panose="020B0503020204020204" pitchFamily="34" charset="-122"/>
              </a:rPr>
              <a:t>合理的出图尺寸</a:t>
            </a:r>
            <a:r>
              <a:rPr lang="zh-CN" altLang="en-US" sz="1400" smtClean="0">
                <a:latin typeface="微软雅黑" panose="020B0503020204020204" pitchFamily="34" charset="-122"/>
                <a:ea typeface="微软雅黑" panose="020B0503020204020204" pitchFamily="34" charset="-122"/>
              </a:rPr>
              <a:t>：可以减小硬盘大小，减少第一次导入项目时的图片序列化时间。</a:t>
            </a: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smtClean="0">
                <a:latin typeface="微软雅黑" panose="020B0503020204020204" pitchFamily="34" charset="-122"/>
                <a:ea typeface="微软雅黑" panose="020B0503020204020204" pitchFamily="34" charset="-122"/>
              </a:rPr>
              <a:t>图片分类</a:t>
            </a:r>
            <a:r>
              <a:rPr lang="zh-CN" altLang="en-US" sz="1400" smtClean="0">
                <a:latin typeface="微软雅黑" panose="020B0503020204020204" pitchFamily="34" charset="-122"/>
                <a:ea typeface="微软雅黑" panose="020B0503020204020204" pitchFamily="34" charset="-122"/>
              </a:rPr>
              <a:t>：图片可以根据用途分为</a:t>
            </a:r>
            <a:r>
              <a:rPr lang="en-US" altLang="zh-CN" sz="1400" smtClean="0">
                <a:latin typeface="微软雅黑" panose="020B0503020204020204" pitchFamily="34" charset="-122"/>
                <a:ea typeface="微软雅黑" panose="020B0503020204020204" pitchFamily="34" charset="-122"/>
              </a:rPr>
              <a:t>UISprite</a:t>
            </a:r>
            <a:r>
              <a:rPr lang="en-US" sz="1400" smtClean="0">
                <a:latin typeface="微软雅黑" panose="020B0503020204020204" pitchFamily="34" charset="-122"/>
                <a:ea typeface="微软雅黑" panose="020B0503020204020204" pitchFamily="34" charset="-122"/>
              </a:rPr>
              <a:t>、UIFrame 、 Icon、</a:t>
            </a:r>
            <a:r>
              <a:rPr lang="en-US" altLang="zh-CN" sz="1400" smtClean="0">
                <a:latin typeface="微软雅黑" panose="020B0503020204020204" pitchFamily="34" charset="-122"/>
                <a:ea typeface="微软雅黑" panose="020B0503020204020204" pitchFamily="34" charset="-122"/>
              </a:rPr>
              <a:t>Photo</a:t>
            </a:r>
            <a:r>
              <a:rPr lang="en-US" sz="1400" smtClean="0">
                <a:latin typeface="微软雅黑" panose="020B0503020204020204" pitchFamily="34" charset="-122"/>
                <a:ea typeface="微软雅黑" panose="020B0503020204020204" pitchFamily="34" charset="-122"/>
              </a:rPr>
              <a:t>、</a:t>
            </a:r>
            <a:r>
              <a:rPr lang="zh-CN" altLang="en-US" sz="1400" smtClean="0">
                <a:latin typeface="微软雅黑" panose="020B0503020204020204" pitchFamily="34" charset="-122"/>
                <a:ea typeface="微软雅黑" panose="020B0503020204020204" pitchFamily="34" charset="-122"/>
              </a:rPr>
              <a:t>背景原画。</a:t>
            </a: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sz="1400" smtClean="0">
                <a:latin typeface="微软雅黑" panose="020B0503020204020204" pitchFamily="34" charset="-122"/>
                <a:ea typeface="微软雅黑" panose="020B0503020204020204" pitchFamily="34" charset="-122"/>
              </a:rPr>
              <a:t>UISprite</a:t>
            </a:r>
            <a:r>
              <a:rPr lang="zh-CN" altLang="en-US" sz="1400" smtClean="0">
                <a:latin typeface="微软雅黑" panose="020B0503020204020204" pitchFamily="34" charset="-122"/>
                <a:ea typeface="微软雅黑" panose="020B0503020204020204" pitchFamily="34" charset="-122"/>
              </a:rPr>
              <a:t>：尽量九宫格或者平铺，并且尽量复用。</a:t>
            </a: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sz="1400" smtClean="0">
                <a:latin typeface="微软雅黑" panose="020B0503020204020204" pitchFamily="34" charset="-122"/>
                <a:ea typeface="微软雅黑" panose="020B0503020204020204" pitchFamily="34" charset="-122"/>
              </a:rPr>
              <a:t>UIFrame</a:t>
            </a:r>
            <a:r>
              <a:rPr lang="zh-CN" altLang="en-US" sz="1400" smtClean="0">
                <a:latin typeface="微软雅黑" panose="020B0503020204020204" pitchFamily="34" charset="-122"/>
                <a:ea typeface="微软雅黑" panose="020B0503020204020204" pitchFamily="34" charset="-122"/>
              </a:rPr>
              <a:t>：是一些尺寸巨大的背景框。</a:t>
            </a: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en-US" altLang="zh-CN" sz="1400" smtClean="0">
                <a:latin typeface="微软雅黑" panose="020B0503020204020204" pitchFamily="34" charset="-122"/>
                <a:ea typeface="微软雅黑" panose="020B0503020204020204" pitchFamily="34" charset="-122"/>
              </a:rPr>
              <a:t>Photo</a:t>
            </a:r>
            <a:r>
              <a:rPr lang="zh-CN" altLang="en-US" sz="1400" smtClean="0">
                <a:latin typeface="微软雅黑" panose="020B0503020204020204" pitchFamily="34" charset="-122"/>
                <a:ea typeface="微软雅黑" panose="020B0503020204020204" pitchFamily="34" charset="-122"/>
              </a:rPr>
              <a:t>：英雄形象等大尺寸图片合并图集太大，因此不会打进图集。</a:t>
            </a: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1400" smtClean="0">
              <a:latin typeface="微软雅黑" panose="020B0503020204020204" pitchFamily="34" charset="-122"/>
              <a:ea typeface="微软雅黑" panose="020B0503020204020204" pitchFamily="34" charset="-122"/>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indent="-742950">
              <a:spcBef>
                <a:spcPct val="0"/>
              </a:spcBef>
              <a:defRPr/>
            </a:pPr>
            <a:r>
              <a:rPr lang="zh-CN" altLang="en-US" sz="4000" smtClean="0">
                <a:solidFill>
                  <a:schemeClr val="tx1"/>
                </a:solidFill>
                <a:latin typeface="微软雅黑" panose="020B0503020204020204" pitchFamily="34" charset="-122"/>
                <a:ea typeface="微软雅黑" panose="020B0503020204020204" pitchFamily="34" charset="-122"/>
              </a:rPr>
              <a:t>美术相关的制作规范</a:t>
            </a:r>
            <a:endParaRPr lang="en-US" altLang="zh-CN" sz="4000" smtClean="0">
              <a:solidFill>
                <a:schemeClr val="tx1"/>
              </a:solidFill>
              <a:latin typeface="微软雅黑" panose="020B0503020204020204" pitchFamily="34" charset="-122"/>
              <a:ea typeface="微软雅黑" panose="020B0503020204020204" pitchFamily="34" charset="-122"/>
            </a:endParaRPr>
          </a:p>
          <a:p>
            <a:pPr marL="742950" lvl="0" indent="-742950">
              <a:spcBef>
                <a:spcPct val="0"/>
              </a:spcBef>
              <a:defRPr/>
            </a:pPr>
            <a:endParaRPr lang="en-US" altLang="zh-CN" sz="40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p:nvPr/>
        </p:nvSpPr>
        <p:spPr>
          <a:xfrm>
            <a:off x="357158" y="1000108"/>
            <a:ext cx="8429684" cy="5643602"/>
          </a:xfrm>
          <a:prstGeom prst="rect">
            <a:avLst/>
          </a:prstGeom>
        </p:spPr>
        <p:txBody>
          <a:bodyPr vert="horz" lIns="91440" tIns="45720" rIns="91440" bIns="45720" rtlCol="0" anchor="t">
            <a:normAutofit/>
          </a:bodyPr>
          <a:lstStyle/>
          <a:p>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smtClean="0">
                <a:latin typeface="微软雅黑" panose="020B0503020204020204" pitchFamily="34" charset="-122"/>
                <a:ea typeface="微软雅黑" panose="020B0503020204020204" pitchFamily="34" charset="-122"/>
              </a:rPr>
              <a:t>字体大小</a:t>
            </a:r>
            <a:r>
              <a:rPr lang="zh-CN" altLang="en-US" sz="1400" smtClean="0">
                <a:latin typeface="微软雅黑" panose="020B0503020204020204" pitchFamily="34" charset="-122"/>
                <a:ea typeface="微软雅黑" panose="020B0503020204020204" pitchFamily="34" charset="-122"/>
              </a:rPr>
              <a:t>：研发过程中确立大中小几号字体。每级再分三类，一共九种字体大小。</a:t>
            </a: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1400" b="1"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sz="1400" b="1" smtClean="0">
                <a:latin typeface="微软雅黑" panose="020B0503020204020204" pitchFamily="34" charset="-122"/>
                <a:ea typeface="微软雅黑" panose="020B0503020204020204" pitchFamily="34" charset="-122"/>
              </a:rPr>
              <a:t>色值表</a:t>
            </a:r>
            <a:r>
              <a:rPr lang="zh-CN" altLang="en-US" sz="1400" smtClean="0">
                <a:latin typeface="微软雅黑" panose="020B0503020204020204" pitchFamily="34" charset="-122"/>
                <a:ea typeface="微软雅黑" panose="020B0503020204020204" pitchFamily="34" charset="-122"/>
              </a:rPr>
              <a:t>：颜色可以由美术出一张色值表，包括一种颜色的</a:t>
            </a:r>
            <a:r>
              <a:rPr lang="en-US" sz="1400" smtClean="0">
                <a:latin typeface="微软雅黑" panose="020B0503020204020204" pitchFamily="34" charset="-122"/>
                <a:ea typeface="微软雅黑" panose="020B0503020204020204" pitchFamily="34" charset="-122"/>
              </a:rPr>
              <a:t>RGBA</a:t>
            </a:r>
            <a:r>
              <a:rPr lang="zh-CN" altLang="en-US" sz="1400" smtClean="0">
                <a:latin typeface="微软雅黑" panose="020B0503020204020204" pitchFamily="34" charset="-122"/>
                <a:ea typeface="微软雅黑" panose="020B0503020204020204" pitchFamily="34" charset="-122"/>
              </a:rPr>
              <a:t>值和</a:t>
            </a:r>
            <a:r>
              <a:rPr lang="en-US" altLang="zh-CN" sz="1400" smtClean="0">
                <a:latin typeface="微软雅黑" panose="020B0503020204020204" pitchFamily="34" charset="-122"/>
                <a:ea typeface="微软雅黑" panose="020B0503020204020204" pitchFamily="34" charset="-122"/>
              </a:rPr>
              <a:t>16</a:t>
            </a:r>
            <a:r>
              <a:rPr lang="zh-CN" altLang="en-US" sz="1400" smtClean="0">
                <a:latin typeface="微软雅黑" panose="020B0503020204020204" pitchFamily="34" charset="-122"/>
                <a:ea typeface="微软雅黑" panose="020B0503020204020204" pitchFamily="34" charset="-122"/>
              </a:rPr>
              <a:t>进制值，方便开发人员快速定位准确颜色。颜色值可以存储在</a:t>
            </a:r>
            <a:r>
              <a:rPr lang="en-US" altLang="zh-CN" sz="1400" smtClean="0">
                <a:latin typeface="微软雅黑" panose="020B0503020204020204" pitchFamily="34" charset="-122"/>
                <a:ea typeface="微软雅黑" panose="020B0503020204020204" pitchFamily="34" charset="-122"/>
              </a:rPr>
              <a:t>unity</a:t>
            </a:r>
            <a:r>
              <a:rPr lang="zh-CN" altLang="en-US" sz="1400" smtClean="0">
                <a:latin typeface="微软雅黑" panose="020B0503020204020204" pitchFamily="34" charset="-122"/>
                <a:ea typeface="微软雅黑" panose="020B0503020204020204" pitchFamily="34" charset="-122"/>
              </a:rPr>
              <a:t>的颜色模板里。</a:t>
            </a: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1400" smtClean="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endParaRPr lang="en-US" altLang="zh-CN" sz="1400" smtClean="0">
              <a:latin typeface="微软雅黑" panose="020B0503020204020204" pitchFamily="34" charset="-122"/>
              <a:ea typeface="微软雅黑" panose="020B0503020204020204" pitchFamily="34" charset="-122"/>
            </a:endParaRPr>
          </a:p>
        </p:txBody>
      </p:sp>
      <p:sp>
        <p:nvSpPr>
          <p:cNvPr id="5" name="矩形 4"/>
          <p:cNvSpPr/>
          <p:nvPr/>
        </p:nvSpPr>
        <p:spPr>
          <a:xfrm>
            <a:off x="3214678" y="214290"/>
            <a:ext cx="5786478" cy="7143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742950" indent="-742950">
              <a:spcBef>
                <a:spcPct val="0"/>
              </a:spcBef>
              <a:defRPr/>
            </a:pPr>
            <a:r>
              <a:rPr lang="zh-CN" altLang="en-US" sz="4000" smtClean="0">
                <a:solidFill>
                  <a:schemeClr val="tx1"/>
                </a:solidFill>
                <a:latin typeface="微软雅黑" panose="020B0503020204020204" pitchFamily="34" charset="-122"/>
                <a:ea typeface="微软雅黑" panose="020B0503020204020204" pitchFamily="34" charset="-122"/>
              </a:rPr>
              <a:t>美术相关的制作规范</a:t>
            </a:r>
            <a:endParaRPr lang="en-US" altLang="zh-CN" sz="4000" smtClean="0">
              <a:solidFill>
                <a:schemeClr val="tx1"/>
              </a:solidFill>
              <a:latin typeface="微软雅黑" panose="020B0503020204020204" pitchFamily="34" charset="-122"/>
              <a:ea typeface="微软雅黑" panose="020B0503020204020204" pitchFamily="34" charset="-122"/>
            </a:endParaRPr>
          </a:p>
          <a:p>
            <a:pPr marL="742950" lvl="0" indent="-742950">
              <a:spcBef>
                <a:spcPct val="0"/>
              </a:spcBef>
              <a:defRPr/>
            </a:pPr>
            <a:endParaRPr lang="en-US" altLang="zh-CN" sz="4000" dirty="0">
              <a:solidFill>
                <a:schemeClr val="tx1"/>
              </a:solidFill>
              <a:latin typeface="微软雅黑" panose="020B0503020204020204" pitchFamily="34" charset="-122"/>
              <a:ea typeface="微软雅黑" panose="020B0503020204020204" pitchFamily="34" charset="-122"/>
            </a:endParaRPr>
          </a:p>
        </p:txBody>
      </p:sp>
      <p:pic>
        <p:nvPicPr>
          <p:cNvPr id="2052" name="Picture 4" descr="C:\Users\Administrator\Desktop\QQ截图20190516114253.png"/>
          <p:cNvPicPr>
            <a:picLocks noChangeAspect="1" noChangeArrowheads="1"/>
          </p:cNvPicPr>
          <p:nvPr/>
        </p:nvPicPr>
        <p:blipFill>
          <a:blip r:embed="rId1"/>
          <a:srcRect/>
          <a:stretch>
            <a:fillRect/>
          </a:stretch>
        </p:blipFill>
        <p:spPr bwMode="auto">
          <a:xfrm>
            <a:off x="785786" y="2214554"/>
            <a:ext cx="6008945" cy="2357454"/>
          </a:xfrm>
          <a:prstGeom prst="rect">
            <a:avLst/>
          </a:prstGeom>
          <a:noFill/>
        </p:spPr>
      </p:pic>
    </p:spTree>
  </p:cSld>
  <p:clrMapOvr>
    <a:masterClrMapping/>
  </p:clrMapOvr>
</p:sld>
</file>

<file path=ppt/tags/tag1.xml><?xml version="1.0" encoding="utf-8"?>
<p:tagLst xmlns:p="http://schemas.openxmlformats.org/presentationml/2006/main">
  <p:tag name="commondata" val="eyJoZGlkIjoiNjZjY2FmNGIwZGY5NzkwMzhiYzExZGRkZjgxNzJlYTg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7934</Words>
  <Application>WPS 演示</Application>
  <PresentationFormat>全屏显示(4:3)</PresentationFormat>
  <Paragraphs>623</Paragraphs>
  <Slides>34</Slides>
  <Notes>4</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34</vt:i4>
      </vt:variant>
    </vt:vector>
  </HeadingPairs>
  <TitlesOfParts>
    <vt:vector size="41" baseType="lpstr">
      <vt:lpstr>Arial</vt:lpstr>
      <vt:lpstr>宋体</vt:lpstr>
      <vt:lpstr>Wingdings</vt:lpstr>
      <vt:lpstr>微软雅黑</vt:lpstr>
      <vt:lpstr>Arial Unicode MS</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hq</dc:creator>
  <cp:lastModifiedBy>嘉勤</cp:lastModifiedBy>
  <cp:revision>1410</cp:revision>
  <dcterms:created xsi:type="dcterms:W3CDTF">2018-08-30T03:37:00Z</dcterms:created>
  <dcterms:modified xsi:type="dcterms:W3CDTF">2023-12-21T14:17:40Z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2052-12.1.0.15990</vt:lpwstr>
  </property>
  <property fmtid="{D5CDD505-2E9C-101B-9397-08002B2CF9AE}" pid="3" name="ICV">
    <vt:lpwstr>92450BCD342946288E8DCC76E55852B0_12</vt:lpwstr>
  </property>
</Properties>
</file>